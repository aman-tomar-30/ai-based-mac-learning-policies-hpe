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5" r:id="rId3"/>
    <p:sldId id="287" r:id="rId4"/>
    <p:sldId id="282" r:id="rId5"/>
    <p:sldId id="286" r:id="rId6"/>
    <p:sldId id="283" r:id="rId7"/>
    <p:sldId id="274" r:id="rId8"/>
    <p:sldId id="279" r:id="rId9"/>
    <p:sldId id="276" r:id="rId10"/>
    <p:sldId id="278" r:id="rId11"/>
    <p:sldId id="281" r:id="rId12"/>
    <p:sldId id="29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394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7.png"/><Relationship Id="rId10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23183" y="519702"/>
            <a:ext cx="337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DEEP Q-NETWORK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990" y="1452282"/>
            <a:ext cx="4850185" cy="29068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0475" y="1452282"/>
            <a:ext cx="5409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Gives the ability to compute Q-values for all possible actions in a given state with only a single forward pass through the network.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44382" y="2894247"/>
            <a:ext cx="1264024" cy="136263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DQN</a:t>
            </a:r>
            <a:endParaRPr lang="en-IN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008406" y="3091471"/>
            <a:ext cx="995082" cy="89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017231" y="3414201"/>
            <a:ext cx="995082" cy="89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994959" y="3727966"/>
            <a:ext cx="995082" cy="89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994959" y="4032766"/>
            <a:ext cx="995082" cy="89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40475" y="3553153"/>
            <a:ext cx="995082" cy="89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14772" y="2691653"/>
            <a:ext cx="2392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Q-Value for action a</a:t>
            </a:r>
            <a:r>
              <a:rPr lang="en-GB" baseline="-25000" dirty="0" smtClean="0">
                <a:solidFill>
                  <a:schemeClr val="bg1"/>
                </a:solidFill>
              </a:rPr>
              <a:t>1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14772" y="3100436"/>
            <a:ext cx="2392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Q-Value for action a</a:t>
            </a:r>
            <a:r>
              <a:rPr lang="en-GB" baseline="-25000" dirty="0" smtClean="0">
                <a:solidFill>
                  <a:schemeClr val="bg1"/>
                </a:solidFill>
              </a:rPr>
              <a:t>2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14772" y="3989758"/>
            <a:ext cx="2392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Q-Value for action a</a:t>
            </a:r>
            <a:r>
              <a:rPr lang="en-GB" baseline="-25000" dirty="0" smtClean="0">
                <a:solidFill>
                  <a:schemeClr val="bg1"/>
                </a:solidFill>
              </a:rPr>
              <a:t>n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759" y="3112994"/>
            <a:ext cx="2392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8172" y="3509219"/>
            <a:ext cx="2392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3183" y="5012158"/>
            <a:ext cx="2510117" cy="49305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Q(s, </a:t>
            </a:r>
            <a:r>
              <a:rPr lang="en-IN" dirty="0" smtClean="0">
                <a:solidFill>
                  <a:schemeClr val="bg1"/>
                </a:solidFill>
              </a:rPr>
              <a:t>a; w</a:t>
            </a:r>
            <a:r>
              <a:rPr lang="el-GR" dirty="0" smtClean="0">
                <a:solidFill>
                  <a:schemeClr val="bg1"/>
                </a:solidFill>
              </a:rPr>
              <a:t>)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l-GR" dirty="0">
                <a:solidFill>
                  <a:schemeClr val="bg1"/>
                </a:solidFill>
              </a:rPr>
              <a:t>≈</a:t>
            </a:r>
            <a:r>
              <a:rPr lang="en-IN" dirty="0">
                <a:solidFill>
                  <a:schemeClr val="bg1"/>
                </a:solidFill>
              </a:rPr>
              <a:t> Q*(s, a</a:t>
            </a:r>
            <a:r>
              <a:rPr lang="en-IN" dirty="0" smtClean="0">
                <a:solidFill>
                  <a:schemeClr val="bg1"/>
                </a:solidFill>
              </a:rPr>
              <a:t>)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23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61639" y="562819"/>
            <a:ext cx="3244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400" dirty="0" smtClean="0">
                <a:solidFill>
                  <a:schemeClr val="bg1"/>
                </a:solidFill>
              </a:rPr>
              <a:t>Neuron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7481" y="1248923"/>
            <a:ext cx="55918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Input(x) :- numeric features given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Weight(w) :- </a:t>
            </a:r>
            <a:r>
              <a:rPr lang="en-GB" dirty="0">
                <a:solidFill>
                  <a:schemeClr val="bg1"/>
                </a:solidFill>
              </a:rPr>
              <a:t>determines how much influence the information from the previous neuron has on the next one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Initial weights : </a:t>
            </a:r>
            <a:r>
              <a:rPr lang="en-IN" dirty="0">
                <a:solidFill>
                  <a:schemeClr val="bg1"/>
                </a:solidFill>
              </a:rPr>
              <a:t>Xavier Initialization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 = </a:t>
            </a:r>
            <a:r>
              <a:rPr lang="en-IN" dirty="0" err="1">
                <a:solidFill>
                  <a:schemeClr val="bg1"/>
                </a:solidFill>
              </a:rPr>
              <a:t>random_uniform</a:t>
            </a:r>
            <a:r>
              <a:rPr lang="en-IN" dirty="0">
                <a:solidFill>
                  <a:schemeClr val="bg1"/>
                </a:solidFill>
              </a:rPr>
              <a:t>(-1/√n, +1/√n)</a:t>
            </a:r>
          </a:p>
          <a:p>
            <a:pPr lvl="2"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Where n : number of inputs to this </a:t>
            </a:r>
            <a:r>
              <a:rPr lang="en-GB" dirty="0" smtClean="0">
                <a:solidFill>
                  <a:schemeClr val="bg1"/>
                </a:solidFill>
              </a:rPr>
              <a:t>layer</a:t>
            </a:r>
          </a:p>
          <a:p>
            <a:pPr lvl="1"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Bias(b) :- </a:t>
            </a:r>
            <a:r>
              <a:rPr lang="en-GB" dirty="0">
                <a:solidFill>
                  <a:schemeClr val="bg1"/>
                </a:solidFill>
              </a:rPr>
              <a:t>enables the neuron to modify the output independently of its inputs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Output(y) :- Output layer carries Q-values generated per action.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6227" b="18953"/>
          <a:stretch/>
        </p:blipFill>
        <p:spPr>
          <a:xfrm>
            <a:off x="7630750" y="1123998"/>
            <a:ext cx="3001591" cy="14233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34997" y="2547319"/>
            <a:ext cx="141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y = </a:t>
            </a:r>
            <a:r>
              <a:rPr lang="en-GB" dirty="0" err="1" smtClean="0">
                <a:solidFill>
                  <a:schemeClr val="bg1"/>
                </a:solidFill>
              </a:rPr>
              <a:t>wx</a:t>
            </a:r>
            <a:r>
              <a:rPr lang="en-GB" dirty="0" smtClean="0">
                <a:solidFill>
                  <a:schemeClr val="bg1"/>
                </a:solidFill>
              </a:rPr>
              <a:t> + b</a:t>
            </a:r>
            <a:r>
              <a:rPr lang="en-GB" dirty="0">
                <a:solidFill>
                  <a:schemeClr val="bg1"/>
                </a:solidFill>
              </a:rPr>
              <a:t/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 smtClean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59" y="3193650"/>
            <a:ext cx="2475468" cy="25128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36541" y="5778249"/>
            <a:ext cx="468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y</a:t>
            </a:r>
            <a:r>
              <a:rPr lang="en-IN" dirty="0" smtClean="0">
                <a:solidFill>
                  <a:schemeClr val="bg1"/>
                </a:solidFill>
              </a:rPr>
              <a:t> = w0x0 + w1x1 + w2x2 + b</a:t>
            </a:r>
            <a:endParaRPr lang="en-GB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9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0392" y="526960"/>
            <a:ext cx="4454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Layers in Neural Network Architecture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1047" y="1536324"/>
            <a:ext cx="46843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Input Layer : </a:t>
            </a:r>
            <a:r>
              <a:rPr lang="en-IN" dirty="0">
                <a:solidFill>
                  <a:schemeClr val="bg1"/>
                </a:solidFill>
              </a:rPr>
              <a:t>R</a:t>
            </a:r>
            <a:r>
              <a:rPr lang="en-IN" dirty="0" smtClean="0">
                <a:solidFill>
                  <a:schemeClr val="bg1"/>
                </a:solidFill>
              </a:rPr>
              <a:t>eceives input data. </a:t>
            </a:r>
            <a:r>
              <a:rPr lang="en-GB" dirty="0" smtClean="0">
                <a:solidFill>
                  <a:schemeClr val="bg1"/>
                </a:solidFill>
              </a:rPr>
              <a:t>Each </a:t>
            </a:r>
            <a:r>
              <a:rPr lang="en-GB" dirty="0">
                <a:solidFill>
                  <a:schemeClr val="bg1"/>
                </a:solidFill>
              </a:rPr>
              <a:t>input </a:t>
            </a:r>
            <a:r>
              <a:rPr lang="en-GB" dirty="0" smtClean="0">
                <a:solidFill>
                  <a:schemeClr val="bg1"/>
                </a:solidFill>
              </a:rPr>
              <a:t>in </a:t>
            </a:r>
            <a:r>
              <a:rPr lang="en-GB" dirty="0">
                <a:solidFill>
                  <a:schemeClr val="bg1"/>
                </a:solidFill>
              </a:rPr>
              <a:t>the layer corresponds to a feature in the input data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>
              <a:buClr>
                <a:schemeClr val="bg1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Hidden Layers : </a:t>
            </a:r>
            <a:r>
              <a:rPr lang="en-GB" dirty="0">
                <a:solidFill>
                  <a:schemeClr val="bg1"/>
                </a:solidFill>
              </a:rPr>
              <a:t>It performs nonlinear transformations on input </a:t>
            </a:r>
            <a:r>
              <a:rPr lang="en-GB" dirty="0" smtClean="0">
                <a:solidFill>
                  <a:schemeClr val="bg1"/>
                </a:solidFill>
              </a:rPr>
              <a:t>data allowing </a:t>
            </a:r>
            <a:r>
              <a:rPr lang="en-GB" dirty="0">
                <a:solidFill>
                  <a:schemeClr val="bg1"/>
                </a:solidFill>
              </a:rPr>
              <a:t>the network to learn complex patterns and features.</a:t>
            </a:r>
            <a:endParaRPr lang="en-GB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Output Layer : </a:t>
            </a:r>
          </a:p>
          <a:p>
            <a:pPr lvl="1"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Generates Q-value for each action.</a:t>
            </a:r>
            <a:r>
              <a:rPr lang="en-GB" dirty="0">
                <a:solidFill>
                  <a:schemeClr val="bg1"/>
                </a:solidFill>
              </a:rPr>
              <a:t/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2" name="AutoShape 2" descr="420047197"/>
          <p:cNvSpPr>
            <a:spLocks noChangeAspect="1" noChangeArrowheads="1"/>
          </p:cNvSpPr>
          <p:nvPr/>
        </p:nvSpPr>
        <p:spPr bwMode="auto">
          <a:xfrm>
            <a:off x="4879974" y="3297984"/>
            <a:ext cx="5286001" cy="528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535506" y="4980230"/>
            <a:ext cx="124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64 Neurons</a:t>
            </a:r>
          </a:p>
        </p:txBody>
      </p:sp>
      <p:pic>
        <p:nvPicPr>
          <p:cNvPr id="1026" name="Picture 2" descr="Artificial Neural Networks and its Applications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70" y="1293000"/>
            <a:ext cx="4876142" cy="307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>
            <a:off x="8568670" y="4121647"/>
            <a:ext cx="8964" cy="7999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9707188" y="4159541"/>
            <a:ext cx="8964" cy="7999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59789" y="4795564"/>
            <a:ext cx="175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7 O/P (Q-Value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 per action)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0856724" y="3912455"/>
            <a:ext cx="8964" cy="7999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430152" y="3913244"/>
            <a:ext cx="8964" cy="7999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01032" y="4795564"/>
            <a:ext cx="188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5</a:t>
            </a:r>
            <a:r>
              <a:rPr lang="en-GB" dirty="0" smtClean="0">
                <a:solidFill>
                  <a:schemeClr val="bg1"/>
                </a:solidFill>
              </a:rPr>
              <a:t> Input Features</a:t>
            </a:r>
          </a:p>
        </p:txBody>
      </p:sp>
    </p:spTree>
    <p:extLst>
      <p:ext uri="{BB962C8B-B14F-4D97-AF65-F5344CB8AC3E}">
        <p14:creationId xmlns:p14="http://schemas.microsoft.com/office/powerpoint/2010/main" val="118063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84538" y="414500"/>
            <a:ext cx="324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1. State Vector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7058" y="1043210"/>
            <a:ext cx="56336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represents the environment's current situation as a numerical array </a:t>
            </a: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Neural </a:t>
            </a:r>
            <a:r>
              <a:rPr lang="en-GB" dirty="0">
                <a:solidFill>
                  <a:schemeClr val="bg1"/>
                </a:solidFill>
              </a:rPr>
              <a:t>network input layer has a </a:t>
            </a:r>
            <a:r>
              <a:rPr lang="en-GB" b="1" dirty="0">
                <a:solidFill>
                  <a:schemeClr val="bg1"/>
                </a:solidFill>
              </a:rPr>
              <a:t>fixed number of neurons</a:t>
            </a:r>
            <a:r>
              <a:rPr lang="en-GB" dirty="0">
                <a:solidFill>
                  <a:schemeClr val="bg1"/>
                </a:solidFill>
              </a:rPr>
              <a:t> — decided at architecture design time and never changes. </a:t>
            </a: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Range : 0 to 1</a:t>
            </a:r>
            <a:r>
              <a:rPr lang="en-GB" dirty="0">
                <a:solidFill>
                  <a:schemeClr val="bg1"/>
                </a:solidFill>
              </a:rPr>
              <a:t/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8386" y="1043210"/>
            <a:ext cx="5669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For </a:t>
            </a:r>
            <a:r>
              <a:rPr lang="en-GB" dirty="0" err="1" smtClean="0">
                <a:solidFill>
                  <a:schemeClr val="bg1"/>
                </a:solidFill>
              </a:rPr>
              <a:t>e.g</a:t>
            </a:r>
            <a:r>
              <a:rPr lang="en-GB" dirty="0" smtClean="0">
                <a:solidFill>
                  <a:schemeClr val="bg1"/>
                </a:solidFill>
              </a:rPr>
              <a:t>; </a:t>
            </a:r>
          </a:p>
          <a:p>
            <a:pPr lvl="1">
              <a:buClr>
                <a:schemeClr val="bg1"/>
              </a:buClr>
            </a:pPr>
            <a:r>
              <a:rPr lang="en-IN" dirty="0">
                <a:solidFill>
                  <a:schemeClr val="bg1"/>
                </a:solidFill>
              </a:rPr>
              <a:t>state = [ </a:t>
            </a:r>
            <a:r>
              <a:rPr lang="en-IN" dirty="0" err="1" smtClean="0">
                <a:solidFill>
                  <a:schemeClr val="bg1"/>
                </a:solidFill>
              </a:rPr>
              <a:t>mac_table_entries</a:t>
            </a:r>
            <a:r>
              <a:rPr lang="en-IN" dirty="0" smtClean="0">
                <a:solidFill>
                  <a:schemeClr val="bg1"/>
                </a:solidFill>
              </a:rPr>
              <a:t>, </a:t>
            </a:r>
            <a:r>
              <a:rPr lang="en-IN" dirty="0" err="1" smtClean="0">
                <a:solidFill>
                  <a:schemeClr val="bg1"/>
                </a:solidFill>
              </a:rPr>
              <a:t>flood_pressure</a:t>
            </a:r>
            <a:r>
              <a:rPr lang="en-IN" dirty="0" smtClean="0">
                <a:solidFill>
                  <a:schemeClr val="bg1"/>
                </a:solidFill>
              </a:rPr>
              <a:t>. </a:t>
            </a:r>
            <a:r>
              <a:rPr lang="en-IN" dirty="0" err="1" smtClean="0">
                <a:solidFill>
                  <a:schemeClr val="bg1"/>
                </a:solidFill>
              </a:rPr>
              <a:t>port_traffic</a:t>
            </a:r>
            <a:r>
              <a:rPr lang="en-IN" dirty="0" smtClean="0">
                <a:solidFill>
                  <a:schemeClr val="bg1"/>
                </a:solidFill>
              </a:rPr>
              <a:t>, </a:t>
            </a:r>
            <a:r>
              <a:rPr lang="en-IN" dirty="0" err="1" smtClean="0">
                <a:solidFill>
                  <a:schemeClr val="bg1"/>
                </a:solidFill>
              </a:rPr>
              <a:t>entry_age</a:t>
            </a:r>
            <a:r>
              <a:rPr lang="en-IN" dirty="0" smtClean="0">
                <a:solidFill>
                  <a:schemeClr val="bg1"/>
                </a:solidFill>
              </a:rPr>
              <a:t>, </a:t>
            </a:r>
            <a:r>
              <a:rPr lang="en-IN" dirty="0" err="1" smtClean="0">
                <a:solidFill>
                  <a:schemeClr val="bg1"/>
                </a:solidFill>
              </a:rPr>
              <a:t>new_mac_rate</a:t>
            </a:r>
            <a:r>
              <a:rPr lang="en-IN" dirty="0" smtClean="0">
                <a:solidFill>
                  <a:schemeClr val="bg1"/>
                </a:solidFill>
              </a:rPr>
              <a:t>]</a:t>
            </a:r>
          </a:p>
          <a:p>
            <a:pPr lvl="1"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S1 = </a:t>
            </a:r>
            <a:r>
              <a:rPr lang="en-IN" dirty="0">
                <a:solidFill>
                  <a:schemeClr val="bg1"/>
                </a:solidFill>
              </a:rPr>
              <a:t>[0.60, 0.10, 0.20, 0.95, 0.05]</a:t>
            </a:r>
            <a:endParaRPr lang="en-GB" dirty="0" smtClean="0">
              <a:solidFill>
                <a:schemeClr val="bg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968143"/>
              </p:ext>
            </p:extLst>
          </p:nvPr>
        </p:nvGraphicFramePr>
        <p:xfrm>
          <a:off x="639105" y="3074535"/>
          <a:ext cx="11338562" cy="3348362"/>
        </p:xfrm>
        <a:graphic>
          <a:graphicData uri="http://schemas.openxmlformats.org/drawingml/2006/table">
            <a:tbl>
              <a:tblPr/>
              <a:tblGrid>
                <a:gridCol w="472040"/>
                <a:gridCol w="1358316"/>
                <a:gridCol w="1695485"/>
                <a:gridCol w="1387216"/>
                <a:gridCol w="1502817"/>
                <a:gridCol w="1628052"/>
                <a:gridCol w="1877316"/>
                <a:gridCol w="1417320"/>
              </a:tblGrid>
              <a:tr h="240882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State Name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What it is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What it Represents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Why Agent Needs It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Decision Signals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Normalization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Critical Meaning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5411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MAC Table Entries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Current fill percentage of MAC table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How full the switch memory is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Primary indicator of flooding risk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High value → take action to reduce entries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current_entries / max_capacity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&gt;0.85 warning, &gt;0.95 emergency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5411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Flood Pressure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Rate of packets being flooded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Direct measurement of flooding problem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Detects flooding even before table is full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High flood + high table → critical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current_flood_rate / max_flood_rate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High = switch already flooding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5411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Port Traffic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Overall bandwidth usage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Traffic volume entering switch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Distinguishes heavy traffic vs stale entries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High traffic + high table → traffic surge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current_bandwidth / max_bandwidth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High = more MAC learning incoming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5411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Entry Age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Average age of MAC entries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Indicates stale entries in table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Helps decide eviction vs blocking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High age + high table → evict stale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avg_age / max_age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High = table clogged with stale entries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3146"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New MAC Rate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Rate of new MAC arrivals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Growth speed of table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Predicts future overflow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High rate → possible MAC flood attack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chemeClr val="bg1"/>
                          </a:solidFill>
                        </a:rPr>
                        <a:t>current_rate / max_rate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High = table filling fast</a:t>
                      </a:r>
                    </a:p>
                  </a:txBody>
                  <a:tcPr marL="24088" marR="24088" marT="12044" marB="120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05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21215" y="643502"/>
            <a:ext cx="324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2. Forward </a:t>
            </a:r>
            <a:r>
              <a:rPr lang="en-IN" sz="2000" dirty="0">
                <a:solidFill>
                  <a:schemeClr val="bg1"/>
                </a:solidFill>
              </a:rPr>
              <a:t>Pass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7562" y="1459946"/>
            <a:ext cx="581548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the </a:t>
            </a:r>
            <a:r>
              <a:rPr lang="en-GB" dirty="0">
                <a:solidFill>
                  <a:schemeClr val="bg1"/>
                </a:solidFill>
              </a:rPr>
              <a:t>computation that happens </a:t>
            </a:r>
            <a:r>
              <a:rPr lang="en-GB" b="1" dirty="0">
                <a:solidFill>
                  <a:schemeClr val="bg1"/>
                </a:solidFill>
              </a:rPr>
              <a:t>inside the network</a:t>
            </a:r>
            <a:r>
              <a:rPr lang="en-GB" dirty="0">
                <a:solidFill>
                  <a:schemeClr val="bg1"/>
                </a:solidFill>
              </a:rPr>
              <a:t> when you give it a state vector and ask for Q-values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Data Flow : </a:t>
            </a:r>
            <a:r>
              <a:rPr lang="en-GB" dirty="0">
                <a:solidFill>
                  <a:schemeClr val="bg1"/>
                </a:solidFill>
              </a:rPr>
              <a:t>input → </a:t>
            </a:r>
            <a:r>
              <a:rPr lang="en-GB" dirty="0" smtClean="0">
                <a:solidFill>
                  <a:schemeClr val="bg1"/>
                </a:solidFill>
              </a:rPr>
              <a:t>Hidden layers </a:t>
            </a:r>
            <a:r>
              <a:rPr lang="en-GB" dirty="0">
                <a:solidFill>
                  <a:schemeClr val="bg1"/>
                </a:solidFill>
              </a:rPr>
              <a:t>→ </a:t>
            </a:r>
            <a:r>
              <a:rPr lang="en-GB" dirty="0" smtClean="0">
                <a:solidFill>
                  <a:schemeClr val="bg1"/>
                </a:solidFill>
              </a:rPr>
              <a:t>Output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Linear Transformation :-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</a:pPr>
            <a:r>
              <a:rPr lang="pl-PL" i="1" dirty="0" smtClean="0">
                <a:solidFill>
                  <a:schemeClr val="bg1"/>
                </a:solidFill>
              </a:rPr>
              <a:t>Z</a:t>
            </a:r>
            <a:r>
              <a:rPr lang="en-GB" i="1" dirty="0" smtClean="0">
                <a:solidFill>
                  <a:schemeClr val="bg1"/>
                </a:solidFill>
              </a:rPr>
              <a:t> </a:t>
            </a:r>
            <a:r>
              <a:rPr lang="pl-PL" dirty="0" smtClean="0">
                <a:solidFill>
                  <a:schemeClr val="bg1"/>
                </a:solidFill>
              </a:rPr>
              <a:t>=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pl-PL" i="1" dirty="0" smtClean="0">
                <a:solidFill>
                  <a:schemeClr val="bg1"/>
                </a:solidFill>
              </a:rPr>
              <a:t>w</a:t>
            </a:r>
            <a:r>
              <a:rPr lang="en-IN" baseline="-25000" dirty="0">
                <a:solidFill>
                  <a:schemeClr val="bg1"/>
                </a:solidFill>
              </a:rPr>
              <a:t>1</a:t>
            </a:r>
            <a:r>
              <a:rPr lang="pl-PL" dirty="0" smtClean="0">
                <a:solidFill>
                  <a:schemeClr val="bg1"/>
                </a:solidFill>
              </a:rPr>
              <a:t>​</a:t>
            </a:r>
            <a:r>
              <a:rPr lang="pl-PL" i="1" dirty="0" smtClean="0">
                <a:solidFill>
                  <a:schemeClr val="bg1"/>
                </a:solidFill>
              </a:rPr>
              <a:t>x</a:t>
            </a:r>
            <a:r>
              <a:rPr lang="en-IN" baseline="-25000" dirty="0">
                <a:solidFill>
                  <a:schemeClr val="bg1"/>
                </a:solidFill>
              </a:rPr>
              <a:t>1</a:t>
            </a:r>
            <a:r>
              <a:rPr lang="pl-PL" dirty="0" smtClean="0">
                <a:solidFill>
                  <a:schemeClr val="bg1"/>
                </a:solidFill>
              </a:rPr>
              <a:t>​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pl-PL" dirty="0" smtClean="0">
                <a:solidFill>
                  <a:schemeClr val="bg1"/>
                </a:solidFill>
              </a:rPr>
              <a:t>+</a:t>
            </a:r>
            <a:r>
              <a:rPr lang="en-IN" i="1" dirty="0" smtClean="0">
                <a:solidFill>
                  <a:schemeClr val="bg1"/>
                </a:solidFill>
              </a:rPr>
              <a:t>w</a:t>
            </a:r>
            <a:r>
              <a:rPr lang="en-IN" i="1" baseline="-25000" dirty="0" smtClean="0">
                <a:solidFill>
                  <a:schemeClr val="bg1"/>
                </a:solidFill>
              </a:rPr>
              <a:t>2</a:t>
            </a:r>
            <a:r>
              <a:rPr lang="en-IN" i="1" dirty="0" smtClean="0">
                <a:solidFill>
                  <a:schemeClr val="bg1"/>
                </a:solidFill>
              </a:rPr>
              <a:t>x</a:t>
            </a:r>
            <a:r>
              <a:rPr lang="en-IN" i="1" baseline="-25000" dirty="0" smtClean="0">
                <a:solidFill>
                  <a:schemeClr val="bg1"/>
                </a:solidFill>
              </a:rPr>
              <a:t>2</a:t>
            </a:r>
            <a:r>
              <a:rPr lang="pl-PL" dirty="0" smtClean="0">
                <a:solidFill>
                  <a:schemeClr val="bg1"/>
                </a:solidFill>
              </a:rPr>
              <a:t>​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pl-PL" dirty="0" smtClean="0">
                <a:solidFill>
                  <a:schemeClr val="bg1"/>
                </a:solidFill>
              </a:rPr>
              <a:t>+…+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en-IN" i="1" dirty="0" err="1" smtClean="0">
                <a:solidFill>
                  <a:schemeClr val="bg1"/>
                </a:solidFill>
              </a:rPr>
              <a:t>w</a:t>
            </a:r>
            <a:r>
              <a:rPr lang="en-IN" i="1" baseline="-25000" dirty="0" err="1" smtClean="0">
                <a:solidFill>
                  <a:schemeClr val="bg1"/>
                </a:solidFill>
              </a:rPr>
              <a:t>n</a:t>
            </a:r>
            <a:r>
              <a:rPr lang="en-IN" i="1" dirty="0" err="1" smtClean="0">
                <a:solidFill>
                  <a:schemeClr val="bg1"/>
                </a:solidFill>
              </a:rPr>
              <a:t>x</a:t>
            </a:r>
            <a:r>
              <a:rPr lang="en-IN" i="1" baseline="-25000" dirty="0" err="1" smtClean="0">
                <a:solidFill>
                  <a:schemeClr val="bg1"/>
                </a:solidFill>
              </a:rPr>
              <a:t>n</a:t>
            </a:r>
            <a:r>
              <a:rPr lang="pl-PL" dirty="0" smtClean="0">
                <a:solidFill>
                  <a:schemeClr val="bg1"/>
                </a:solidFill>
              </a:rPr>
              <a:t>​</a:t>
            </a:r>
            <a:r>
              <a:rPr lang="pl-PL" dirty="0">
                <a:solidFill>
                  <a:schemeClr val="bg1"/>
                </a:solidFill>
              </a:rPr>
              <a:t>+</a:t>
            </a:r>
            <a:r>
              <a:rPr lang="pl-PL" i="1" dirty="0" smtClean="0">
                <a:solidFill>
                  <a:schemeClr val="bg1"/>
                </a:solidFill>
              </a:rPr>
              <a:t>b</a:t>
            </a:r>
            <a:endParaRPr lang="en-IN" i="1" dirty="0" smtClean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</a:pPr>
            <a:endParaRPr lang="en-IN" i="1" dirty="0" smtClean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2.   Activation Function :-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decides whether a neuron should “</a:t>
            </a:r>
            <a:r>
              <a:rPr lang="en-GB" dirty="0" smtClean="0">
                <a:solidFill>
                  <a:schemeClr val="bg1"/>
                </a:solidFill>
              </a:rPr>
              <a:t>fire”.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 err="1" smtClean="0">
                <a:solidFill>
                  <a:schemeClr val="bg1"/>
                </a:solidFill>
              </a:rPr>
              <a:t>ReLU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(Rectified Linear Unit</a:t>
            </a:r>
            <a:r>
              <a:rPr lang="en-IN" dirty="0" smtClean="0">
                <a:solidFill>
                  <a:schemeClr val="bg1"/>
                </a:solidFill>
              </a:rPr>
              <a:t>) is used.</a:t>
            </a:r>
          </a:p>
          <a:p>
            <a:pPr lvl="1">
              <a:buClr>
                <a:schemeClr val="bg1"/>
              </a:buClr>
            </a:pPr>
            <a:endParaRPr lang="en-IN" dirty="0" smtClean="0">
              <a:solidFill>
                <a:schemeClr val="bg1"/>
              </a:solidFill>
            </a:endParaRPr>
          </a:p>
          <a:p>
            <a:pPr fontAlgn="base"/>
            <a:r>
              <a:rPr lang="en-IN" i="1" dirty="0" smtClean="0">
                <a:solidFill>
                  <a:schemeClr val="bg1"/>
                </a:solidFill>
              </a:rPr>
              <a:t>			f</a:t>
            </a:r>
            <a:r>
              <a:rPr lang="en-IN" dirty="0" smtClean="0">
                <a:solidFill>
                  <a:schemeClr val="bg1"/>
                </a:solidFill>
              </a:rPr>
              <a:t>(</a:t>
            </a:r>
            <a:r>
              <a:rPr lang="en-IN" i="1" dirty="0" smtClean="0">
                <a:solidFill>
                  <a:schemeClr val="bg1"/>
                </a:solidFill>
              </a:rPr>
              <a:t>x</a:t>
            </a:r>
            <a:r>
              <a:rPr lang="en-IN" dirty="0">
                <a:solidFill>
                  <a:schemeClr val="bg1"/>
                </a:solidFill>
              </a:rPr>
              <a:t>)=max(0</a:t>
            </a:r>
            <a:r>
              <a:rPr lang="en-IN" dirty="0" smtClean="0">
                <a:solidFill>
                  <a:schemeClr val="bg1"/>
                </a:solidFill>
              </a:rPr>
              <a:t>,</a:t>
            </a:r>
            <a:r>
              <a:rPr lang="en-IN" i="1" dirty="0">
                <a:solidFill>
                  <a:schemeClr val="bg1"/>
                </a:solidFill>
              </a:rPr>
              <a:t> </a:t>
            </a:r>
            <a:r>
              <a:rPr lang="en-IN" i="1" dirty="0" smtClean="0">
                <a:solidFill>
                  <a:schemeClr val="bg1"/>
                </a:solidFill>
              </a:rPr>
              <a:t>Z</a:t>
            </a:r>
            <a:r>
              <a:rPr lang="en-IN" dirty="0" smtClean="0">
                <a:solidFill>
                  <a:schemeClr val="bg1"/>
                </a:solidFill>
              </a:rPr>
              <a:t>)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/>
            </a:r>
            <a:br>
              <a:rPr lang="en-IN" dirty="0">
                <a:solidFill>
                  <a:schemeClr val="bg1"/>
                </a:solidFill>
              </a:rPr>
            </a:br>
            <a:endParaRPr lang="en-GB" dirty="0" smtClean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/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20240" y="5010912"/>
            <a:ext cx="1655064" cy="4480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92707" y="3133344"/>
            <a:ext cx="3031057" cy="4480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977897" y="388448"/>
            <a:ext cx="4273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>
                <a:solidFill>
                  <a:schemeClr val="bg1"/>
                </a:solidFill>
              </a:rPr>
              <a:t>3. Action selection via Epsilon Greedy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5757" y="788558"/>
            <a:ext cx="34972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 smtClean="0">
                <a:solidFill>
                  <a:schemeClr val="bg1"/>
                </a:solidFill>
              </a:rPr>
              <a:t>List of All Actions :-</a:t>
            </a:r>
          </a:p>
          <a:p>
            <a:pPr>
              <a:buClr>
                <a:schemeClr val="bg1"/>
              </a:buClr>
            </a:pPr>
            <a:endParaRPr lang="en-GB" sz="1400" dirty="0" smtClean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sz="1400" dirty="0" smtClean="0">
                <a:solidFill>
                  <a:schemeClr val="bg1"/>
                </a:solidFill>
              </a:rPr>
              <a:t>LEARN_MAC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sz="1400" dirty="0" smtClean="0">
                <a:solidFill>
                  <a:schemeClr val="bg1"/>
                </a:solidFill>
              </a:rPr>
              <a:t>EVICT_ENTRY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sz="1400" dirty="0" smtClean="0">
                <a:solidFill>
                  <a:schemeClr val="bg1"/>
                </a:solidFill>
              </a:rPr>
              <a:t>FLOOD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sz="1400" dirty="0" smtClean="0">
                <a:solidFill>
                  <a:schemeClr val="bg1"/>
                </a:solidFill>
              </a:rPr>
              <a:t>BLOCK_PORT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400" dirty="0" smtClean="0">
                <a:solidFill>
                  <a:schemeClr val="bg1"/>
                </a:solidFill>
              </a:rPr>
              <a:t>UNBLOCK_PORT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400" dirty="0" smtClean="0">
                <a:solidFill>
                  <a:schemeClr val="bg1"/>
                </a:solidFill>
              </a:rPr>
              <a:t>INCREASE_AGING_TIMER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</a:rPr>
              <a:t>DECREASE_AGING_TIMER</a:t>
            </a:r>
            <a:endParaRPr lang="en-GB" sz="1400" dirty="0" smtClean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256382" y="2850681"/>
            <a:ext cx="1742465" cy="28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998844" y="2859238"/>
            <a:ext cx="1850351" cy="28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158752" y="3306845"/>
            <a:ext cx="21952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Exploration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533528" y="3281730"/>
            <a:ext cx="21952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Exploitation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5693" y="3765110"/>
            <a:ext cx="2724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-    Explore unknown knowledge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Choose Random </a:t>
            </a:r>
            <a:r>
              <a:rPr lang="en-GB" dirty="0" smtClean="0">
                <a:solidFill>
                  <a:schemeClr val="bg1"/>
                </a:solidFill>
              </a:rPr>
              <a:t>action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 Epsilon close to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6140" y="3106293"/>
            <a:ext cx="21952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0&lt;epsilon&lt;1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914964" y="3754452"/>
            <a:ext cx="26733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Exploit current knowledge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Choose </a:t>
            </a:r>
            <a:r>
              <a:rPr lang="en-GB" dirty="0" err="1" smtClean="0">
                <a:solidFill>
                  <a:schemeClr val="bg1"/>
                </a:solidFill>
              </a:rPr>
              <a:t>Argmax</a:t>
            </a:r>
            <a:r>
              <a:rPr lang="en-GB" dirty="0" smtClean="0">
                <a:solidFill>
                  <a:schemeClr val="bg1"/>
                </a:solidFill>
              </a:rPr>
              <a:t>{Q(</a:t>
            </a:r>
            <a:r>
              <a:rPr lang="en-GB" dirty="0" err="1" smtClean="0">
                <a:solidFill>
                  <a:schemeClr val="bg1"/>
                </a:solidFill>
              </a:rPr>
              <a:t>S,A,w</a:t>
            </a:r>
            <a:r>
              <a:rPr lang="en-GB" dirty="0" smtClean="0">
                <a:solidFill>
                  <a:schemeClr val="bg1"/>
                </a:solidFill>
              </a:rPr>
              <a:t>)}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Epsilon close to 0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40259" y="5441611"/>
            <a:ext cx="40908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Start with ε = 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End with ε = 0.01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Every </a:t>
            </a:r>
            <a:r>
              <a:rPr lang="en-GB" dirty="0">
                <a:solidFill>
                  <a:schemeClr val="bg1"/>
                </a:solidFill>
              </a:rPr>
              <a:t>episode ε shrinks by 0.5%. Agent explores less and less as it gets smarter.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98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68815" y="4948999"/>
            <a:ext cx="3262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Reward generated based upon the performed action.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New state is observed.(S’)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221589"/>
              </p:ext>
            </p:extLst>
          </p:nvPr>
        </p:nvGraphicFramePr>
        <p:xfrm>
          <a:off x="647420" y="1449275"/>
          <a:ext cx="5600981" cy="3409596"/>
        </p:xfrm>
        <a:graphic>
          <a:graphicData uri="http://schemas.openxmlformats.org/drawingml/2006/table">
            <a:tbl>
              <a:tblPr/>
              <a:tblGrid>
                <a:gridCol w="4641758"/>
                <a:gridCol w="959223"/>
              </a:tblGrid>
              <a:tr h="378844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Situation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Reward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Correct </a:t>
                      </a:r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MAC lookup and delivery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+1.0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Flooding Avoided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+0.8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Preventive entry removal before table overflow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+0.3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Necessary</a:t>
                      </a:r>
                      <a:r>
                        <a:rPr lang="en-GB" baseline="0" dirty="0" smtClean="0">
                          <a:solidFill>
                            <a:schemeClr val="bg1"/>
                          </a:solidFill>
                        </a:rPr>
                        <a:t> flooding (Unknown MAC)</a:t>
                      </a:r>
                      <a:endParaRPr lang="en-GB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Unnecessary flooding of frame 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Wrong port delivery due to stale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</a:t>
                      </a:r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0.5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Early removal of active entry (useful entry)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44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Table</a:t>
                      </a:r>
                      <a:r>
                        <a:rPr lang="en-GB" baseline="0" dirty="0" smtClean="0">
                          <a:solidFill>
                            <a:schemeClr val="bg1"/>
                          </a:solidFill>
                        </a:rPr>
                        <a:t> overflow </a:t>
                      </a:r>
                      <a:endParaRPr lang="en-GB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−0.7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58000" y="580837"/>
            <a:ext cx="2007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>
                <a:solidFill>
                  <a:schemeClr val="bg1"/>
                </a:solidFill>
              </a:rPr>
              <a:t>4.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1570" y="580837"/>
            <a:ext cx="4600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>
                <a:solidFill>
                  <a:schemeClr val="bg1"/>
                </a:solidFill>
              </a:rPr>
              <a:t>5. Experience Replay Buffer/Replay Buffer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241570" y="2859786"/>
            <a:ext cx="47890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Problems with Q-Learning :-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 smtClean="0">
                <a:solidFill>
                  <a:schemeClr val="bg1"/>
                </a:solidFill>
              </a:rPr>
              <a:t>1. Correlation 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/>
                </a:solidFill>
              </a:rPr>
              <a:t> </a:t>
            </a:r>
            <a:r>
              <a:rPr lang="en-US" altLang="en-US" dirty="0" smtClean="0">
                <a:solidFill>
                  <a:schemeClr val="bg1"/>
                </a:solidFill>
              </a:rPr>
              <a:t>   Training over consecutive identical states makes network obsess over recent patterns and unlearn older ones.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 smtClean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 smtClean="0">
                <a:solidFill>
                  <a:schemeClr val="bg1"/>
                </a:solidFill>
              </a:rPr>
              <a:t>2. Catastrophic Forgetting 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altLang="en-US" dirty="0" smtClean="0">
                <a:solidFill>
                  <a:schemeClr val="bg1"/>
                </a:solidFill>
              </a:rPr>
              <a:t>    </a:t>
            </a:r>
            <a:r>
              <a:rPr lang="en-GB" dirty="0">
                <a:solidFill>
                  <a:schemeClr val="bg1"/>
                </a:solidFill>
              </a:rPr>
              <a:t>When new experiences come in, gradient updates overwrite what was learned from older experiences. </a:t>
            </a:r>
            <a:endParaRPr lang="en-GB" dirty="0" smtClean="0">
              <a:solidFill>
                <a:schemeClr val="bg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 smtClean="0">
                <a:solidFill>
                  <a:schemeClr val="bg1"/>
                </a:solidFill>
              </a:rPr>
              <a:t>    The </a:t>
            </a:r>
            <a:r>
              <a:rPr lang="en-GB" dirty="0">
                <a:solidFill>
                  <a:schemeClr val="bg1"/>
                </a:solidFill>
              </a:rPr>
              <a:t>network has no memory of the past.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41570" y="1449275"/>
            <a:ext cx="4691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Replay Buffer : </a:t>
            </a:r>
            <a:r>
              <a:rPr lang="en-GB" dirty="0">
                <a:solidFill>
                  <a:schemeClr val="bg1"/>
                </a:solidFill>
              </a:rPr>
              <a:t>a fixed-size memory store that holds </a:t>
            </a:r>
            <a:r>
              <a:rPr lang="en-GB" dirty="0" smtClean="0">
                <a:solidFill>
                  <a:schemeClr val="bg1"/>
                </a:solidFill>
              </a:rPr>
              <a:t>last N experience tuples (s, a, r, s’, </a:t>
            </a:r>
            <a:r>
              <a:rPr lang="en-GB" dirty="0" err="1" smtClean="0">
                <a:solidFill>
                  <a:schemeClr val="bg1"/>
                </a:solidFill>
              </a:rPr>
              <a:t>done_flag</a:t>
            </a:r>
            <a:r>
              <a:rPr lang="en-GB" dirty="0" smtClean="0">
                <a:solidFill>
                  <a:schemeClr val="bg1"/>
                </a:solidFill>
              </a:rPr>
              <a:t>) from prior episodes.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- Works like a circular queue.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69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17806" y="569170"/>
            <a:ext cx="4463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>
                <a:solidFill>
                  <a:schemeClr val="bg1"/>
                </a:solidFill>
              </a:rPr>
              <a:t>6. Mini Batch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9078" y="3666200"/>
            <a:ext cx="46431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Working :-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Every switch simulation step pushes one tuple into the buffer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Random mini-batch (32–64 tuples</a:t>
            </a:r>
            <a:r>
              <a:rPr lang="en-US" altLang="en-US" dirty="0" smtClean="0">
                <a:solidFill>
                  <a:schemeClr val="bg1"/>
                </a:solidFill>
              </a:rPr>
              <a:t>) </a:t>
            </a:r>
            <a:r>
              <a:rPr lang="en-IN" dirty="0">
                <a:solidFill>
                  <a:schemeClr val="bg1"/>
                </a:solidFill>
              </a:rPr>
              <a:t>uncorrelated transitions</a:t>
            </a:r>
            <a:r>
              <a:rPr lang="en-US" altLang="en-US" dirty="0" smtClean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sampled at each training step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Random sampling guarantees mix of </a:t>
            </a:r>
            <a:r>
              <a:rPr lang="en-US" altLang="en-US" dirty="0" smtClean="0">
                <a:solidFill>
                  <a:schemeClr val="bg1"/>
                </a:solidFill>
              </a:rPr>
              <a:t>all </a:t>
            </a:r>
            <a:r>
              <a:rPr lang="en-US" altLang="en-US" dirty="0">
                <a:solidFill>
                  <a:schemeClr val="bg1"/>
                </a:solidFill>
              </a:rPr>
              <a:t>situation classes in every batch 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</p:txBody>
      </p:sp>
      <p:pic>
        <p:nvPicPr>
          <p:cNvPr id="7" name="Picture 3" descr="What is the Replay Buffer in DQN (Deep Q-Learning)? - Lazy Programm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78" y="1302195"/>
            <a:ext cx="4380566" cy="203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81483" y="1156472"/>
            <a:ext cx="4643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For each of 64 transitions, calculate target </a:t>
            </a:r>
            <a:r>
              <a:rPr lang="en-GB" dirty="0" err="1" smtClean="0">
                <a:solidFill>
                  <a:schemeClr val="bg1"/>
                </a:solidFill>
              </a:rPr>
              <a:t>y</a:t>
            </a:r>
            <a:r>
              <a:rPr lang="en-GB" baseline="-25000" dirty="0" err="1" smtClean="0">
                <a:solidFill>
                  <a:schemeClr val="bg1"/>
                </a:solidFill>
              </a:rPr>
              <a:t>i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using </a:t>
            </a:r>
            <a:r>
              <a:rPr lang="en-GB" dirty="0" smtClean="0">
                <a:solidFill>
                  <a:schemeClr val="bg1"/>
                </a:solidFill>
              </a:rPr>
              <a:t>Target Network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09371" y="4334396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Discount Factor(Gamma) : 0.9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582" y="2082328"/>
            <a:ext cx="378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If episode continues (done = false):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1483" y="3266907"/>
            <a:ext cx="378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If episode ended (done = true):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79" y="3825440"/>
            <a:ext cx="1752845" cy="3620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79" y="2592578"/>
            <a:ext cx="4848902" cy="4858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80163" y="567161"/>
            <a:ext cx="324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7. Target Network</a:t>
            </a:r>
            <a:endParaRPr lang="en-GB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48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6209" y="593148"/>
            <a:ext cx="4826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8. Loss Function/ MSE(Mean Square Error)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74177" y="2727682"/>
                <a:ext cx="25242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pt-BR" sz="2000" i="1" dirty="0" smtClean="0">
                    <a:solidFill>
                      <a:schemeClr val="bg1"/>
                    </a:solidFill>
                  </a:rPr>
                  <a:t>L = </a:t>
                </a:r>
                <a:r>
                  <a:rPr lang="pt-BR" sz="2000" dirty="0">
                    <a:solidFill>
                      <a:schemeClr val="bg1"/>
                    </a:solidFill>
                  </a:rPr>
                  <a:t>1/n * </a:t>
                </a:r>
                <a:r>
                  <a:rPr lang="en-IN" sz="2000" dirty="0">
                    <a:solidFill>
                      <a:schemeClr val="bg1"/>
                    </a:solidFill>
                  </a:rPr>
                  <a:t>∑</a:t>
                </a:r>
                <a:r>
                  <a:rPr lang="pt-BR" sz="2000" dirty="0">
                    <a:solidFill>
                      <a:schemeClr val="bg1"/>
                    </a:solidFill>
                  </a:rPr>
                  <a:t>​(</a:t>
                </a:r>
                <a:r>
                  <a:rPr lang="pt-BR" sz="2000" i="1" dirty="0">
                    <a:solidFill>
                      <a:schemeClr val="bg1"/>
                    </a:solidFill>
                  </a:rPr>
                  <a:t>y</a:t>
                </a:r>
                <a:r>
                  <a:rPr lang="pt-BR" sz="2000" i="1" baseline="-25000" dirty="0">
                    <a:solidFill>
                      <a:schemeClr val="bg1"/>
                    </a:solidFill>
                  </a:rPr>
                  <a:t>i</a:t>
                </a:r>
                <a:r>
                  <a:rPr lang="pt-BR" sz="2000" dirty="0">
                    <a:solidFill>
                      <a:schemeClr val="bg1"/>
                    </a:solidFill>
                  </a:rPr>
                  <a:t>​−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​)</a:t>
                </a:r>
                <a:r>
                  <a:rPr lang="pt-BR" sz="2000" baseline="30000" dirty="0">
                    <a:solidFill>
                      <a:schemeClr val="bg1"/>
                    </a:solidFill>
                  </a:rPr>
                  <a:t>2</a:t>
                </a:r>
                <a:r>
                  <a:rPr lang="pt-BR" sz="2000" dirty="0">
                    <a:solidFill>
                      <a:schemeClr val="bg1"/>
                    </a:solidFill>
                  </a:rPr>
                  <a:t> </a:t>
                </a:r>
                <a:endParaRPr lang="en-GB" sz="2000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177" y="2727682"/>
                <a:ext cx="2524232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2415" t="-7576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68749" y="1353305"/>
            <a:ext cx="5441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Q</a:t>
            </a:r>
            <a:r>
              <a:rPr lang="en-GB" dirty="0" smtClean="0">
                <a:solidFill>
                  <a:schemeClr val="bg1"/>
                </a:solidFill>
              </a:rPr>
              <a:t>uantifies </a:t>
            </a:r>
            <a:r>
              <a:rPr lang="en-GB" dirty="0">
                <a:solidFill>
                  <a:schemeClr val="bg1"/>
                </a:solidFill>
              </a:rPr>
              <a:t>the difference between the predicted outputs of a machine learning algorithm and the actual target values.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2" name="AutoShape 4" descr="loss function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233829" y="2727682"/>
            <a:ext cx="2146037" cy="4480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21217" y="3506554"/>
                <a:ext cx="1264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pt-BR" sz="2000" i="1" dirty="0" smtClean="0">
                    <a:solidFill>
                      <a:schemeClr val="bg1"/>
                    </a:solidFill>
                  </a:rPr>
                  <a:t>L = </a:t>
                </a:r>
                <a:r>
                  <a:rPr lang="pt-BR" sz="2000" dirty="0" smtClean="0">
                    <a:solidFill>
                      <a:schemeClr val="bg1"/>
                    </a:solidFill>
                  </a:rPr>
                  <a:t>​(</a:t>
                </a:r>
                <a:r>
                  <a:rPr lang="pt-BR" sz="2000" i="1" dirty="0" smtClean="0">
                    <a:solidFill>
                      <a:schemeClr val="bg1"/>
                    </a:solidFill>
                  </a:rPr>
                  <a:t>y</a:t>
                </a:r>
                <a:r>
                  <a:rPr lang="pt-BR" sz="2000" i="1" baseline="-25000" dirty="0" smtClean="0">
                    <a:solidFill>
                      <a:schemeClr val="bg1"/>
                    </a:solidFill>
                  </a:rPr>
                  <a:t>i</a:t>
                </a:r>
                <a:r>
                  <a:rPr lang="pt-BR" sz="2000" dirty="0" smtClean="0">
                    <a:solidFill>
                      <a:schemeClr val="bg1"/>
                    </a:solidFill>
                  </a:rPr>
                  <a:t>​−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 smtClean="0">
                    <a:solidFill>
                      <a:schemeClr val="bg1"/>
                    </a:solidFill>
                  </a:rPr>
                  <a:t>​)</a:t>
                </a:r>
                <a:r>
                  <a:rPr lang="pt-BR" sz="2000" baseline="30000" dirty="0" smtClean="0">
                    <a:solidFill>
                      <a:schemeClr val="bg1"/>
                    </a:solidFill>
                  </a:rPr>
                  <a:t>2</a:t>
                </a:r>
                <a:r>
                  <a:rPr lang="pt-BR" sz="2000" dirty="0" smtClean="0">
                    <a:solidFill>
                      <a:schemeClr val="bg1"/>
                    </a:solidFill>
                  </a:rPr>
                  <a:t> </a:t>
                </a:r>
                <a:endParaRPr lang="en-GB" sz="2000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217" y="3506554"/>
                <a:ext cx="1264042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4808" t="-7576" r="-12019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>
            <a:off x="3334136" y="3915072"/>
            <a:ext cx="0" cy="3999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60198" y="4301276"/>
            <a:ext cx="188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Can </a:t>
            </a:r>
            <a:r>
              <a:rPr lang="en-GB" sz="1600" dirty="0" err="1" smtClean="0">
                <a:solidFill>
                  <a:schemeClr val="bg1"/>
                </a:solidFill>
              </a:rPr>
              <a:t>inc.</a:t>
            </a:r>
            <a:r>
              <a:rPr lang="en-GB" sz="1600" dirty="0" smtClean="0">
                <a:solidFill>
                  <a:schemeClr val="bg1"/>
                </a:solidFill>
              </a:rPr>
              <a:t> or </a:t>
            </a:r>
            <a:r>
              <a:rPr lang="en-GB" sz="1600" dirty="0" err="1" smtClean="0">
                <a:solidFill>
                  <a:schemeClr val="bg1"/>
                </a:solidFill>
              </a:rPr>
              <a:t>dec.</a:t>
            </a:r>
            <a:r>
              <a:rPr lang="en-GB" sz="1600" dirty="0" smtClean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334136" y="4679580"/>
            <a:ext cx="0" cy="3999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566" y="5029072"/>
            <a:ext cx="188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Depends upon 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3138411" y="5367626"/>
            <a:ext cx="205435" cy="3274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423777" y="5367626"/>
            <a:ext cx="261481" cy="3274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3565" y="5691542"/>
            <a:ext cx="188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weights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4517" y="5701565"/>
            <a:ext cx="188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bias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47421" y="1491779"/>
            <a:ext cx="5020235" cy="26358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9" name="Picture 2" descr="Hidden layer nodes in neural network are radial basis functions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3" t="19571" r="6473" b="10786"/>
          <a:stretch/>
        </p:blipFill>
        <p:spPr bwMode="auto">
          <a:xfrm>
            <a:off x="6910174" y="1599597"/>
            <a:ext cx="4213412" cy="252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7719225" y="2173684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11</a:t>
            </a:r>
            <a:endParaRPr lang="en-GB" sz="2000" dirty="0" smtClean="0"/>
          </a:p>
        </p:txBody>
      </p:sp>
      <p:sp>
        <p:nvSpPr>
          <p:cNvPr id="41" name="TextBox 40"/>
          <p:cNvSpPr txBox="1"/>
          <p:nvPr/>
        </p:nvSpPr>
        <p:spPr>
          <a:xfrm>
            <a:off x="7870386" y="3366250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14</a:t>
            </a:r>
            <a:endParaRPr lang="en-GB" sz="2000" dirty="0" smtClean="0"/>
          </a:p>
        </p:txBody>
      </p:sp>
      <p:sp>
        <p:nvSpPr>
          <p:cNvPr id="42" name="TextBox 41"/>
          <p:cNvSpPr txBox="1"/>
          <p:nvPr/>
        </p:nvSpPr>
        <p:spPr>
          <a:xfrm rot="2070235">
            <a:off x="7812170" y="2716058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12</a:t>
            </a:r>
            <a:endParaRPr lang="en-GB" sz="2000" dirty="0" smtClean="0"/>
          </a:p>
        </p:txBody>
      </p:sp>
      <p:sp>
        <p:nvSpPr>
          <p:cNvPr id="43" name="TextBox 42"/>
          <p:cNvSpPr txBox="1"/>
          <p:nvPr/>
        </p:nvSpPr>
        <p:spPr>
          <a:xfrm rot="19257438">
            <a:off x="7440985" y="3037729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13</a:t>
            </a:r>
            <a:endParaRPr lang="en-GB" sz="2000" dirty="0" smtClean="0"/>
          </a:p>
        </p:txBody>
      </p:sp>
      <p:sp>
        <p:nvSpPr>
          <p:cNvPr id="44" name="TextBox 43"/>
          <p:cNvSpPr txBox="1"/>
          <p:nvPr/>
        </p:nvSpPr>
        <p:spPr>
          <a:xfrm>
            <a:off x="9637672" y="2484967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/>
              <a:t>2</a:t>
            </a:r>
            <a:r>
              <a:rPr lang="en-GB" sz="2000" baseline="-25000" dirty="0" smtClean="0"/>
              <a:t>1</a:t>
            </a:r>
            <a:endParaRPr lang="en-GB" sz="2000" dirty="0" smtClean="0"/>
          </a:p>
        </p:txBody>
      </p:sp>
      <p:sp>
        <p:nvSpPr>
          <p:cNvPr id="45" name="TextBox 44"/>
          <p:cNvSpPr txBox="1"/>
          <p:nvPr/>
        </p:nvSpPr>
        <p:spPr>
          <a:xfrm>
            <a:off x="9637672" y="3390436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2</a:t>
            </a:r>
            <a:r>
              <a:rPr lang="en-GB" sz="2000" baseline="-25000" dirty="0"/>
              <a:t>2</a:t>
            </a:r>
            <a:endParaRPr lang="en-GB" sz="2000" dirty="0" smtClean="0"/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10782927" y="3150251"/>
            <a:ext cx="762000" cy="896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1491139" y="2885077"/>
                <a:ext cx="3585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 smtClean="0">
                    <a:solidFill>
                      <a:schemeClr val="tx1"/>
                    </a:solidFill>
                  </a:rPr>
                  <a:t>​ </a:t>
                </a:r>
                <a:endParaRPr lang="en-GB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139" y="2885077"/>
                <a:ext cx="358588" cy="400110"/>
              </a:xfrm>
              <a:prstGeom prst="rect">
                <a:avLst/>
              </a:prstGeom>
              <a:blipFill rotWithShape="0">
                <a:blip r:embed="rId5"/>
                <a:stretch>
                  <a:fillRect t="-7576" r="-13559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8811695" y="2419905"/>
            <a:ext cx="54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/>
              <a:t>b</a:t>
            </a:r>
            <a:r>
              <a:rPr lang="en-GB" sz="1400" baseline="-25000" dirty="0" smtClean="0"/>
              <a:t>11</a:t>
            </a:r>
            <a:endParaRPr lang="en-GB" sz="1400" dirty="0" smtClean="0"/>
          </a:p>
        </p:txBody>
      </p:sp>
      <p:sp>
        <p:nvSpPr>
          <p:cNvPr id="49" name="TextBox 48"/>
          <p:cNvSpPr txBox="1"/>
          <p:nvPr/>
        </p:nvSpPr>
        <p:spPr>
          <a:xfrm>
            <a:off x="8804703" y="3566305"/>
            <a:ext cx="54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 smtClean="0"/>
              <a:t>b</a:t>
            </a:r>
            <a:r>
              <a:rPr lang="en-GB" sz="1400" baseline="-25000" dirty="0" smtClean="0"/>
              <a:t>12</a:t>
            </a:r>
            <a:endParaRPr lang="en-GB" sz="1400" dirty="0" smtClean="0"/>
          </a:p>
        </p:txBody>
      </p:sp>
      <p:sp>
        <p:nvSpPr>
          <p:cNvPr id="50" name="TextBox 49"/>
          <p:cNvSpPr txBox="1"/>
          <p:nvPr/>
        </p:nvSpPr>
        <p:spPr>
          <a:xfrm>
            <a:off x="10457222" y="3005326"/>
            <a:ext cx="54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 smtClean="0"/>
              <a:t>b</a:t>
            </a:r>
            <a:r>
              <a:rPr lang="en-GB" sz="1400" baseline="-25000" dirty="0" smtClean="0"/>
              <a:t>21</a:t>
            </a:r>
            <a:endParaRPr lang="en-GB" sz="1400" dirty="0" smtClean="0"/>
          </a:p>
        </p:txBody>
      </p:sp>
      <p:sp>
        <p:nvSpPr>
          <p:cNvPr id="51" name="TextBox 50"/>
          <p:cNvSpPr txBox="1"/>
          <p:nvPr/>
        </p:nvSpPr>
        <p:spPr>
          <a:xfrm>
            <a:off x="10416872" y="2609656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/>
              <a:t>o</a:t>
            </a:r>
            <a:r>
              <a:rPr lang="en-GB" sz="2000" baseline="-25000" dirty="0" smtClean="0"/>
              <a:t>21</a:t>
            </a:r>
            <a:endParaRPr lang="en-GB" sz="2000" dirty="0" smtClean="0"/>
          </a:p>
        </p:txBody>
      </p:sp>
      <p:sp>
        <p:nvSpPr>
          <p:cNvPr id="52" name="TextBox 51"/>
          <p:cNvSpPr txBox="1"/>
          <p:nvPr/>
        </p:nvSpPr>
        <p:spPr>
          <a:xfrm>
            <a:off x="9197929" y="2124920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o</a:t>
            </a:r>
            <a:r>
              <a:rPr lang="en-GB" sz="2000" baseline="-25000" dirty="0"/>
              <a:t>1</a:t>
            </a:r>
            <a:r>
              <a:rPr lang="en-GB" sz="2000" baseline="-25000" dirty="0" smtClean="0"/>
              <a:t>1</a:t>
            </a:r>
            <a:endParaRPr lang="en-GB" sz="2000" dirty="0" smtClean="0"/>
          </a:p>
        </p:txBody>
      </p:sp>
      <p:sp>
        <p:nvSpPr>
          <p:cNvPr id="53" name="TextBox 52"/>
          <p:cNvSpPr txBox="1"/>
          <p:nvPr/>
        </p:nvSpPr>
        <p:spPr>
          <a:xfrm>
            <a:off x="9221052" y="3654260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o</a:t>
            </a:r>
            <a:r>
              <a:rPr lang="en-GB" sz="2000" baseline="-25000" dirty="0" smtClean="0"/>
              <a:t>1</a:t>
            </a:r>
            <a:r>
              <a:rPr lang="en-GB" sz="2000" baseline="-25000" dirty="0"/>
              <a:t>2</a:t>
            </a:r>
            <a:endParaRPr lang="en-GB" sz="20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744614" y="4291358"/>
                <a:ext cx="468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​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 = o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11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w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21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 + o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12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w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22  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+ b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21</a:t>
                </a:r>
                <a:endParaRPr lang="en-GB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614" y="4291358"/>
                <a:ext cx="4683233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9836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2743565" y="5029072"/>
            <a:ext cx="188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Depends upon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7208" y="3258432"/>
            <a:ext cx="1883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</a:rPr>
              <a:t>n</a:t>
            </a:r>
            <a:r>
              <a:rPr lang="en-GB" sz="1600" dirty="0" smtClean="0">
                <a:solidFill>
                  <a:schemeClr val="bg1"/>
                </a:solidFill>
              </a:rPr>
              <a:t> = 64</a:t>
            </a:r>
          </a:p>
        </p:txBody>
      </p:sp>
    </p:spTree>
    <p:extLst>
      <p:ext uri="{BB962C8B-B14F-4D97-AF65-F5344CB8AC3E}">
        <p14:creationId xmlns:p14="http://schemas.microsoft.com/office/powerpoint/2010/main" val="405840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64784" y="700445"/>
            <a:ext cx="229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>
                <a:solidFill>
                  <a:schemeClr val="bg1"/>
                </a:solidFill>
              </a:rPr>
              <a:t>9</a:t>
            </a:r>
            <a:r>
              <a:rPr lang="en-GB" sz="2000" dirty="0" smtClean="0">
                <a:solidFill>
                  <a:schemeClr val="bg1"/>
                </a:solidFill>
              </a:rPr>
              <a:t>. </a:t>
            </a:r>
            <a:r>
              <a:rPr lang="en-GB" sz="2000" dirty="0" err="1" smtClean="0">
                <a:solidFill>
                  <a:schemeClr val="bg1"/>
                </a:solidFill>
              </a:rPr>
              <a:t>Backpropogation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8749" y="1353305"/>
            <a:ext cx="5441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 Neural Network update changes all weights simultaneously to minimise loss via backpropagation. Every weight in every layer shifts a little.</a:t>
            </a: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5186" y="2634188"/>
            <a:ext cx="5020235" cy="26358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Hidden layer nodes in neural network are radial basis functions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3" t="19571" r="6473" b="10786"/>
          <a:stretch/>
        </p:blipFill>
        <p:spPr bwMode="auto">
          <a:xfrm>
            <a:off x="1127939" y="2742006"/>
            <a:ext cx="4213412" cy="252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936990" y="3316093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11</a:t>
            </a:r>
            <a:endParaRPr lang="en-GB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088151" y="4508659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14</a:t>
            </a:r>
            <a:endParaRPr lang="en-GB" sz="2000" dirty="0" smtClean="0"/>
          </a:p>
        </p:txBody>
      </p:sp>
      <p:sp>
        <p:nvSpPr>
          <p:cNvPr id="10" name="TextBox 9"/>
          <p:cNvSpPr txBox="1"/>
          <p:nvPr/>
        </p:nvSpPr>
        <p:spPr>
          <a:xfrm rot="2070235">
            <a:off x="2029935" y="3858467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12</a:t>
            </a:r>
            <a:endParaRPr lang="en-GB" sz="2000" dirty="0" smtClean="0"/>
          </a:p>
        </p:txBody>
      </p:sp>
      <p:sp>
        <p:nvSpPr>
          <p:cNvPr id="11" name="TextBox 10"/>
          <p:cNvSpPr txBox="1"/>
          <p:nvPr/>
        </p:nvSpPr>
        <p:spPr>
          <a:xfrm rot="19257438">
            <a:off x="1658750" y="4180138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13</a:t>
            </a:r>
            <a:endParaRPr lang="en-GB" sz="20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855437" y="3627376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/>
              <a:t>2</a:t>
            </a:r>
            <a:r>
              <a:rPr lang="en-GB" sz="2000" baseline="-25000" dirty="0" smtClean="0"/>
              <a:t>1</a:t>
            </a:r>
            <a:endParaRPr lang="en-GB" sz="20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855437" y="4532845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w</a:t>
            </a:r>
            <a:r>
              <a:rPr lang="en-GB" sz="2000" baseline="-25000" dirty="0" smtClean="0"/>
              <a:t>2</a:t>
            </a:r>
            <a:r>
              <a:rPr lang="en-GB" sz="2000" baseline="-25000" dirty="0"/>
              <a:t>2</a:t>
            </a:r>
            <a:endParaRPr lang="en-GB" sz="2000" dirty="0" smtClean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000692" y="4292660"/>
            <a:ext cx="762000" cy="896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708904" y="4027486"/>
                <a:ext cx="3585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 smtClean="0">
                    <a:solidFill>
                      <a:schemeClr val="tx1"/>
                    </a:solidFill>
                  </a:rPr>
                  <a:t>​ </a:t>
                </a:r>
                <a:endParaRPr lang="en-GB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904" y="4027486"/>
                <a:ext cx="358588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9231" r="-13793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029460" y="3562314"/>
            <a:ext cx="54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/>
              <a:t>b</a:t>
            </a:r>
            <a:r>
              <a:rPr lang="en-GB" sz="1400" baseline="-25000" dirty="0" smtClean="0"/>
              <a:t>11</a:t>
            </a:r>
            <a:endParaRPr lang="en-GB" sz="14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3022468" y="4708714"/>
            <a:ext cx="54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 smtClean="0"/>
              <a:t>b</a:t>
            </a:r>
            <a:r>
              <a:rPr lang="en-GB" sz="1400" baseline="-25000" dirty="0" smtClean="0"/>
              <a:t>12</a:t>
            </a:r>
            <a:endParaRPr lang="en-GB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4674987" y="4147735"/>
            <a:ext cx="545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400" dirty="0" smtClean="0"/>
              <a:t>b</a:t>
            </a:r>
            <a:r>
              <a:rPr lang="en-GB" sz="1400" baseline="-25000" dirty="0" smtClean="0"/>
              <a:t>21</a:t>
            </a:r>
            <a:endParaRPr lang="en-GB" sz="14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4634637" y="3752065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/>
              <a:t>o</a:t>
            </a:r>
            <a:r>
              <a:rPr lang="en-GB" sz="2000" baseline="-25000" dirty="0" smtClean="0"/>
              <a:t>21</a:t>
            </a:r>
            <a:endParaRPr lang="en-GB" sz="20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3415694" y="3267329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o</a:t>
            </a:r>
            <a:r>
              <a:rPr lang="en-GB" sz="2000" baseline="-25000" dirty="0"/>
              <a:t>1</a:t>
            </a:r>
            <a:r>
              <a:rPr lang="en-GB" sz="2000" baseline="-25000" dirty="0" smtClean="0"/>
              <a:t>1</a:t>
            </a:r>
            <a:endParaRPr lang="en-GB" sz="20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3438817" y="4796669"/>
            <a:ext cx="626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2000" dirty="0" smtClean="0"/>
              <a:t>o</a:t>
            </a:r>
            <a:r>
              <a:rPr lang="en-GB" sz="2000" baseline="-25000" dirty="0" smtClean="0"/>
              <a:t>1</a:t>
            </a:r>
            <a:r>
              <a:rPr lang="en-GB" sz="2000" baseline="-25000" dirty="0"/>
              <a:t>2</a:t>
            </a:r>
            <a:endParaRPr lang="en-GB" sz="2000" dirty="0" smtClean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524358" y="5502083"/>
            <a:ext cx="4455458" cy="171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077170" y="5802149"/>
                <a:ext cx="468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​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 = o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11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w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21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 + o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12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w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22  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+ b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21</a:t>
                </a:r>
                <a:endParaRPr lang="en-GB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70" y="5802149"/>
                <a:ext cx="4683233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10000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912" y="1215033"/>
            <a:ext cx="3353268" cy="92405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912" y="2448067"/>
            <a:ext cx="3143689" cy="101931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21473" y="3839958"/>
            <a:ext cx="3082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Where</a:t>
            </a:r>
          </a:p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m</a:t>
            </a:r>
            <a:r>
              <a:rPr lang="en-GB" dirty="0" smtClean="0">
                <a:solidFill>
                  <a:schemeClr val="bg1"/>
                </a:solidFill>
              </a:rPr>
              <a:t> = 64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Learning Rate(alpha) : 0.1</a:t>
            </a:r>
          </a:p>
        </p:txBody>
      </p:sp>
    </p:spTree>
    <p:extLst>
      <p:ext uri="{BB962C8B-B14F-4D97-AF65-F5344CB8AC3E}">
        <p14:creationId xmlns:p14="http://schemas.microsoft.com/office/powerpoint/2010/main" val="74127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55378" y="392595"/>
            <a:ext cx="247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10. Gradient Descent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468" y="1499194"/>
            <a:ext cx="2762636" cy="10860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390" y="970483"/>
            <a:ext cx="2286319" cy="9907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72" y="1037167"/>
            <a:ext cx="3353268" cy="92405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93" y="2207447"/>
            <a:ext cx="3143689" cy="1019317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4274240" y="1561232"/>
            <a:ext cx="882228" cy="213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3" idx="3"/>
          </p:cNvCxnSpPr>
          <p:nvPr/>
        </p:nvCxnSpPr>
        <p:spPr>
          <a:xfrm flipV="1">
            <a:off x="4092182" y="2316292"/>
            <a:ext cx="1064286" cy="4008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4837" y="2316292"/>
            <a:ext cx="2143424" cy="933580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endCxn id="5" idx="1"/>
          </p:cNvCxnSpPr>
          <p:nvPr/>
        </p:nvCxnSpPr>
        <p:spPr>
          <a:xfrm>
            <a:off x="7919104" y="2329766"/>
            <a:ext cx="1135733" cy="4533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919104" y="1387157"/>
            <a:ext cx="1064286" cy="4008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972" y="3805068"/>
            <a:ext cx="2114845" cy="8478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4357" y="3805068"/>
            <a:ext cx="1695687" cy="9526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972" y="5048305"/>
            <a:ext cx="2981741" cy="84784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0972" y="3364986"/>
            <a:ext cx="468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For w</a:t>
            </a:r>
            <a:r>
              <a:rPr lang="en-GB" baseline="-25000" dirty="0" smtClean="0">
                <a:solidFill>
                  <a:schemeClr val="bg1"/>
                </a:solidFill>
              </a:rPr>
              <a:t>21</a:t>
            </a:r>
            <a:r>
              <a:rPr lang="en-GB" dirty="0" smtClean="0">
                <a:solidFill>
                  <a:schemeClr val="bg1"/>
                </a:solidFill>
              </a:rPr>
              <a:t> :-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4205" y="3364986"/>
            <a:ext cx="468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For b</a:t>
            </a:r>
            <a:r>
              <a:rPr lang="en-GB" baseline="-25000" dirty="0" smtClean="0">
                <a:solidFill>
                  <a:schemeClr val="bg1"/>
                </a:solidFill>
              </a:rPr>
              <a:t>21</a:t>
            </a:r>
            <a:r>
              <a:rPr lang="en-GB" dirty="0" smtClean="0">
                <a:solidFill>
                  <a:schemeClr val="bg1"/>
                </a:solidFill>
              </a:rPr>
              <a:t> :-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752" y="3791667"/>
            <a:ext cx="1333686" cy="85737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594" y="3761194"/>
            <a:ext cx="2114845" cy="84784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11"/>
          <a:srcRect l="4118" t="9627" r="3404"/>
          <a:stretch/>
        </p:blipFill>
        <p:spPr>
          <a:xfrm>
            <a:off x="6475594" y="4974959"/>
            <a:ext cx="4078942" cy="921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374844" y="6022015"/>
                <a:ext cx="47665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pt-BR" sz="2000" i="1" dirty="0" smtClean="0">
                    <a:solidFill>
                      <a:schemeClr val="bg1"/>
                    </a:solidFill>
                  </a:rPr>
                  <a:t>L = </a:t>
                </a:r>
                <a:r>
                  <a:rPr lang="pt-BR" sz="2000" dirty="0" smtClean="0">
                    <a:solidFill>
                      <a:schemeClr val="bg1"/>
                    </a:solidFill>
                  </a:rPr>
                  <a:t>​</a:t>
                </a:r>
                <a:r>
                  <a:rPr lang="pt-BR" sz="2000" dirty="0">
                    <a:solidFill>
                      <a:schemeClr val="bg1"/>
                    </a:solidFill>
                  </a:rPr>
                  <a:t> 1/n * </a:t>
                </a:r>
                <a:r>
                  <a:rPr lang="en-IN" sz="2000" dirty="0">
                    <a:solidFill>
                      <a:schemeClr val="bg1"/>
                    </a:solidFill>
                  </a:rPr>
                  <a:t>∑</a:t>
                </a:r>
                <a:r>
                  <a:rPr lang="pt-BR" sz="2000" dirty="0">
                    <a:solidFill>
                      <a:schemeClr val="bg1"/>
                    </a:solidFill>
                  </a:rPr>
                  <a:t>​(</a:t>
                </a:r>
                <a:r>
                  <a:rPr lang="pt-BR" sz="2000" i="1" dirty="0">
                    <a:solidFill>
                      <a:schemeClr val="bg1"/>
                    </a:solidFill>
                  </a:rPr>
                  <a:t>y</a:t>
                </a:r>
                <a:r>
                  <a:rPr lang="pt-BR" sz="2000" i="1" baseline="-25000" dirty="0">
                    <a:solidFill>
                      <a:schemeClr val="bg1"/>
                    </a:solidFill>
                  </a:rPr>
                  <a:t>i</a:t>
                </a:r>
                <a:r>
                  <a:rPr lang="pt-BR" sz="2000" dirty="0">
                    <a:solidFill>
                      <a:schemeClr val="bg1"/>
                    </a:solidFill>
                  </a:rPr>
                  <a:t>​−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​)</a:t>
                </a:r>
                <a:r>
                  <a:rPr lang="pt-BR" sz="2000" baseline="30000" dirty="0">
                    <a:solidFill>
                      <a:schemeClr val="bg1"/>
                    </a:solidFill>
                  </a:rPr>
                  <a:t>2</a:t>
                </a:r>
                <a:r>
                  <a:rPr lang="pt-BR" sz="2000" dirty="0">
                    <a:solidFill>
                      <a:schemeClr val="bg1"/>
                    </a:solidFill>
                  </a:rPr>
                  <a:t> </a:t>
                </a:r>
                <a:endParaRPr lang="en-GB" sz="2000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844" y="6022015"/>
                <a:ext cx="4766587" cy="400110"/>
              </a:xfrm>
              <a:prstGeom prst="rect">
                <a:avLst/>
              </a:prstGeom>
              <a:blipFill rotWithShape="0">
                <a:blip r:embed="rId12"/>
                <a:stretch>
                  <a:fillRect l="-1407" t="-9231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680326" y="6064597"/>
                <a:ext cx="4683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​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 = o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11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w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21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 + o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12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w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22  </a:t>
                </a:r>
                <a:r>
                  <a:rPr lang="en-IN" dirty="0" smtClean="0">
                    <a:solidFill>
                      <a:schemeClr val="bg1"/>
                    </a:solidFill>
                  </a:rPr>
                  <a:t>+ b</a:t>
                </a:r>
                <a:r>
                  <a:rPr lang="en-IN" baseline="-25000" dirty="0" smtClean="0">
                    <a:solidFill>
                      <a:schemeClr val="bg1"/>
                    </a:solidFill>
                  </a:rPr>
                  <a:t>21</a:t>
                </a:r>
                <a:endParaRPr lang="en-GB" dirty="0" smtClean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26" y="6064597"/>
                <a:ext cx="4683233" cy="369332"/>
              </a:xfrm>
              <a:prstGeom prst="rect">
                <a:avLst/>
              </a:prstGeom>
              <a:blipFill rotWithShape="0">
                <a:blip r:embed="rId13"/>
                <a:stretch>
                  <a:fillRect t="-10000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2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92589" y="4437530"/>
            <a:ext cx="6302188" cy="1407459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904440" y="625572"/>
            <a:ext cx="324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11. Target Network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7911" t="18887" r="18366" b="30218"/>
          <a:stretch/>
        </p:blipFill>
        <p:spPr>
          <a:xfrm>
            <a:off x="7354326" y="1434352"/>
            <a:ext cx="4272898" cy="1586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70654" y="4541094"/>
            <a:ext cx="5873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if </a:t>
            </a:r>
            <a:r>
              <a:rPr lang="en-GB" dirty="0" err="1">
                <a:solidFill>
                  <a:schemeClr val="bg1"/>
                </a:solidFill>
              </a:rPr>
              <a:t>current_step</a:t>
            </a:r>
            <a:r>
              <a:rPr lang="en-GB" dirty="0">
                <a:solidFill>
                  <a:schemeClr val="bg1"/>
                </a:solidFill>
              </a:rPr>
              <a:t> % N == 0:</a:t>
            </a:r>
          </a:p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    </a:t>
            </a:r>
            <a:r>
              <a:rPr lang="en-GB" dirty="0" err="1">
                <a:solidFill>
                  <a:schemeClr val="bg1"/>
                </a:solidFill>
              </a:rPr>
              <a:t>target_network.weights</a:t>
            </a:r>
            <a:r>
              <a:rPr lang="en-GB" dirty="0">
                <a:solidFill>
                  <a:schemeClr val="bg1"/>
                </a:solidFill>
              </a:rPr>
              <a:t> = copy(</a:t>
            </a:r>
            <a:r>
              <a:rPr lang="en-GB" dirty="0" err="1">
                <a:solidFill>
                  <a:schemeClr val="bg1"/>
                </a:solidFill>
              </a:rPr>
              <a:t>prediction_network.weights</a:t>
            </a:r>
            <a:r>
              <a:rPr lang="en-GB" dirty="0">
                <a:solidFill>
                  <a:schemeClr val="bg1"/>
                </a:solidFill>
              </a:rPr>
              <a:t>)</a:t>
            </a:r>
          </a:p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else:</a:t>
            </a:r>
          </a:p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    do nothing, target network stays frozen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2413" y="980889"/>
            <a:ext cx="7253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Initially,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W11_predicted_network </a:t>
            </a:r>
            <a:r>
              <a:rPr lang="en-GB" dirty="0">
                <a:solidFill>
                  <a:schemeClr val="bg1"/>
                </a:solidFill>
              </a:rPr>
              <a:t>= </a:t>
            </a:r>
            <a:r>
              <a:rPr lang="en-GB" dirty="0" smtClean="0">
                <a:solidFill>
                  <a:schemeClr val="bg1"/>
                </a:solidFill>
              </a:rPr>
              <a:t>W11_target_network</a:t>
            </a:r>
            <a:br>
              <a:rPr lang="en-GB" dirty="0" smtClean="0">
                <a:solidFill>
                  <a:schemeClr val="bg1"/>
                </a:solidFill>
              </a:rPr>
            </a:br>
            <a:r>
              <a:rPr lang="en-GB" dirty="0" smtClean="0">
                <a:solidFill>
                  <a:schemeClr val="bg1"/>
                </a:solidFill>
              </a:rPr>
              <a:t>… all weights are same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b="1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b="1" dirty="0" smtClean="0">
                <a:solidFill>
                  <a:schemeClr val="bg1"/>
                </a:solidFill>
              </a:rPr>
              <a:t>Problem</a:t>
            </a:r>
            <a:r>
              <a:rPr lang="en-GB" b="1" dirty="0">
                <a:solidFill>
                  <a:schemeClr val="bg1"/>
                </a:solidFill>
              </a:rPr>
              <a:t>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the </a:t>
            </a:r>
            <a:r>
              <a:rPr lang="en-GB" dirty="0">
                <a:solidFill>
                  <a:schemeClr val="bg1"/>
                </a:solidFill>
              </a:rPr>
              <a:t>target for Q-values is derived from the </a:t>
            </a:r>
            <a:r>
              <a:rPr lang="en-GB" dirty="0" smtClean="0">
                <a:solidFill>
                  <a:schemeClr val="bg1"/>
                </a:solidFill>
              </a:rPr>
              <a:t>Predicted-network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7" y="2549600"/>
            <a:ext cx="4848902" cy="4858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171" y="3126826"/>
            <a:ext cx="53163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If we use the same network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Compute the </a:t>
            </a:r>
            <a:r>
              <a:rPr lang="en-GB" b="1" dirty="0">
                <a:solidFill>
                  <a:schemeClr val="bg1"/>
                </a:solidFill>
              </a:rPr>
              <a:t>current Q-values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Predict the </a:t>
            </a:r>
            <a:r>
              <a:rPr lang="en-GB" b="1" dirty="0">
                <a:solidFill>
                  <a:schemeClr val="bg1"/>
                </a:solidFill>
              </a:rPr>
              <a:t>next-state Q-values (targets)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The network updates itself using its own rapidly changing predictions, which can lead </a:t>
            </a:r>
            <a:r>
              <a:rPr lang="en-GB" dirty="0" smtClean="0">
                <a:solidFill>
                  <a:schemeClr val="bg1"/>
                </a:solidFill>
              </a:rPr>
              <a:t>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solidFill>
                  <a:schemeClr val="bg1"/>
                </a:solidFill>
              </a:rPr>
              <a:t>Oscillations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- Using a single Q-network for both action selection and target estimation can lead to overestimation of </a:t>
            </a:r>
            <a:r>
              <a:rPr lang="en-GB" dirty="0" smtClean="0">
                <a:solidFill>
                  <a:schemeClr val="bg1"/>
                </a:solidFill>
              </a:rPr>
              <a:t>Q-values.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solidFill>
                  <a:schemeClr val="bg1"/>
                </a:solidFill>
              </a:rPr>
              <a:t>Divergence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in Q-value estimation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solidFill>
                  <a:schemeClr val="bg1"/>
                </a:solidFill>
              </a:rPr>
              <a:t>Solution</a:t>
            </a:r>
            <a:r>
              <a:rPr lang="en-GB" dirty="0" smtClean="0">
                <a:solidFill>
                  <a:schemeClr val="bg1"/>
                </a:solidFill>
              </a:rPr>
              <a:t> : Copy Prediction Network weights to target network every N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07211" y="5948553"/>
            <a:ext cx="14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N = 300</a:t>
            </a:r>
          </a:p>
        </p:txBody>
      </p:sp>
    </p:spTree>
    <p:extLst>
      <p:ext uri="{BB962C8B-B14F-4D97-AF65-F5344CB8AC3E}">
        <p14:creationId xmlns:p14="http://schemas.microsoft.com/office/powerpoint/2010/main" val="13787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74" y="1007272"/>
            <a:ext cx="9515355" cy="55088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746" y="392490"/>
            <a:ext cx="324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sz="2000" dirty="0" smtClean="0">
                <a:solidFill>
                  <a:schemeClr val="bg1"/>
                </a:solidFill>
              </a:rPr>
              <a:t>The Algorithm</a:t>
            </a:r>
            <a:endParaRPr lang="en-GB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451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2700</TotalTime>
  <Words>1117</Words>
  <Application>Microsoft Office PowerPoint</Application>
  <PresentationFormat>Widescreen</PresentationFormat>
  <Paragraphs>233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148</cp:revision>
  <dcterms:created xsi:type="dcterms:W3CDTF">2026-03-21T01:51:42Z</dcterms:created>
  <dcterms:modified xsi:type="dcterms:W3CDTF">2026-04-28T10:19:15Z</dcterms:modified>
</cp:coreProperties>
</file>