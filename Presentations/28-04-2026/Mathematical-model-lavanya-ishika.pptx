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9" r:id="rId10"/>
    <p:sldId id="265" r:id="rId11"/>
    <p:sldId id="268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16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97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3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4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0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30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5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4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9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94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4E2D8-0DE6-4800-86FA-8A9D0764A47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A4BC0-F9EC-4E62-91F0-18F0F2AE8D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8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527C40-BE9A-BA55-C065-3D7F8F380499}"/>
              </a:ext>
            </a:extLst>
          </p:cNvPr>
          <p:cNvSpPr txBox="1"/>
          <p:nvPr/>
        </p:nvSpPr>
        <p:spPr>
          <a:xfrm>
            <a:off x="226142" y="294967"/>
            <a:ext cx="1179871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The Mathematical Models</a:t>
            </a:r>
          </a:p>
          <a:p>
            <a:pPr algn="ctr"/>
            <a:endParaRPr lang="en-IN" sz="2200" dirty="0"/>
          </a:p>
          <a:p>
            <a:r>
              <a:rPr lang="en-US" b="1" dirty="0"/>
              <a:t>Model 1 — Dynamic TTL Adjustment (Shrink or Extend Expiry</a:t>
            </a:r>
          </a:p>
          <a:p>
            <a:endParaRPr lang="en-US" b="1" dirty="0"/>
          </a:p>
          <a:p>
            <a:r>
              <a:rPr lang="en-US" dirty="0"/>
              <a:t>Instead of a fixed aging timer (e.g., always 300s), compute TTL </a:t>
            </a:r>
            <a:r>
              <a:rPr lang="en-US" b="1" dirty="0"/>
              <a:t>per entry</a:t>
            </a:r>
            <a:r>
              <a:rPr lang="en-US" dirty="0"/>
              <a:t> using a formula:</a:t>
            </a:r>
          </a:p>
          <a:p>
            <a:endParaRPr lang="en-US" dirty="0"/>
          </a:p>
          <a:p>
            <a:pPr algn="ctr"/>
            <a:r>
              <a:rPr lang="en-US" dirty="0"/>
              <a:t>TTL(mac) = </a:t>
            </a:r>
            <a:r>
              <a:rPr lang="en-US" dirty="0" err="1"/>
              <a:t>TTL_base</a:t>
            </a:r>
            <a:r>
              <a:rPr lang="en-US" dirty="0"/>
              <a:t> × α × </a:t>
            </a:r>
            <a:r>
              <a:rPr lang="en-US" dirty="0" err="1"/>
              <a:t>F_activity</a:t>
            </a:r>
            <a:r>
              <a:rPr lang="en-US" dirty="0"/>
              <a:t> × </a:t>
            </a:r>
            <a:r>
              <a:rPr lang="en-US" dirty="0" err="1"/>
              <a:t>F_stability</a:t>
            </a:r>
            <a:r>
              <a:rPr lang="en-US" dirty="0"/>
              <a:t> × </a:t>
            </a:r>
            <a:r>
              <a:rPr lang="en-US" dirty="0" err="1"/>
              <a:t>F_pressure</a:t>
            </a:r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2B1D21A-4C65-6976-44E1-44C57D37D12D}"/>
              </a:ext>
            </a:extLst>
          </p:cNvPr>
          <p:cNvSpPr/>
          <p:nvPr/>
        </p:nvSpPr>
        <p:spPr>
          <a:xfrm>
            <a:off x="3146322" y="2025445"/>
            <a:ext cx="6223819" cy="51127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E1A81-9C72-6810-D1CA-998A2D809220}"/>
              </a:ext>
            </a:extLst>
          </p:cNvPr>
          <p:cNvSpPr txBox="1"/>
          <p:nvPr/>
        </p:nvSpPr>
        <p:spPr>
          <a:xfrm>
            <a:off x="226142" y="3025719"/>
            <a:ext cx="11720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TTL_base</a:t>
            </a:r>
            <a:r>
              <a:rPr lang="en-IN" dirty="0"/>
              <a:t> = baseline timer (e.g., 300 seconds) </a:t>
            </a:r>
          </a:p>
          <a:p>
            <a:endParaRPr lang="en-IN" dirty="0"/>
          </a:p>
          <a:p>
            <a:r>
              <a:rPr lang="en-IN" dirty="0" err="1"/>
              <a:t>F_activity</a:t>
            </a:r>
            <a:r>
              <a:rPr lang="en-IN" dirty="0"/>
              <a:t> = activity factor = 1 + log(1 + </a:t>
            </a:r>
            <a:r>
              <a:rPr lang="en-IN" dirty="0" err="1"/>
              <a:t>tx_count</a:t>
            </a:r>
            <a:r>
              <a:rPr lang="en-IN" dirty="0"/>
              <a:t>)  higher </a:t>
            </a:r>
            <a:r>
              <a:rPr lang="en-IN" dirty="0" err="1"/>
              <a:t>tx_count</a:t>
            </a:r>
            <a:r>
              <a:rPr lang="en-IN" dirty="0"/>
              <a:t> → entry stays longer </a:t>
            </a:r>
          </a:p>
          <a:p>
            <a:endParaRPr lang="en-IN" dirty="0"/>
          </a:p>
          <a:p>
            <a:r>
              <a:rPr lang="en-IN" dirty="0" err="1"/>
              <a:t>F_stability</a:t>
            </a:r>
            <a:r>
              <a:rPr lang="en-IN" dirty="0"/>
              <a:t> = stability factor = 1 / (1 + </a:t>
            </a:r>
            <a:r>
              <a:rPr lang="en-IN" dirty="0" err="1"/>
              <a:t>flap_count</a:t>
            </a:r>
            <a:r>
              <a:rPr lang="en-IN" dirty="0"/>
              <a:t>) flapping MAC → TTL shrinks fast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 </a:t>
            </a:r>
            <a:r>
              <a:rPr lang="en-IN" dirty="0" err="1"/>
              <a:t>F_pressure</a:t>
            </a:r>
            <a:r>
              <a:rPr lang="en-IN" dirty="0"/>
              <a:t> = table pressure factor = 1 - (occupied / capacity) full table → TTL shrinks to free space </a:t>
            </a:r>
            <a:r>
              <a:rPr lang="el-GR" dirty="0"/>
              <a:t>α = </a:t>
            </a:r>
            <a:r>
              <a:rPr lang="en-IN" dirty="0"/>
              <a:t>normalizing constant (e.g., 0.5)</a:t>
            </a:r>
          </a:p>
        </p:txBody>
      </p:sp>
    </p:spTree>
    <p:extLst>
      <p:ext uri="{BB962C8B-B14F-4D97-AF65-F5344CB8AC3E}">
        <p14:creationId xmlns:p14="http://schemas.microsoft.com/office/powerpoint/2010/main" val="28965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FDB99A-5E3E-A3C7-2EC2-ABEFEC7F63F3}"/>
                  </a:ext>
                </a:extLst>
              </p:cNvPr>
              <p:cNvSpPr txBox="1"/>
              <p:nvPr/>
            </p:nvSpPr>
            <p:spPr>
              <a:xfrm>
                <a:off x="150472" y="173246"/>
                <a:ext cx="11725154" cy="392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dirty="0"/>
                  <a:t>Adaptive Activity Control States</a:t>
                </a:r>
              </a:p>
              <a:p>
                <a:pPr algn="ctr"/>
                <a:endParaRPr lang="en-IN" dirty="0"/>
              </a:p>
              <a:p>
                <a:r>
                  <a:rPr lang="en-IN" sz="2000" dirty="0"/>
                  <a:t>The activity level of each MAC entry is determined using the transmission count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000" dirty="0"/>
                  <a:t>. </a:t>
                </a:r>
                <a:r>
                  <a:rPr lang="en-IN" sz="2000" dirty="0"/>
                  <a:t>Based on this, an activity factor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𝑎𝑐𝑡𝑖𝑣𝑖𝑡𝑦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/>
                  <a:t>is assigned, which influences the lifetime of the entry.</a:t>
                </a:r>
              </a:p>
              <a:p>
                <a:r>
                  <a:rPr lang="en-IN" sz="2000" dirty="0"/>
                  <a:t>Higher transmission counts indicate frequent usage, resulting in longer retention in the MAC table.</a:t>
                </a:r>
              </a:p>
              <a:p>
                <a:endParaRPr lang="en-IN" sz="2000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	</a:t>
                </a:r>
                <a:r>
                  <a:rPr lang="en-IN" sz="2000" dirty="0"/>
                  <a:t>   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Active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i="1"/>
                                <m:t> </m:t>
                              </m:r>
                              <m:sSub>
                                <m:sSubPr>
                                  <m:ctrlPr>
                                    <a:rPr lang="en-I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200" b="0" i="0" smtClean="0">
                                      <a:latin typeface="Cambria Math" panose="02040503050406030204" pitchFamily="18" charset="0"/>
                                    </a:rPr>
                                    <m:t>tx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200" b="0" i="0" smtClean="0">
                                      <a:latin typeface="Cambria Math" panose="02040503050406030204" pitchFamily="18" charset="0"/>
                                    </a:rPr>
                                    <m:t>coun</m:t>
                                  </m:r>
                                  <m:r>
                                    <a:rPr lang="en-IN" sz="2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Idle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i="1"/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200" b="0" i="0" smtClean="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  <m:r>
                                <a:rPr lang="en-IN" sz="2200" b="0" i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IN" sz="2200" b="0" i="0" smtClean="0">
                                  <a:latin typeface="Cambria Math" panose="02040503050406030204" pitchFamily="18" charset="0"/>
                                </a:rPr>
                                <m:t>count</m:t>
                              </m:r>
                              <m:r>
                                <a:rPr lang="el-GR" sz="22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sz="2200" b="0" i="1" smtClean="0"/>
                                <m:t>Inactive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sz="2200" i="1"/>
                                <m:t> </m:t>
                              </m:r>
                              <m:sSub>
                                <m:sSubPr>
                                  <m:ctrlPr>
                                    <a:rPr lang="en-I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200" b="0" i="0" smtClean="0">
                                      <a:latin typeface="Cambria Math" panose="02040503050406030204" pitchFamily="18" charset="0"/>
                                    </a:rPr>
                                    <m:t>tx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200" b="0" i="0" smtClean="0">
                                      <a:latin typeface="Cambria Math" panose="02040503050406030204" pitchFamily="18" charset="0"/>
                                    </a:rPr>
                                    <m:t>count</m:t>
                                  </m:r>
                                </m:sub>
                              </m:sSub>
                              <m:r>
                                <a:rPr lang="en-IN" sz="2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2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FDB99A-5E3E-A3C7-2EC2-ABEFEC7F6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72" y="173246"/>
                <a:ext cx="11725154" cy="3927935"/>
              </a:xfrm>
              <a:prstGeom prst="rect">
                <a:avLst/>
              </a:prstGeom>
              <a:blipFill>
                <a:blip r:embed="rId2"/>
                <a:stretch>
                  <a:fillRect l="-572" t="-1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EF2060-0D1C-5334-293E-B5BAEDC1568B}"/>
              </a:ext>
            </a:extLst>
          </p:cNvPr>
          <p:cNvSpPr txBox="1"/>
          <p:nvPr/>
        </p:nvSpPr>
        <p:spPr>
          <a:xfrm>
            <a:off x="4670385" y="4516103"/>
            <a:ext cx="2685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IDLE</a:t>
            </a:r>
          </a:p>
          <a:p>
            <a:endParaRPr lang="en-US" b="1" u="sng" dirty="0"/>
          </a:p>
          <a:p>
            <a:r>
              <a:rPr lang="en-US" dirty="0" err="1"/>
              <a:t>tx_count</a:t>
            </a:r>
            <a:r>
              <a:rPr lang="en-US" dirty="0"/>
              <a:t> = 1 – 15</a:t>
            </a:r>
          </a:p>
          <a:p>
            <a:r>
              <a:rPr lang="en-US" dirty="0" err="1"/>
              <a:t>F_activity</a:t>
            </a:r>
            <a:r>
              <a:rPr lang="en-US" dirty="0"/>
              <a:t> = 1.001 – 2.773</a:t>
            </a:r>
          </a:p>
          <a:p>
            <a:r>
              <a:rPr lang="en-US" dirty="0"/>
              <a:t>Seen but unconfirmed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A1A07-64FF-4779-9542-CE0EB7CE960D}"/>
              </a:ext>
            </a:extLst>
          </p:cNvPr>
          <p:cNvSpPr txBox="1"/>
          <p:nvPr/>
        </p:nvSpPr>
        <p:spPr>
          <a:xfrm>
            <a:off x="9088054" y="4520902"/>
            <a:ext cx="2685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ACTIVE</a:t>
            </a:r>
          </a:p>
          <a:p>
            <a:endParaRPr lang="en-US" b="1" u="sng" dirty="0"/>
          </a:p>
          <a:p>
            <a:r>
              <a:rPr lang="en-US" dirty="0" err="1"/>
              <a:t>tx_count</a:t>
            </a:r>
            <a:r>
              <a:rPr lang="en-US" dirty="0"/>
              <a:t> ≥ 16</a:t>
            </a:r>
          </a:p>
          <a:p>
            <a:r>
              <a:rPr lang="en-US" dirty="0" err="1"/>
              <a:t>F_activity</a:t>
            </a:r>
            <a:r>
              <a:rPr lang="en-US" dirty="0"/>
              <a:t> ≥ 2.833</a:t>
            </a:r>
          </a:p>
          <a:p>
            <a:r>
              <a:rPr lang="en-US" dirty="0"/>
              <a:t>Confirmed, earns full TTL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71E0D-A13D-72D3-1976-B1999237246B}"/>
              </a:ext>
            </a:extLst>
          </p:cNvPr>
          <p:cNvSpPr txBox="1"/>
          <p:nvPr/>
        </p:nvSpPr>
        <p:spPr>
          <a:xfrm>
            <a:off x="716665" y="4601925"/>
            <a:ext cx="2685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INACTIVE</a:t>
            </a:r>
          </a:p>
          <a:p>
            <a:endParaRPr lang="en-US" b="1" u="sng" dirty="0"/>
          </a:p>
          <a:p>
            <a:r>
              <a:rPr lang="en-US" dirty="0" err="1"/>
              <a:t>tx_count</a:t>
            </a:r>
            <a:r>
              <a:rPr lang="en-US" dirty="0"/>
              <a:t> = 0</a:t>
            </a:r>
          </a:p>
          <a:p>
            <a:r>
              <a:rPr lang="en-US" dirty="0" err="1"/>
              <a:t>F_activity</a:t>
            </a:r>
            <a:r>
              <a:rPr lang="en-US" dirty="0"/>
              <a:t> = 1.000</a:t>
            </a:r>
          </a:p>
          <a:p>
            <a:r>
              <a:rPr lang="en-US" dirty="0"/>
              <a:t>No frames ever seen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75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11C21-84DC-0AFE-E31C-4BF6C042CE81}"/>
              </a:ext>
            </a:extLst>
          </p:cNvPr>
          <p:cNvSpPr txBox="1"/>
          <p:nvPr/>
        </p:nvSpPr>
        <p:spPr>
          <a:xfrm>
            <a:off x="370390" y="439838"/>
            <a:ext cx="11451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MAC Entry Stability Conditions</a:t>
            </a:r>
            <a:endParaRPr lang="en-IN" sz="2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92695-5A80-777C-FEA7-B9698DDC87D3}"/>
              </a:ext>
            </a:extLst>
          </p:cNvPr>
          <p:cNvSpPr txBox="1"/>
          <p:nvPr/>
        </p:nvSpPr>
        <p:spPr>
          <a:xfrm>
            <a:off x="370390" y="1721614"/>
            <a:ext cx="26853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STABLE</a:t>
            </a:r>
          </a:p>
          <a:p>
            <a:r>
              <a:rPr lang="en-US" dirty="0" err="1"/>
              <a:t>flap_count</a:t>
            </a:r>
            <a:r>
              <a:rPr lang="en-US" dirty="0"/>
              <a:t> = 0</a:t>
            </a:r>
          </a:p>
          <a:p>
            <a:r>
              <a:rPr lang="en-US" dirty="0" err="1"/>
              <a:t>F_stability</a:t>
            </a:r>
            <a:r>
              <a:rPr lang="en-US" dirty="0"/>
              <a:t> = 1.000</a:t>
            </a:r>
          </a:p>
          <a:p>
            <a:r>
              <a:rPr lang="en-US" dirty="0"/>
              <a:t>No penalty — full TTL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63048-0391-5EC7-8B60-13D20E6A541A}"/>
              </a:ext>
            </a:extLst>
          </p:cNvPr>
          <p:cNvSpPr txBox="1"/>
          <p:nvPr/>
        </p:nvSpPr>
        <p:spPr>
          <a:xfrm>
            <a:off x="4540651" y="5001455"/>
            <a:ext cx="2685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NEARLY FULL</a:t>
            </a:r>
          </a:p>
          <a:p>
            <a:r>
              <a:rPr lang="en-US" dirty="0"/>
              <a:t>65% ≤ occ &lt; 85%</a:t>
            </a:r>
          </a:p>
          <a:p>
            <a:r>
              <a:rPr lang="en-US" dirty="0"/>
              <a:t>0.65 ≤ occupied/cap &lt; 0.85</a:t>
            </a:r>
          </a:p>
          <a:p>
            <a:r>
              <a:rPr lang="en-US" dirty="0"/>
              <a:t>0.150 &lt; </a:t>
            </a:r>
            <a:r>
              <a:rPr lang="en-US" dirty="0" err="1"/>
              <a:t>F_pressure</a:t>
            </a:r>
            <a:r>
              <a:rPr lang="en-US" dirty="0"/>
              <a:t> ≤ 0.350</a:t>
            </a:r>
          </a:p>
          <a:p>
            <a:r>
              <a:rPr lang="en-US" dirty="0"/>
              <a:t>TTL compression begins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2CB53-6F20-41FC-399D-7C7B441719EB}"/>
              </a:ext>
            </a:extLst>
          </p:cNvPr>
          <p:cNvSpPr txBox="1"/>
          <p:nvPr/>
        </p:nvSpPr>
        <p:spPr>
          <a:xfrm>
            <a:off x="8856562" y="1756338"/>
            <a:ext cx="26853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UNSTABLE</a:t>
            </a:r>
          </a:p>
          <a:p>
            <a:r>
              <a:rPr lang="en-US" dirty="0" err="1"/>
              <a:t>flap_count</a:t>
            </a:r>
            <a:r>
              <a:rPr lang="en-US" dirty="0"/>
              <a:t> ≥ 10</a:t>
            </a:r>
          </a:p>
          <a:p>
            <a:r>
              <a:rPr lang="en-US" dirty="0" err="1"/>
              <a:t>F_stability</a:t>
            </a:r>
            <a:r>
              <a:rPr lang="en-US" dirty="0"/>
              <a:t> ≤ 0.091</a:t>
            </a:r>
          </a:p>
          <a:p>
            <a:r>
              <a:rPr lang="en-US" dirty="0"/>
              <a:t>TTL &gt;91% suppressed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A84AB7-2C5A-ECF3-B911-9B896D9B62E9}"/>
                  </a:ext>
                </a:extLst>
              </p:cNvPr>
              <p:cNvSpPr txBox="1"/>
              <p:nvPr/>
            </p:nvSpPr>
            <p:spPr>
              <a:xfrm>
                <a:off x="370390" y="979382"/>
                <a:ext cx="110258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The stability of a MAC entry is determined using the flap count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𝑓𝑙𝑎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IN" dirty="0"/>
                  <a:t>which measures how often the MAC address changes ports.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A84AB7-2C5A-ECF3-B911-9B896D9B6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90" y="979382"/>
                <a:ext cx="11025852" cy="646331"/>
              </a:xfrm>
              <a:prstGeom prst="rect">
                <a:avLst/>
              </a:prstGeom>
              <a:blipFill>
                <a:blip r:embed="rId2"/>
                <a:stretch>
                  <a:fillRect l="-498" t="-6604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3D8E202-892B-0106-6DFD-D92FCB779205}"/>
              </a:ext>
            </a:extLst>
          </p:cNvPr>
          <p:cNvSpPr txBox="1"/>
          <p:nvPr/>
        </p:nvSpPr>
        <p:spPr>
          <a:xfrm>
            <a:off x="476491" y="5001455"/>
            <a:ext cx="26853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 FULL</a:t>
            </a:r>
          </a:p>
          <a:p>
            <a:r>
              <a:rPr lang="en-IN" dirty="0"/>
              <a:t>0% &lt; </a:t>
            </a:r>
            <a:r>
              <a:rPr lang="en-IN" dirty="0" err="1"/>
              <a:t>occ</a:t>
            </a:r>
            <a:r>
              <a:rPr lang="en-IN" dirty="0"/>
              <a:t> &lt; 65%</a:t>
            </a:r>
          </a:p>
          <a:p>
            <a:r>
              <a:rPr lang="en-US" dirty="0"/>
              <a:t>0 &lt; occupied/cap &lt; 0.65</a:t>
            </a:r>
          </a:p>
          <a:p>
            <a:r>
              <a:rPr lang="en-US" dirty="0" err="1"/>
              <a:t>F_pressure</a:t>
            </a:r>
            <a:r>
              <a:rPr lang="en-US" dirty="0"/>
              <a:t> &gt; 0.350</a:t>
            </a:r>
          </a:p>
          <a:p>
            <a:r>
              <a:rPr lang="en-US" dirty="0"/>
              <a:t>Table not full — TTL runs freely</a:t>
            </a:r>
            <a:endParaRPr lang="en-IN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D9E40-3229-6B83-3F18-89CE8EBEC3D5}"/>
              </a:ext>
            </a:extLst>
          </p:cNvPr>
          <p:cNvSpPr txBox="1"/>
          <p:nvPr/>
        </p:nvSpPr>
        <p:spPr>
          <a:xfrm>
            <a:off x="4540651" y="1756338"/>
            <a:ext cx="26853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FLAPPING</a:t>
            </a:r>
          </a:p>
          <a:p>
            <a:r>
              <a:rPr lang="en-US" dirty="0" err="1"/>
              <a:t>flap_count</a:t>
            </a:r>
            <a:r>
              <a:rPr lang="en-US" dirty="0"/>
              <a:t> = 1 – 9</a:t>
            </a:r>
          </a:p>
          <a:p>
            <a:r>
              <a:rPr lang="en-US" dirty="0" err="1"/>
              <a:t>F_stability</a:t>
            </a:r>
            <a:r>
              <a:rPr lang="en-US" dirty="0"/>
              <a:t> = 0.500 – 0.100</a:t>
            </a:r>
          </a:p>
          <a:p>
            <a:r>
              <a:rPr lang="en-US" dirty="0"/>
              <a:t>TTL cut 50% → 90%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0CBBB-E1FF-0130-D2FE-A47CF630E742}"/>
              </a:ext>
            </a:extLst>
          </p:cNvPr>
          <p:cNvSpPr txBox="1"/>
          <p:nvPr/>
        </p:nvSpPr>
        <p:spPr>
          <a:xfrm>
            <a:off x="9136283" y="5001455"/>
            <a:ext cx="26853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FULL</a:t>
            </a:r>
          </a:p>
          <a:p>
            <a:r>
              <a:rPr lang="en-IN" dirty="0"/>
              <a:t>85% ≤ </a:t>
            </a:r>
            <a:r>
              <a:rPr lang="en-IN" dirty="0" err="1"/>
              <a:t>occ</a:t>
            </a:r>
            <a:r>
              <a:rPr lang="en-IN" dirty="0"/>
              <a:t> &lt; 100%</a:t>
            </a:r>
          </a:p>
          <a:p>
            <a:r>
              <a:rPr lang="en-US" dirty="0"/>
              <a:t>0.85 ≤ occupied/cap &lt; 1.0</a:t>
            </a:r>
          </a:p>
          <a:p>
            <a:r>
              <a:rPr lang="en-US" dirty="0" err="1"/>
              <a:t>F_pressure</a:t>
            </a:r>
            <a:r>
              <a:rPr lang="en-US" dirty="0"/>
              <a:t> ≤ 0.150</a:t>
            </a:r>
          </a:p>
          <a:p>
            <a:r>
              <a:rPr lang="en-IN" dirty="0"/>
              <a:t>eviction active</a:t>
            </a:r>
          </a:p>
          <a:p>
            <a:br>
              <a:rPr lang="en-IN" dirty="0"/>
            </a:br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CC2DD1-831A-92B9-798C-5FB0BFB63D6F}"/>
                  </a:ext>
                </a:extLst>
              </p:cNvPr>
              <p:cNvSpPr txBox="1"/>
              <p:nvPr/>
            </p:nvSpPr>
            <p:spPr>
              <a:xfrm>
                <a:off x="370390" y="3471935"/>
                <a:ext cx="11451220" cy="1672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MAC Table Pressure Conditions</a:t>
                </a:r>
              </a:p>
              <a:p>
                <a:endParaRPr lang="en-IN" b="1" dirty="0"/>
              </a:p>
              <a:p>
                <a:r>
                  <a:rPr lang="en-IN" dirty="0"/>
                  <a:t>The flood pressure state is determined using the MAC table occupancy ratio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𝑜𝑐𝑐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IN" dirty="0"/>
                  <a:t>which reflects how full the table is. Based on this, the pressure factor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𝑝𝑟𝑒𝑠𝑠𝑢𝑟𝑒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dynamically controls entry expiration </a:t>
                </a:r>
                <a:r>
                  <a:rPr lang="en-IN" dirty="0" err="1"/>
                  <a:t>behavior</a:t>
                </a:r>
                <a:r>
                  <a:rPr lang="en-IN" dirty="0"/>
                  <a:t>.</a:t>
                </a:r>
              </a:p>
              <a:p>
                <a:endParaRPr lang="en-I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CC2DD1-831A-92B9-798C-5FB0BFB6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90" y="3471935"/>
                <a:ext cx="11451220" cy="1672381"/>
              </a:xfrm>
              <a:prstGeom prst="rect">
                <a:avLst/>
              </a:prstGeom>
              <a:blipFill>
                <a:blip r:embed="rId3"/>
                <a:stretch>
                  <a:fillRect l="-852" t="-29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3D1160-8C55-AE3F-7198-37BFBEFFA9C3}"/>
              </a:ext>
            </a:extLst>
          </p:cNvPr>
          <p:cNvCxnSpPr>
            <a:cxnSpLocks/>
          </p:cNvCxnSpPr>
          <p:nvPr/>
        </p:nvCxnSpPr>
        <p:spPr>
          <a:xfrm>
            <a:off x="476491" y="3237995"/>
            <a:ext cx="10727803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40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F5B18-16C8-C841-2526-C78C28B01D95}"/>
              </a:ext>
            </a:extLst>
          </p:cNvPr>
          <p:cNvSpPr txBox="1"/>
          <p:nvPr/>
        </p:nvSpPr>
        <p:spPr>
          <a:xfrm>
            <a:off x="524719" y="737388"/>
            <a:ext cx="11667281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err="1"/>
              <a:t>tx_count</a:t>
            </a:r>
            <a:r>
              <a:rPr lang="en-US" sz="1900" dirty="0"/>
              <a:t>=50, </a:t>
            </a:r>
            <a:r>
              <a:rPr lang="en-US" sz="1900" dirty="0" err="1"/>
              <a:t>flap_count</a:t>
            </a:r>
            <a:r>
              <a:rPr lang="en-US" sz="1900" dirty="0"/>
              <a:t>=0, occupancy=40%</a:t>
            </a:r>
          </a:p>
          <a:p>
            <a:endParaRPr lang="en-US" sz="1900" dirty="0"/>
          </a:p>
          <a:p>
            <a:r>
              <a:rPr lang="en-US" sz="1900" dirty="0"/>
              <a:t>TTL = 300 × 0.5 × (1+log51) × (1/1) × (1-0.4)</a:t>
            </a:r>
          </a:p>
          <a:p>
            <a:r>
              <a:rPr lang="en-US" sz="1900" dirty="0"/>
              <a:t>    = 300 × 0.5 × 4.93 × 1.0 × 0.6</a:t>
            </a:r>
          </a:p>
          <a:p>
            <a:r>
              <a:rPr lang="en-US" sz="1900" dirty="0"/>
              <a:t>    = 443 seconds  → EXTEND (active, stable, table not full)</a:t>
            </a:r>
          </a:p>
          <a:p>
            <a:endParaRPr lang="en-US" sz="1900" dirty="0"/>
          </a:p>
          <a:p>
            <a:r>
              <a:rPr lang="en-US" dirty="0"/>
              <a:t>The high TTL of </a:t>
            </a:r>
            <a:r>
              <a:rPr lang="en-US" b="1" dirty="0"/>
              <a:t>443 seconds</a:t>
            </a:r>
            <a:r>
              <a:rPr lang="en-US" dirty="0"/>
              <a:t> indicates that the MAC entry is </a:t>
            </a:r>
            <a:r>
              <a:rPr lang="en-US" b="1" dirty="0"/>
              <a:t>highly active and stable</a:t>
            </a:r>
            <a:r>
              <a:rPr lang="en-US" dirty="0"/>
              <a:t>, making it important to retain.</a:t>
            </a:r>
            <a:br>
              <a:rPr lang="en-US" dirty="0"/>
            </a:br>
            <a:r>
              <a:rPr lang="en-US" dirty="0"/>
              <a:t>With low table occupancy (40%), the system allows extended lifetime, ensuring efficient and reliable communication.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tx_count</a:t>
            </a:r>
            <a:r>
              <a:rPr lang="en-US" dirty="0"/>
              <a:t>=2, </a:t>
            </a:r>
            <a:r>
              <a:rPr lang="en-US" dirty="0" err="1"/>
              <a:t>flap_count</a:t>
            </a:r>
            <a:r>
              <a:rPr lang="en-US" dirty="0"/>
              <a:t>=4, occupancy=90%</a:t>
            </a:r>
          </a:p>
          <a:p>
            <a:endParaRPr lang="en-US" dirty="0"/>
          </a:p>
          <a:p>
            <a:r>
              <a:rPr lang="en-US" dirty="0"/>
              <a:t>TTL = 300 × 0.5 × (1+log3) × (1/5) × (1-0.9)</a:t>
            </a:r>
          </a:p>
          <a:p>
            <a:r>
              <a:rPr lang="en-US" dirty="0"/>
              <a:t>    = 300 × 0.5 × 1.48 × 0.2 × 0.1</a:t>
            </a:r>
          </a:p>
          <a:p>
            <a:r>
              <a:rPr lang="en-US" dirty="0"/>
              <a:t>    = 4.4 seconds  → SHRINK FAST (inactive, flapping, table nearly full)	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very low TTL of </a:t>
            </a:r>
            <a:r>
              <a:rPr lang="en-US" b="1" dirty="0"/>
              <a:t>4.4 seconds</a:t>
            </a:r>
            <a:r>
              <a:rPr lang="en-US" dirty="0"/>
              <a:t> shows that the MAC entry is </a:t>
            </a:r>
            <a:r>
              <a:rPr lang="en-US" b="1" dirty="0"/>
              <a:t>low-activity and unstable</a:t>
            </a:r>
            <a:r>
              <a:rPr lang="en-US" dirty="0"/>
              <a:t>, making it unreliable to retain.</a:t>
            </a:r>
            <a:br>
              <a:rPr lang="en-US" dirty="0"/>
            </a:br>
            <a:r>
              <a:rPr lang="en-US" dirty="0"/>
              <a:t>Due to </a:t>
            </a:r>
            <a:r>
              <a:rPr lang="en-US" b="1" dirty="0"/>
              <a:t>high table occupancy (90%)</a:t>
            </a:r>
            <a:r>
              <a:rPr lang="en-US" dirty="0"/>
              <a:t>, the system will aggressively reduce its lifetime to quickly free space and prevent congestion.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A509F-8B68-9CA5-A37E-8737385998AF}"/>
              </a:ext>
            </a:extLst>
          </p:cNvPr>
          <p:cNvSpPr txBox="1"/>
          <p:nvPr/>
        </p:nvSpPr>
        <p:spPr>
          <a:xfrm>
            <a:off x="524718" y="115746"/>
            <a:ext cx="11250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Examples</a:t>
            </a:r>
            <a:r>
              <a:rPr lang="en-IN" sz="2200" dirty="0"/>
              <a:t>:</a:t>
            </a:r>
          </a:p>
          <a:p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8A77523-19D6-D722-89C9-F8D49E9FB637}"/>
              </a:ext>
            </a:extLst>
          </p:cNvPr>
          <p:cNvSpPr/>
          <p:nvPr/>
        </p:nvSpPr>
        <p:spPr>
          <a:xfrm>
            <a:off x="416689" y="654752"/>
            <a:ext cx="11250012" cy="2597734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B36C8DA-D884-8D67-11CF-D68640CAA46A}"/>
              </a:ext>
            </a:extLst>
          </p:cNvPr>
          <p:cNvSpPr/>
          <p:nvPr/>
        </p:nvSpPr>
        <p:spPr>
          <a:xfrm>
            <a:off x="416688" y="3835391"/>
            <a:ext cx="11250011" cy="280847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3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696D78-4544-A79B-0E2D-D263B1F8824F}"/>
                  </a:ext>
                </a:extLst>
              </p:cNvPr>
              <p:cNvSpPr txBox="1"/>
              <p:nvPr/>
            </p:nvSpPr>
            <p:spPr>
              <a:xfrm>
                <a:off x="185195" y="324090"/>
                <a:ext cx="11690431" cy="6680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300" b="1" dirty="0"/>
                  <a:t>Model 2 — Flood Suppression Score (Avoid Flooding)</a:t>
                </a:r>
              </a:p>
              <a:p>
                <a:endParaRPr lang="en-US" sz="2000" dirty="0"/>
              </a:p>
              <a:p>
                <a:pPr algn="ctr"/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FloodScore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(mac) = w1×P_seen + w2×(1 - </a:t>
                </a:r>
                <a:r>
                  <a:rPr lang="en-US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P_table_full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+ w3×(1 - </a:t>
                </a:r>
                <a:r>
                  <a:rPr lang="en-US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P_high_traffic</a:t>
                </a:r>
                <a:r>
                  <a:rPr lang="en-US" sz="2000" dirty="0"/>
                  <a:t>)</a:t>
                </a:r>
              </a:p>
              <a:p>
                <a:endParaRPr lang="en-US" dirty="0"/>
              </a:p>
              <a:p>
                <a:r>
                  <a:rPr lang="en-US" dirty="0" err="1"/>
                  <a:t>P_seen</a:t>
                </a:r>
                <a:r>
                  <a:rPr lang="en-US" dirty="0"/>
                  <a:t>         = probability MAC was seen before (0 if new, 1 if known)</a:t>
                </a:r>
              </a:p>
              <a:p>
                <a:r>
                  <a:rPr lang="en-US" dirty="0" err="1"/>
                  <a:t>P_table_full</a:t>
                </a:r>
                <a:r>
                  <a:rPr lang="en-US" dirty="0"/>
                  <a:t>   = occupied / capacity</a:t>
                </a:r>
              </a:p>
              <a:p>
                <a:r>
                  <a:rPr lang="en-US" dirty="0" err="1"/>
                  <a:t>P_high_traffic</a:t>
                </a:r>
                <a:r>
                  <a:rPr lang="en-US" dirty="0"/>
                  <a:t> = </a:t>
                </a:r>
                <a:r>
                  <a:rPr lang="en-US" dirty="0" err="1"/>
                  <a:t>current_pps</a:t>
                </a:r>
                <a:r>
                  <a:rPr lang="en-US" dirty="0"/>
                  <a:t> / </a:t>
                </a:r>
                <a:r>
                  <a:rPr lang="en-US" dirty="0" err="1"/>
                  <a:t>max_pps</a:t>
                </a:r>
                <a:r>
                  <a:rPr lang="en-US" dirty="0"/>
                  <a:t>   (packets per second ratio)</a:t>
                </a:r>
              </a:p>
              <a:p>
                <a:r>
                  <a:rPr lang="en-US" dirty="0"/>
                  <a:t>w1, w2, w3    = weights (e.g., 0.5, 0.3, 0.2)</a:t>
                </a:r>
              </a:p>
              <a:p>
                <a:endParaRPr lang="en-US" b="1" dirty="0"/>
              </a:p>
              <a:p>
                <a:r>
                  <a:rPr lang="en-IN" sz="2200" b="1" dirty="0" err="1"/>
                  <a:t>Favorable</a:t>
                </a:r>
                <a:r>
                  <a:rPr lang="en-IN" sz="2200" b="1" dirty="0"/>
                  <a:t>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𝑭𝒍𝒐𝒐𝒅𝑺𝒄𝒐𝒓𝒆</m:t>
                        </m:r>
                        <m:r>
                          <a:rPr lang="ar-AE" sz="2200" b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sz="2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ar-AE" sz="2200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2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endParaRPr lang="en-IN" sz="2200" b="1" i="1" dirty="0"/>
              </a:p>
              <a:p>
                <a:endParaRPr lang="en-IN" sz="2200" b="1" i="1" dirty="0"/>
              </a:p>
              <a:p>
                <a:r>
                  <a:rPr lang="en-IN" sz="2000" dirty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𝑠𝑒𝑒𝑛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𝑡𝑎𝑏𝑙𝑒</m:t>
                        </m:r>
                        <m:r>
                          <m:rPr>
                            <m:lit/>
                          </m:rPr>
                          <a:rPr lang="ar-AE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𝑓𝑢𝑙𝑙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lit/>
                          </m:rPr>
                          <a:rPr lang="ar-AE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𝑡𝑟𝑎𝑓𝑓𝑖𝑐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000" dirty="0"/>
              </a:p>
              <a:p>
                <a:r>
                  <a:rPr lang="en-IN" dirty="0"/>
                  <a:t>						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𝐹𝑙𝑜𝑜𝑑𝑆𝑐𝑜𝑟𝑒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𝑠𝑒𝑒𝑛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𝑡𝑎𝑏𝑙𝑒</m:t>
                            </m:r>
                            <m:r>
                              <m:rPr>
                                <m:lit/>
                              </m:rPr>
                              <a:rPr lang="ar-AE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𝑓𝑢𝑙𝑙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m:rPr>
                                <m:lit/>
                              </m:rPr>
                              <a:rPr lang="ar-AE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𝑡𝑟𝑎𝑓𝑓𝑖𝑐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IN" dirty="0"/>
                  <a:t>						Flood allowed; low cost and minimal network impact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IN" sz="2200" b="1" dirty="0" err="1"/>
                  <a:t>Unfavorable</a:t>
                </a:r>
                <a:r>
                  <a:rPr lang="en-IN" sz="2200" b="1" dirty="0"/>
                  <a:t>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b="1" i="1">
                            <a:latin typeface="Cambria Math" panose="02040503050406030204" pitchFamily="18" charset="0"/>
                          </a:rPr>
                          <m:t>𝑭𝒍𝒐𝒐𝒅𝑺𝒄𝒐𝒓𝒆</m:t>
                        </m:r>
                        <m:r>
                          <a:rPr lang="ar-AE" sz="22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sz="2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ar-AE" sz="2200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2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endParaRPr lang="en-IN" sz="2200" b="1" dirty="0"/>
              </a:p>
              <a:p>
                <a:endParaRPr lang="ar-AE" sz="2200" dirty="0"/>
              </a:p>
              <a:p>
                <a:r>
                  <a:rPr lang="en-IN" sz="2000" b="1" dirty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𝒔𝒆𝒆𝒏</m:t>
                        </m:r>
                      </m:sub>
                    </m:sSub>
                    <m:r>
                      <a:rPr lang="ar-AE" sz="20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000" b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b="1" i="1"/>
                      <m:t>  </m:t>
                    </m:r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𝒕𝒂𝒃𝒍𝒆</m:t>
                        </m:r>
                        <m:r>
                          <m:rPr>
                            <m:lit/>
                          </m:rPr>
                          <a:rPr lang="ar-AE" sz="2000" b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𝒇𝒖𝒍𝒍</m:t>
                        </m:r>
                      </m:sub>
                    </m:sSub>
                    <m:r>
                      <a:rPr lang="ar-AE" sz="20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ar-AE" sz="2000" b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b="1" i="1"/>
                      <m:t>  </m:t>
                    </m:r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𝒉𝒊𝒈𝒉</m:t>
                        </m:r>
                        <m:r>
                          <m:rPr>
                            <m:lit/>
                          </m:rPr>
                          <a:rPr lang="ar-AE" sz="2000" b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𝒕𝒓𝒂𝒇𝒇𝒊𝒄</m:t>
                        </m:r>
                      </m:sub>
                    </m:sSub>
                    <m:r>
                      <a:rPr lang="ar-AE" sz="20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20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ar-AE" sz="2000" b="1" dirty="0"/>
              </a:p>
              <a:p>
                <a:pPr lvl="6"/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𝐹𝑙𝑜𝑜𝑑𝑆𝑐𝑜𝑟𝑒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/>
                  <a:t>due to high load and low confidence </a:t>
                </a:r>
              </a:p>
              <a:p>
                <a:pPr lvl="6"/>
                <a:r>
                  <a:rPr lang="en-IN" dirty="0"/>
                  <a:t>Flood suppressed; prevents congestion and table instability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696D78-4544-A79B-0E2D-D263B1F88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95" y="324090"/>
                <a:ext cx="11690431" cy="6680419"/>
              </a:xfrm>
              <a:prstGeom prst="rect">
                <a:avLst/>
              </a:prstGeom>
              <a:blipFill>
                <a:blip r:embed="rId2"/>
                <a:stretch>
                  <a:fillRect l="-678" t="-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81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277B40-7BBE-A692-4D82-6A557BF9E581}"/>
              </a:ext>
            </a:extLst>
          </p:cNvPr>
          <p:cNvSpPr txBox="1"/>
          <p:nvPr/>
        </p:nvSpPr>
        <p:spPr>
          <a:xfrm>
            <a:off x="300942" y="312516"/>
            <a:ext cx="115283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New MAC (</a:t>
            </a:r>
            <a:r>
              <a:rPr lang="en-US" dirty="0" err="1"/>
              <a:t>P_seen</a:t>
            </a:r>
            <a:r>
              <a:rPr lang="en-US" dirty="0"/>
              <a:t>=0), table 80% full, traffic 70% of max:</a:t>
            </a:r>
          </a:p>
          <a:p>
            <a:endParaRPr lang="en-US" dirty="0"/>
          </a:p>
          <a:p>
            <a:r>
              <a:rPr lang="en-US" dirty="0" err="1"/>
              <a:t>FloodScore</a:t>
            </a:r>
            <a:r>
              <a:rPr lang="en-US" dirty="0"/>
              <a:t> = 0.5×0 + 0.3×(1-0.8) + 0.2×(1-0.7)           </a:t>
            </a:r>
          </a:p>
          <a:p>
            <a:r>
              <a:rPr lang="en-US" dirty="0"/>
              <a:t>		   = 0 + 0.06 + 0.06 = 0.12  → SUPPRESS flood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Known MAC recently (</a:t>
            </a:r>
            <a:r>
              <a:rPr lang="en-US" dirty="0" err="1"/>
              <a:t>P_seen</a:t>
            </a:r>
            <a:r>
              <a:rPr lang="en-US" dirty="0"/>
              <a:t>=0.8), table 30% full, low traffic:</a:t>
            </a:r>
          </a:p>
          <a:p>
            <a:endParaRPr lang="en-US" dirty="0"/>
          </a:p>
          <a:p>
            <a:r>
              <a:rPr lang="en-US" dirty="0" err="1"/>
              <a:t>FloodScore</a:t>
            </a:r>
            <a:r>
              <a:rPr lang="en-US" dirty="0"/>
              <a:t> = 0.5×0.8 + 0.3×0.7 + 0.2×0.9          </a:t>
            </a:r>
          </a:p>
          <a:p>
            <a:r>
              <a:rPr lang="en-US" dirty="0"/>
              <a:t>		    = 0.4 + 0.21 + 0.18 = 0.79  → FLOOD allowed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43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33D99-EA53-6162-B0D4-1413672A475A}"/>
              </a:ext>
            </a:extLst>
          </p:cNvPr>
          <p:cNvSpPr txBox="1"/>
          <p:nvPr/>
        </p:nvSpPr>
        <p:spPr>
          <a:xfrm>
            <a:off x="150471" y="312516"/>
            <a:ext cx="1177145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Model 3 — Entry Priority Score (Who Gets Evicted First?)</a:t>
            </a:r>
          </a:p>
          <a:p>
            <a:endParaRPr lang="en-US" dirty="0"/>
          </a:p>
          <a:p>
            <a:r>
              <a:rPr lang="en-US" dirty="0"/>
              <a:t>When the table is full, instead of evicting randomly or by oldest-first, compute an </a:t>
            </a:r>
            <a:r>
              <a:rPr lang="en-US" b="1" dirty="0"/>
              <a:t>eviction priority score</a:t>
            </a:r>
            <a:r>
              <a:rPr lang="en-US" dirty="0"/>
              <a:t> per entry:</a:t>
            </a:r>
          </a:p>
          <a:p>
            <a:endParaRPr lang="en-US" dirty="0"/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Priority(mac) = w1×(age/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TTL_max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 + w2×(1/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tx_count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 + w3×flap_count</a:t>
            </a:r>
          </a:p>
          <a:p>
            <a:endParaRPr lang="en-US" dirty="0"/>
          </a:p>
          <a:p>
            <a:r>
              <a:rPr lang="en-US" dirty="0"/>
              <a:t>Higher Priority = evict this entry first</a:t>
            </a:r>
          </a:p>
          <a:p>
            <a:endParaRPr lang="en-US" dirty="0"/>
          </a:p>
          <a:p>
            <a:r>
              <a:rPr lang="en-US" dirty="0"/>
              <a:t>age/</a:t>
            </a:r>
            <a:r>
              <a:rPr lang="en-US" dirty="0" err="1"/>
              <a:t>TTL_max</a:t>
            </a:r>
            <a:r>
              <a:rPr lang="en-US" dirty="0"/>
              <a:t>    → older entries score higher</a:t>
            </a:r>
          </a:p>
          <a:p>
            <a:r>
              <a:rPr lang="en-US" dirty="0"/>
              <a:t>1/</a:t>
            </a:r>
            <a:r>
              <a:rPr lang="en-US" dirty="0" err="1"/>
              <a:t>tx_count</a:t>
            </a:r>
            <a:r>
              <a:rPr lang="en-US" dirty="0"/>
              <a:t>     → rarely used entries score higher</a:t>
            </a:r>
          </a:p>
          <a:p>
            <a:r>
              <a:rPr lang="en-US" dirty="0" err="1"/>
              <a:t>flap_count</a:t>
            </a:r>
            <a:r>
              <a:rPr lang="en-US" dirty="0"/>
              <a:t>     → flapping entries score higher (they're unstable anyway)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Example:</a:t>
            </a:r>
          </a:p>
          <a:p>
            <a:endParaRPr lang="en-US" dirty="0"/>
          </a:p>
          <a:p>
            <a:r>
              <a:rPr lang="en-US" dirty="0"/>
              <a:t>MAC-A:  age=280s, </a:t>
            </a:r>
            <a:r>
              <a:rPr lang="en-US" dirty="0" err="1"/>
              <a:t>tx</a:t>
            </a:r>
            <a:r>
              <a:rPr lang="en-US" dirty="0"/>
              <a:t>=1,  flaps=3  → Priority = 0.93 + 1.0  + 0.3 = 2.23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dirty="0"/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evict first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MAC-B: age=150s, </a:t>
            </a:r>
            <a:r>
              <a:rPr lang="en-US" dirty="0" err="1"/>
              <a:t>tx</a:t>
            </a:r>
            <a:r>
              <a:rPr lang="en-US" dirty="0"/>
              <a:t>=20, flaps=0  → Priority = 0.5  + 0.05 + 0.0 = 0.55</a:t>
            </a:r>
          </a:p>
          <a:p>
            <a:endParaRPr lang="en-US" dirty="0"/>
          </a:p>
          <a:p>
            <a:r>
              <a:rPr lang="en-US" dirty="0"/>
              <a:t>MAC-C: age=290s, </a:t>
            </a:r>
            <a:r>
              <a:rPr lang="en-US" dirty="0" err="1"/>
              <a:t>tx</a:t>
            </a:r>
            <a:r>
              <a:rPr lang="en-US" dirty="0"/>
              <a:t>=5,  flaps=1  → Priority = 0.97 + 0.2  + 0.1 = 1.27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← evict second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65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3CB444-D040-6FAB-6A83-71DCBCF88DA0}"/>
              </a:ext>
            </a:extLst>
          </p:cNvPr>
          <p:cNvSpPr txBox="1"/>
          <p:nvPr/>
        </p:nvSpPr>
        <p:spPr>
          <a:xfrm>
            <a:off x="279721" y="92597"/>
            <a:ext cx="11632557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Model-4 : Flap Detection using Z-Score</a:t>
            </a:r>
          </a:p>
          <a:p>
            <a:pPr algn="ctr"/>
            <a:endParaRPr lang="en-IN" sz="2200" b="1" dirty="0"/>
          </a:p>
          <a:p>
            <a:pPr>
              <a:lnSpc>
                <a:spcPct val="150000"/>
              </a:lnSpc>
            </a:pPr>
            <a:r>
              <a:rPr lang="en-US" dirty="0"/>
              <a:t>We check how unusual a MAC address’s port changes are compared to others.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Z_score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(mac) =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flap_rate_mac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μ_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flap) /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σ_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flap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flap_rate_mac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how many times a MAC changes ports per minute</a:t>
            </a: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μ_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flap = average flap rate across all MACs</a:t>
            </a: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σ_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flap = standard deviation of flap rates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839C98FD-3983-92E5-5649-402205C2B89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5467" y="3039227"/>
                <a:ext cx="5157787" cy="288209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</a:rPr>
                      <m:t>𝑓𝑙𝑎𝑝</m:t>
                    </m:r>
                    <m:r>
                      <m:rPr>
                        <m:lit/>
                      </m:rPr>
                      <a:rPr lang="en-IN" sz="18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𝑟𝑎𝑡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𝑚𝑎𝑐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𝑓𝑙𝑎𝑝</m:t>
                        </m:r>
                      </m:sub>
                    </m:sSub>
                  </m:oMath>
                </a14:m>
                <a:r>
                  <a:rPr lang="en-US" sz="1800" b="0" dirty="0"/>
                  <a:t>&amp; small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br>
                  <a:rPr lang="en-US" sz="1800" b="0" dirty="0"/>
                </a:br>
                <a:r>
                  <a:rPr lang="en-US" sz="1800" b="0" dirty="0"/>
                  <a:t>⇒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800" b="0" dirty="0"/>
                  <a:t>becomes very high</a:t>
                </a:r>
                <a:br>
                  <a:rPr lang="en-US" sz="1800" b="0" dirty="0"/>
                </a:br>
                <a:r>
                  <a:rPr lang="en-US" sz="1800" b="0" dirty="0"/>
                  <a:t>→ Even a small increase looks abnormal → BLOCK likely</a:t>
                </a:r>
                <a:endParaRPr lang="en-US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𝑓𝑙𝑎𝑝</m:t>
                    </m:r>
                    <m:r>
                      <m:rPr>
                        <m:lit/>
                      </m:rPr>
                      <a:rPr lang="en-IN" sz="18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𝑟𝑎𝑡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𝑚𝑎𝑐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𝑓𝑙𝑎𝑝</m:t>
                        </m:r>
                      </m:sub>
                    </m:sSub>
                  </m:oMath>
                </a14:m>
                <a:r>
                  <a:rPr lang="en-US" sz="1800" b="0" dirty="0"/>
                  <a:t>​ &amp; large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br>
                  <a:rPr lang="en-US" sz="1800" b="0" dirty="0"/>
                </a:br>
                <a:r>
                  <a:rPr lang="en-US" sz="1800" b="0" dirty="0"/>
                  <a:t>⇒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800" b="0" dirty="0"/>
                  <a:t>increases slowly</a:t>
                </a:r>
                <a:br>
                  <a:rPr lang="en-US" sz="1800" b="0" dirty="0"/>
                </a:br>
                <a:r>
                  <a:rPr lang="en-US" sz="1800" b="0" dirty="0"/>
                  <a:t>→ Difference is tolerated → May still be allowed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839C98FD-3983-92E5-5649-402205C2B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467" y="3039227"/>
                <a:ext cx="5157787" cy="2882097"/>
              </a:xfrm>
              <a:blipFill>
                <a:blip r:embed="rId2"/>
                <a:stretch>
                  <a:fillRect l="-1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B356ED-C054-85F8-538E-04EA72837FFA}"/>
                  </a:ext>
                </a:extLst>
              </p:cNvPr>
              <p:cNvSpPr txBox="1"/>
              <p:nvPr/>
            </p:nvSpPr>
            <p:spPr>
              <a:xfrm>
                <a:off x="279721" y="5625294"/>
                <a:ext cx="116325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Final Threshold Condition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→ occurs when </a:t>
                </a:r>
                <a:r>
                  <a:rPr lang="en-US" b="1" dirty="0"/>
                  <a:t>(high difference + low deviation)</a:t>
                </a:r>
                <a:r>
                  <a:rPr lang="en-US" dirty="0"/>
                  <a:t> → </a:t>
                </a:r>
                <a:r>
                  <a:rPr lang="en-US" b="1" dirty="0"/>
                  <a:t>BLOCK</a:t>
                </a:r>
                <a:r>
                  <a:rPr lang="en-US" dirty="0"/>
                  <a:t> 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→ occurs when </a:t>
                </a:r>
                <a:r>
                  <a:rPr lang="en-US" b="1" dirty="0"/>
                  <a:t>(small difference or high deviation)</a:t>
                </a:r>
                <a:r>
                  <a:rPr lang="en-US" dirty="0"/>
                  <a:t> → </a:t>
                </a:r>
                <a:r>
                  <a:rPr lang="en-US" b="1" dirty="0"/>
                  <a:t>ALLOW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B356ED-C054-85F8-538E-04EA72837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21" y="5625294"/>
                <a:ext cx="11632556" cy="923330"/>
              </a:xfrm>
              <a:prstGeom prst="rect">
                <a:avLst/>
              </a:prstGeom>
              <a:blipFill>
                <a:blip r:embed="rId3"/>
                <a:stretch>
                  <a:fillRect l="-472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7">
                <a:extLst>
                  <a:ext uri="{FF2B5EF4-FFF2-40B4-BE49-F238E27FC236}">
                    <a16:creationId xmlns:a16="http://schemas.microsoft.com/office/drawing/2014/main" id="{2980FA2D-8BF4-D37D-EB89-F78281C8E6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4490" y="3039226"/>
                <a:ext cx="5157787" cy="2882097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𝑓𝑙𝑎𝑝</m:t>
                    </m:r>
                    <m:r>
                      <m:rPr>
                        <m:lit/>
                      </m:rPr>
                      <a:rPr lang="en-IN" sz="18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𝑟𝑎𝑡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𝑚𝑎𝑐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𝑓𝑙𝑎𝑝</m:t>
                        </m:r>
                      </m:sub>
                    </m:sSub>
                  </m:oMath>
                </a14:m>
                <a:r>
                  <a:rPr lang="en-IN" sz="1800" b="0" dirty="0"/>
                  <a:t>​ &amp; small </a:t>
                </a:r>
                <a14:m>
                  <m:oMath xmlns:m="http://schemas.openxmlformats.org/officeDocument/2006/math">
                    <m:r>
                      <a:rPr lang="en-IN" sz="18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br>
                  <a:rPr lang="en-IN" sz="1800" b="0" dirty="0"/>
                </a:br>
                <a:r>
                  <a:rPr lang="en-IN" sz="1800" b="0" dirty="0"/>
                  <a:t>⇒ </a:t>
                </a:r>
                <a14:m>
                  <m:oMath xmlns:m="http://schemas.openxmlformats.org/officeDocument/2006/math">
                    <m:r>
                      <a:rPr lang="en-IN" sz="1800" b="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IN" sz="1800" b="0" dirty="0"/>
                  <a:t>becomes more negative</a:t>
                </a:r>
                <a:br>
                  <a:rPr lang="en-IN" sz="1800" b="0" dirty="0"/>
                </a:br>
                <a:r>
                  <a:rPr lang="en-IN" sz="1800" b="0" dirty="0"/>
                  <a:t>→ Clearly stable → ALLOW </a:t>
                </a:r>
              </a:p>
              <a:p>
                <a:endParaRPr lang="en-IN" sz="1800" b="0" dirty="0"/>
              </a:p>
              <a:p>
                <a:br>
                  <a:rPr lang="en-IN" sz="1800" b="0" dirty="0"/>
                </a:br>
                <a14:m>
                  <m:oMath xmlns:m="http://schemas.openxmlformats.org/officeDocument/2006/math">
                    <m:r>
                      <a:rPr lang="en-IN" sz="1800" b="0" i="1">
                        <a:latin typeface="Cambria Math" panose="02040503050406030204" pitchFamily="18" charset="0"/>
                      </a:rPr>
                      <m:t>𝑓𝑙𝑎𝑝</m:t>
                    </m:r>
                    <m:r>
                      <m:rPr>
                        <m:lit/>
                      </m:rPr>
                      <a:rPr lang="en-IN" sz="1800" b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1800" b="0" i="1">
                        <a:latin typeface="Cambria Math" panose="02040503050406030204" pitchFamily="18" charset="0"/>
                      </a:rPr>
                      <m:t>𝑟𝑎𝑡</m:t>
                    </m:r>
                    <m:sSub>
                      <m:sSubPr>
                        <m:ctrlPr>
                          <a:rPr lang="ar-A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1800" b="0" i="1">
                            <a:latin typeface="Cambria Math" panose="02040503050406030204" pitchFamily="18" charset="0"/>
                          </a:rPr>
                          <m:t>𝑚𝑎𝑐</m:t>
                        </m:r>
                      </m:sub>
                    </m:sSub>
                    <m:r>
                      <a:rPr lang="ar-AE" sz="1800" b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1800" b="0" i="1">
                            <a:latin typeface="Cambria Math" panose="02040503050406030204" pitchFamily="18" charset="0"/>
                          </a:rPr>
                          <m:t>𝑓𝑙𝑎𝑝</m:t>
                        </m:r>
                      </m:sub>
                    </m:sSub>
                  </m:oMath>
                </a14:m>
                <a:r>
                  <a:rPr lang="ar-AE" sz="1800" b="0" dirty="0"/>
                  <a:t>&amp; </a:t>
                </a:r>
                <a:r>
                  <a:rPr lang="en-IN" sz="1800" b="0" dirty="0"/>
                  <a:t>large </a:t>
                </a:r>
                <a14:m>
                  <m:oMath xmlns:m="http://schemas.openxmlformats.org/officeDocument/2006/math">
                    <m:r>
                      <a:rPr lang="en-IN" sz="18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br>
                  <a:rPr lang="en-IN" sz="1800" b="0" dirty="0"/>
                </a:br>
                <a:r>
                  <a:rPr lang="en-IN" sz="1800" b="0" dirty="0"/>
                  <a:t>⇒ </a:t>
                </a:r>
                <a14:m>
                  <m:oMath xmlns:m="http://schemas.openxmlformats.org/officeDocument/2006/math">
                    <m:r>
                      <a:rPr lang="en-IN" sz="1800" b="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IN" sz="1800" b="0" dirty="0"/>
                  <a:t>slightly negative</a:t>
                </a:r>
                <a:br>
                  <a:rPr lang="en-IN" sz="1800" b="0" dirty="0"/>
                </a:br>
                <a:r>
                  <a:rPr lang="en-IN" sz="1800" b="0" dirty="0"/>
                  <a:t>→ Still normal → ALLOW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4" name="Text Placeholder 7">
                <a:extLst>
                  <a:ext uri="{FF2B5EF4-FFF2-40B4-BE49-F238E27FC236}">
                    <a16:creationId xmlns:a16="http://schemas.microsoft.com/office/drawing/2014/main" id="{2980FA2D-8BF4-D37D-EB89-F78281C8E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490" y="3039226"/>
                <a:ext cx="5157787" cy="2882097"/>
              </a:xfrm>
              <a:prstGeom prst="rect">
                <a:avLst/>
              </a:prstGeom>
              <a:blipFill>
                <a:blip r:embed="rId4"/>
                <a:stretch>
                  <a:fillRect l="-9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38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CB9FA-4C56-5D53-62A2-8E857E330073}"/>
              </a:ext>
            </a:extLst>
          </p:cNvPr>
          <p:cNvSpPr txBox="1"/>
          <p:nvPr/>
        </p:nvSpPr>
        <p:spPr>
          <a:xfrm>
            <a:off x="497840" y="436880"/>
            <a:ext cx="112471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Our Mathematical Model Beats Q-Learning for MAC Table Management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Our mathematical model solves flapping by directly shrinking TTL via </a:t>
            </a:r>
            <a:r>
              <a:rPr lang="en-US" dirty="0" err="1"/>
              <a:t>F_stability</a:t>
            </a:r>
            <a:r>
              <a:rPr lang="en-US" dirty="0"/>
              <a:t> as </a:t>
            </a:r>
            <a:r>
              <a:rPr lang="en-US" dirty="0" err="1"/>
              <a:t>flap_count</a:t>
            </a:r>
            <a:r>
              <a:rPr lang="en-US" dirty="0"/>
              <a:t> rises, making unstable MACs self-evicting without any learning phase.</a:t>
            </a:r>
          </a:p>
          <a:p>
            <a:endParaRPr lang="en-US" dirty="0"/>
          </a:p>
          <a:p>
            <a:r>
              <a:rPr lang="en-US" dirty="0"/>
              <a:t> It controls flooding intelligently through </a:t>
            </a:r>
            <a:r>
              <a:rPr lang="en-US" dirty="0" err="1"/>
              <a:t>FloodScore</a:t>
            </a:r>
            <a:r>
              <a:rPr lang="en-US" dirty="0"/>
              <a:t>, which weighs MAC knowledge, table pressure, and traffic load together to suppress unnecessary broadcasts while preserving legitimate ones. </a:t>
            </a:r>
          </a:p>
          <a:p>
            <a:endParaRPr lang="en-US" dirty="0"/>
          </a:p>
          <a:p>
            <a:r>
              <a:rPr lang="en-US" dirty="0"/>
              <a:t>Model 3 ensures the least valuable entries (old, inactive, flapping) are always evicted first. Unlike Q-Learning, which requires exploration time, a reward function, and significant compute, our model delivers deterministic, auditable, line-rate decisions from deployment day one — making it practically superior for real network hardware.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68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8DAD1-5341-85D2-4967-71E82C604F4A}"/>
              </a:ext>
            </a:extLst>
          </p:cNvPr>
          <p:cNvSpPr txBox="1"/>
          <p:nvPr/>
        </p:nvSpPr>
        <p:spPr>
          <a:xfrm>
            <a:off x="4710023" y="130999"/>
            <a:ext cx="4589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FLOODING</a:t>
            </a:r>
            <a:endParaRPr lang="en-IN" sz="28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7C13D-C610-0855-3748-4784F1DF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47" b="30714"/>
          <a:stretch>
            <a:fillRect/>
          </a:stretch>
        </p:blipFill>
        <p:spPr>
          <a:xfrm>
            <a:off x="218535" y="738995"/>
            <a:ext cx="6728605" cy="3966825"/>
          </a:xfrm>
          <a:prstGeom prst="rect">
            <a:avLst/>
          </a:prstGeom>
          <a:ln w="12700">
            <a:solidFill>
              <a:srgbClr val="00B0F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39CE9-AD6D-D5BA-20F4-1850B65802A9}"/>
              </a:ext>
            </a:extLst>
          </p:cNvPr>
          <p:cNvSpPr txBox="1"/>
          <p:nvPr/>
        </p:nvSpPr>
        <p:spPr>
          <a:xfrm>
            <a:off x="7090913" y="654219"/>
            <a:ext cx="51010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/>
              <a:t>Traffic Flooding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Created topology: </a:t>
            </a:r>
            <a:r>
              <a:rPr lang="en-IN" b="1" dirty="0"/>
              <a:t>1 switch (s1) with 3 hosts (h1, h2, h3)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 ping from </a:t>
            </a:r>
            <a:r>
              <a:rPr lang="en-IN" b="1" dirty="0"/>
              <a:t>h1 to unknown IP (10.0.0.99)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Switch has </a:t>
            </a:r>
            <a:r>
              <a:rPr lang="en-IN" b="1" dirty="0"/>
              <a:t>no MAC/IP entry</a:t>
            </a:r>
            <a:r>
              <a:rPr lang="en-IN" dirty="0"/>
              <a:t> for destination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Frame is </a:t>
            </a:r>
            <a:r>
              <a:rPr lang="en-IN" b="1" dirty="0"/>
              <a:t>flooded to all ports</a:t>
            </a:r>
            <a:r>
              <a:rPr lang="en-IN" dirty="0"/>
              <a:t> except incoming 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tcpdump</a:t>
            </a:r>
            <a:r>
              <a:rPr lang="en-IN" dirty="0"/>
              <a:t> run on switch interface (</a:t>
            </a:r>
            <a:r>
              <a:rPr lang="en-IN" b="1" dirty="0"/>
              <a:t>s1-eth</a:t>
            </a:r>
            <a:r>
              <a:rPr lang="en-IN" dirty="0"/>
              <a:t>) to capture traffic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Observed </a:t>
            </a:r>
            <a:r>
              <a:rPr lang="en-IN" b="1" dirty="0"/>
              <a:t>repeated broadcast packets</a:t>
            </a:r>
            <a:r>
              <a:rPr lang="en-IN" dirty="0"/>
              <a:t> across interfaces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Ping result: </a:t>
            </a:r>
            <a:r>
              <a:rPr lang="en-IN" b="1" dirty="0"/>
              <a:t>100% packet loss (Destination Host Unreachable)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371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FF367B-4A3A-A5CD-ADFA-41125C22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37"/>
          <a:stretch>
            <a:fillRect/>
          </a:stretch>
        </p:blipFill>
        <p:spPr>
          <a:xfrm>
            <a:off x="288750" y="1052182"/>
            <a:ext cx="10421804" cy="3102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BE5DB9-11C3-32E9-DB06-04BD3A0F3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t="83802" r="1049"/>
          <a:stretch>
            <a:fillRect/>
          </a:stretch>
        </p:blipFill>
        <p:spPr>
          <a:xfrm>
            <a:off x="288750" y="4154558"/>
            <a:ext cx="10421804" cy="769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6EA98-1BDA-8BC7-EDCB-34F8ED4A5B62}"/>
              </a:ext>
            </a:extLst>
          </p:cNvPr>
          <p:cNvSpPr txBox="1"/>
          <p:nvPr/>
        </p:nvSpPr>
        <p:spPr>
          <a:xfrm>
            <a:off x="288750" y="282189"/>
            <a:ext cx="3734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Tw Cen MT" panose="020B0602020104020603" pitchFamily="34" charset="0"/>
              </a:rPr>
              <a:t>MAC Aging :</a:t>
            </a:r>
          </a:p>
        </p:txBody>
      </p:sp>
    </p:spTree>
    <p:extLst>
      <p:ext uri="{BB962C8B-B14F-4D97-AF65-F5344CB8AC3E}">
        <p14:creationId xmlns:p14="http://schemas.microsoft.com/office/powerpoint/2010/main" val="347351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298F7-5A98-EEB7-584F-12BDF2B1A40C}"/>
              </a:ext>
            </a:extLst>
          </p:cNvPr>
          <p:cNvSpPr txBox="1"/>
          <p:nvPr/>
        </p:nvSpPr>
        <p:spPr>
          <a:xfrm>
            <a:off x="4399472" y="189781"/>
            <a:ext cx="32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FLAPPING</a:t>
            </a:r>
            <a:endParaRPr lang="en-IN" sz="28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AA3C1-56B6-D6ED-93B1-D55917B9A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" t="1182" r="25848" b="1739"/>
          <a:stretch>
            <a:fillRect/>
          </a:stretch>
        </p:blipFill>
        <p:spPr>
          <a:xfrm>
            <a:off x="161028" y="404575"/>
            <a:ext cx="3582838" cy="513646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4E0CA1-6A1C-50E7-8F5A-8BA4683B7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711" y="948906"/>
            <a:ext cx="3688519" cy="4704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77CD9-13B4-DBA4-0DFD-51268C449F28}"/>
              </a:ext>
            </a:extLst>
          </p:cNvPr>
          <p:cNvSpPr txBox="1"/>
          <p:nvPr/>
        </p:nvSpPr>
        <p:spPr>
          <a:xfrm>
            <a:off x="7566075" y="1384938"/>
            <a:ext cx="45202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 Address Flapping (Loop Scenario)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Topology: 2 switches (</a:t>
            </a:r>
            <a:r>
              <a:rPr lang="en-US" b="1" dirty="0"/>
              <a:t>s1, s2</a:t>
            </a:r>
            <a:r>
              <a:rPr lang="en-US" dirty="0"/>
              <a:t>) and 4 hosts, with </a:t>
            </a:r>
            <a:r>
              <a:rPr lang="en-US" b="1" dirty="0"/>
              <a:t>two parallel links between switches</a:t>
            </a:r>
            <a:r>
              <a:rPr lang="en-US" dirty="0"/>
              <a:t> creating a loop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STP is disabled</a:t>
            </a:r>
            <a:r>
              <a:rPr lang="en-US" dirty="0"/>
              <a:t>, so the loop is not blocked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pingall</a:t>
            </a:r>
            <a:r>
              <a:rPr lang="en-US" dirty="0"/>
              <a:t>, </a:t>
            </a:r>
            <a:r>
              <a:rPr lang="en-US" b="1" dirty="0"/>
              <a:t>91% packet loss</a:t>
            </a:r>
            <a:r>
              <a:rPr lang="en-US" dirty="0"/>
              <a:t> occurs due to broadcast storms and instability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MAC tables, the </a:t>
            </a:r>
            <a:r>
              <a:rPr lang="en-US" b="1" dirty="0"/>
              <a:t>same MAC address appears on different ports repeatedly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Switches keep updating the MAC entry because frames arrive from multiple paths → </a:t>
            </a:r>
            <a:r>
              <a:rPr lang="en-US" b="1" dirty="0"/>
              <a:t>MAC flapping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611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3596F4-933E-A117-F371-D0C89581CE52}"/>
              </a:ext>
            </a:extLst>
          </p:cNvPr>
          <p:cNvSpPr txBox="1"/>
          <p:nvPr/>
        </p:nvSpPr>
        <p:spPr>
          <a:xfrm>
            <a:off x="1276710" y="137328"/>
            <a:ext cx="3283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FLAPPING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19C81B-FAC6-3F47-ED3E-214E59ABC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2" b="3286"/>
          <a:stretch>
            <a:fillRect/>
          </a:stretch>
        </p:blipFill>
        <p:spPr>
          <a:xfrm>
            <a:off x="4957313" y="183335"/>
            <a:ext cx="7088155" cy="2260815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FBAFC3-2422-36AC-1D87-F9D6B6B88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" r="15416"/>
          <a:stretch>
            <a:fillRect/>
          </a:stretch>
        </p:blipFill>
        <p:spPr>
          <a:xfrm>
            <a:off x="100524" y="989706"/>
            <a:ext cx="4810781" cy="4759601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0C71C5-DAA0-37EF-3C32-E235097F20DA}"/>
              </a:ext>
            </a:extLst>
          </p:cNvPr>
          <p:cNvSpPr/>
          <p:nvPr/>
        </p:nvSpPr>
        <p:spPr>
          <a:xfrm>
            <a:off x="301807" y="3276945"/>
            <a:ext cx="2878464" cy="1851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172B9-0692-DDC5-5E20-85823D4D998D}"/>
              </a:ext>
            </a:extLst>
          </p:cNvPr>
          <p:cNvSpPr/>
          <p:nvPr/>
        </p:nvSpPr>
        <p:spPr>
          <a:xfrm>
            <a:off x="301807" y="5235142"/>
            <a:ext cx="2878464" cy="1851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631BC-58CD-7A51-8354-C294DEE860AD}"/>
              </a:ext>
            </a:extLst>
          </p:cNvPr>
          <p:cNvSpPr txBox="1"/>
          <p:nvPr/>
        </p:nvSpPr>
        <p:spPr>
          <a:xfrm>
            <a:off x="5112588" y="2846718"/>
            <a:ext cx="70391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MAC Flapping (Same MAC on Multiple Hosts)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Mininet topology: </a:t>
            </a:r>
            <a:r>
              <a:rPr lang="en-US" b="1" dirty="0"/>
              <a:t>1 switch (s1) with multiple hosts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assigned </a:t>
            </a:r>
            <a:r>
              <a:rPr lang="en-US" b="1" dirty="0"/>
              <a:t>same MAC address (00:00:00:00:00:AA)</a:t>
            </a:r>
            <a:r>
              <a:rPr lang="en-US" dirty="0"/>
              <a:t> to different hosts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hosts send traffic (ping), making switch learn MAC from different 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MAC table (</a:t>
            </a:r>
            <a:r>
              <a:rPr lang="en-US" dirty="0" err="1"/>
              <a:t>fdb</a:t>
            </a:r>
            <a:r>
              <a:rPr lang="en-US" dirty="0"/>
              <a:t>/show s1), </a:t>
            </a:r>
            <a:r>
              <a:rPr lang="en-US" b="1" dirty="0"/>
              <a:t>same MAC appears on different ports alternately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Entry keeps changing → </a:t>
            </a:r>
            <a:r>
              <a:rPr lang="en-US" b="1" dirty="0"/>
              <a:t>MAC flapping occurs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may face </a:t>
            </a:r>
            <a:r>
              <a:rPr lang="en-US" b="1" dirty="0"/>
              <a:t>instability, incorrect forwarding, and packet confusion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107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234</TotalTime>
  <Words>1721</Words>
  <Application>Microsoft Office PowerPoint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Garvit Goyal</dc:creator>
  <cp:lastModifiedBy>Garvit Goyal</cp:lastModifiedBy>
  <cp:revision>4</cp:revision>
  <dcterms:created xsi:type="dcterms:W3CDTF">2026-04-26T02:31:50Z</dcterms:created>
  <dcterms:modified xsi:type="dcterms:W3CDTF">2026-04-28T11:21:54Z</dcterms:modified>
</cp:coreProperties>
</file>