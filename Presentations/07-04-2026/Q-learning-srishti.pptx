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71" r:id="rId3"/>
    <p:sldId id="263" r:id="rId4"/>
    <p:sldId id="261" r:id="rId5"/>
    <p:sldId id="260" r:id="rId6"/>
    <p:sldId id="267" r:id="rId7"/>
    <p:sldId id="262" r:id="rId8"/>
    <p:sldId id="264" r:id="rId9"/>
    <p:sldId id="265" r:id="rId10"/>
    <p:sldId id="269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79" d="100"/>
          <a:sy n="79" d="100"/>
        </p:scale>
        <p:origin x="541" y="7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Oval 5"/>
          <p:cNvSpPr/>
          <p:nvPr/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fld id="{6AD6EE87-EBD5-4F12-A48A-63ACA297AC8F}" type="datetimeFigureOut">
              <a:rPr lang="en-US" dirty="0"/>
              <a:t>4/7/2026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D3794B-289A-4A80-97D7-111025398D45}" type="datetimeFigureOut">
              <a:rPr lang="en-US" dirty="0"/>
              <a:t>4/7/2026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Oval 5"/>
          <p:cNvSpPr/>
          <p:nvPr/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b="0" spc="200" baseline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61015F-7CC6-4D0A-9D87-873EA4C304CC}" type="datetimeFigureOut">
              <a:rPr lang="en-US" dirty="0"/>
              <a:t>4/7/2026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24127" y="2286000"/>
            <a:ext cx="4754880" cy="402336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89320" y="2286000"/>
            <a:ext cx="4754880" cy="402336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C6A301-0538-44EC-B09D-202E1042A48B}" type="datetimeFigureOut">
              <a:rPr lang="en-US" dirty="0"/>
              <a:t>4/7/2026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300" b="0" cap="none" baseline="0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24128" y="2967788"/>
            <a:ext cx="4754880" cy="3341572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99088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2300" b="0" kern="1200" cap="none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None/>
            </a:pPr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990888" y="2967788"/>
            <a:ext cx="4754880" cy="3341572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89574A-8875-45EF-8EA2-3CAA0F7ABC4C}" type="datetimeFigureOut">
              <a:rPr lang="en-US" dirty="0"/>
              <a:t>4/7/2026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EF4D4C-5367-4C26-9E2B-D8088D7FCA81}" type="datetimeFigureOut">
              <a:rPr lang="en-US" dirty="0"/>
              <a:t>4/7/2026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E91E96-98B0-4413-9547-46F3504108EF}" type="datetimeFigureOut">
              <a:rPr lang="en-US" dirty="0"/>
              <a:t>4/7/2026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24128" y="471509"/>
            <a:ext cx="4389120" cy="1737360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4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5000" y="822960"/>
            <a:ext cx="5678424" cy="518464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128" y="2257506"/>
            <a:ext cx="4389120" cy="3762294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8000"/>
              </a:lnSpc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C68B11-C5A8-448C-8CE9-B1A273C79CFC}" type="datetimeFigureOut">
              <a:rPr lang="en-US" dirty="0"/>
              <a:t>4/7/2026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8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-1"/>
            <a:ext cx="12188952" cy="4572000"/>
          </a:xfrm>
          <a:solidFill>
            <a:schemeClr val="accent1">
              <a:lumMod val="60000"/>
              <a:lumOff val="40000"/>
            </a:schemeClr>
          </a:solidFill>
        </p:spPr>
        <p:txBody>
          <a:bodyPr lIns="457200" tIns="365760" rIns="45720" bIns="4572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10600" y="4960138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16CA0-919D-4A49-9C8A-62FDFB3A5183}" type="datetimeFigureOut">
              <a:rPr lang="en-US" dirty="0"/>
              <a:t>4/7/2026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E5644-1E61-4311-A31E-84CB9C7AA8A9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D73815-2707-4475-8F1A-B873CB631BB4}" type="datetimeFigureOut">
              <a:rPr lang="en-US" dirty="0"/>
              <a:t>4/7/2026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762000"/>
            <a:ext cx="2628900" cy="5410200"/>
          </a:xfrm>
        </p:spPr>
        <p:txBody>
          <a:bodyPr vert="eaVert" lIns="45720" tIns="91440" rIns="45720" bIns="91440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90601" y="762000"/>
            <a:ext cx="7581900" cy="54102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4AFB99-0EAB-4182-AFF8-E214C82A68F6}" type="datetimeFigureOut">
              <a:rPr lang="en-US" dirty="0"/>
              <a:t>4/7/2026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7" name="Straight Connector 6"/>
          <p:cNvCxnSpPr/>
          <p:nvPr/>
        </p:nvCxnSpPr>
        <p:spPr>
          <a:xfrm rot="5400000" flipV="1">
            <a:off x="10058400" y="59263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286000"/>
            <a:ext cx="9720073" cy="402336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24129" y="6470704"/>
            <a:ext cx="2154143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90298CD5-6C1E-4009-B41F-6DF62E31D3BE}" type="datetimeFigureOut">
              <a:rPr lang="en-US" dirty="0"/>
              <a:pPr/>
              <a:t>4/7/2026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842932" y="6470704"/>
            <a:ext cx="5901459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837333" y="6470704"/>
            <a:ext cx="973667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7" name="Straight Connector 6"/>
          <p:cNvCxnSpPr/>
          <p:nvPr/>
        </p:nvCxnSpPr>
        <p:spPr>
          <a:xfrm flipV="1">
            <a:off x="762000" y="826324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0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5000" kern="1200" cap="all" spc="100" baseline="0">
          <a:solidFill>
            <a:schemeClr val="tx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Tw Cen MT" panose="020B0602020104020603" pitchFamily="34" charset="0"/>
        <a:buChar char=" 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26517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4480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9436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7724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060704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216152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13624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4881771" y="582455"/>
            <a:ext cx="22546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dirty="0" smtClean="0">
                <a:solidFill>
                  <a:schemeClr val="bg1"/>
                </a:solidFill>
              </a:rPr>
              <a:t>Q LEARNING</a:t>
            </a:r>
            <a:endParaRPr lang="en-IN" sz="2800" dirty="0">
              <a:solidFill>
                <a:schemeClr val="bg1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4053767" y="1492535"/>
            <a:ext cx="3082629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Clr>
                <a:schemeClr val="bg1"/>
              </a:buClr>
            </a:pPr>
            <a:r>
              <a:rPr lang="en-GB" dirty="0" smtClean="0">
                <a:solidFill>
                  <a:schemeClr val="bg1"/>
                </a:solidFill>
              </a:rPr>
              <a:t>Core Components:-</a:t>
            </a:r>
          </a:p>
          <a:p>
            <a:pPr marL="342900" indent="-342900">
              <a:buClr>
                <a:schemeClr val="bg1"/>
              </a:buClr>
              <a:buFont typeface="+mj-lt"/>
              <a:buAutoNum type="arabicPeriod"/>
            </a:pPr>
            <a:r>
              <a:rPr lang="en-GB" dirty="0" smtClean="0">
                <a:solidFill>
                  <a:schemeClr val="bg1"/>
                </a:solidFill>
              </a:rPr>
              <a:t>Environment </a:t>
            </a:r>
          </a:p>
          <a:p>
            <a:pPr marL="342900" indent="-342900">
              <a:buClr>
                <a:schemeClr val="bg1"/>
              </a:buClr>
              <a:buFont typeface="+mj-lt"/>
              <a:buAutoNum type="arabicPeriod"/>
            </a:pPr>
            <a:r>
              <a:rPr lang="en-GB" dirty="0" smtClean="0">
                <a:solidFill>
                  <a:schemeClr val="bg1"/>
                </a:solidFill>
              </a:rPr>
              <a:t>State – Action</a:t>
            </a:r>
          </a:p>
          <a:p>
            <a:pPr marL="342900" indent="-342900">
              <a:buClr>
                <a:schemeClr val="bg1"/>
              </a:buClr>
              <a:buFont typeface="+mj-lt"/>
              <a:buAutoNum type="arabicPeriod"/>
            </a:pPr>
            <a:r>
              <a:rPr lang="en-GB" dirty="0" smtClean="0">
                <a:solidFill>
                  <a:schemeClr val="bg1"/>
                </a:solidFill>
              </a:rPr>
              <a:t>Episode</a:t>
            </a:r>
          </a:p>
          <a:p>
            <a:pPr marL="342900" indent="-342900">
              <a:buClr>
                <a:schemeClr val="bg1"/>
              </a:buClr>
              <a:buFont typeface="+mj-lt"/>
              <a:buAutoNum type="arabicPeriod"/>
            </a:pPr>
            <a:r>
              <a:rPr lang="en-GB" dirty="0" smtClean="0">
                <a:solidFill>
                  <a:schemeClr val="bg1"/>
                </a:solidFill>
              </a:rPr>
              <a:t>Reward</a:t>
            </a:r>
          </a:p>
          <a:p>
            <a:pPr marL="342900" indent="-342900">
              <a:buClr>
                <a:schemeClr val="bg1"/>
              </a:buClr>
              <a:buFont typeface="+mj-lt"/>
              <a:buAutoNum type="arabicPeriod"/>
            </a:pPr>
            <a:r>
              <a:rPr lang="en-GB" dirty="0" smtClean="0">
                <a:solidFill>
                  <a:schemeClr val="bg1"/>
                </a:solidFill>
              </a:rPr>
              <a:t>Q Table</a:t>
            </a:r>
          </a:p>
          <a:p>
            <a:pPr marL="342900" indent="-342900">
              <a:buClr>
                <a:schemeClr val="bg1"/>
              </a:buClr>
              <a:buAutoNum type="arabicPeriod" startAt="6"/>
            </a:pPr>
            <a:r>
              <a:rPr lang="en-GB" dirty="0" smtClean="0">
                <a:solidFill>
                  <a:schemeClr val="bg1"/>
                </a:solidFill>
              </a:rPr>
              <a:t>Bellman Update</a:t>
            </a:r>
          </a:p>
          <a:p>
            <a:pPr marL="342900" indent="-342900">
              <a:buClr>
                <a:schemeClr val="bg1"/>
              </a:buClr>
              <a:buAutoNum type="arabicPeriod" startAt="6"/>
            </a:pPr>
            <a:r>
              <a:rPr lang="en-GB" dirty="0" smtClean="0">
                <a:solidFill>
                  <a:schemeClr val="bg1"/>
                </a:solidFill>
              </a:rPr>
              <a:t>Epsilon – Greedy Algorithm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1684" y="1575050"/>
            <a:ext cx="3082629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GB" dirty="0" smtClean="0">
                <a:solidFill>
                  <a:schemeClr val="bg1"/>
                </a:solidFill>
              </a:rPr>
              <a:t>Used to find optimal value of the action-selection pair for any given MDP</a:t>
            </a:r>
          </a:p>
          <a:p>
            <a:pPr marL="285750" indent="-28575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GB" dirty="0" smtClean="0">
                <a:solidFill>
                  <a:schemeClr val="bg1"/>
                </a:solidFill>
              </a:rPr>
              <a:t>Model free</a:t>
            </a:r>
          </a:p>
          <a:p>
            <a:pPr marL="285750" indent="-28575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GB" dirty="0" smtClean="0">
                <a:solidFill>
                  <a:schemeClr val="bg1"/>
                </a:solidFill>
              </a:rPr>
              <a:t>Off policy</a:t>
            </a:r>
          </a:p>
          <a:p>
            <a:pPr marL="285750" indent="-28575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GB" dirty="0" smtClean="0">
                <a:solidFill>
                  <a:schemeClr val="bg1"/>
                </a:solidFill>
              </a:rPr>
              <a:t>Value based method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417859" y="3273862"/>
            <a:ext cx="2196352" cy="394447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 smtClean="0"/>
              <a:t>Perform Action</a:t>
            </a:r>
            <a:endParaRPr lang="en-IN" dirty="0"/>
          </a:p>
        </p:txBody>
      </p:sp>
      <p:sp>
        <p:nvSpPr>
          <p:cNvPr id="19" name="Rectangle 18"/>
          <p:cNvSpPr/>
          <p:nvPr/>
        </p:nvSpPr>
        <p:spPr>
          <a:xfrm>
            <a:off x="8417859" y="1575050"/>
            <a:ext cx="2196352" cy="394447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 smtClean="0"/>
              <a:t>Initialize Q Table</a:t>
            </a:r>
            <a:endParaRPr lang="en-IN" dirty="0"/>
          </a:p>
        </p:txBody>
      </p:sp>
      <p:sp>
        <p:nvSpPr>
          <p:cNvPr id="20" name="Rectangle 19"/>
          <p:cNvSpPr/>
          <p:nvPr/>
        </p:nvSpPr>
        <p:spPr>
          <a:xfrm>
            <a:off x="8417859" y="4143439"/>
            <a:ext cx="2196352" cy="394447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 smtClean="0"/>
              <a:t>Measure Reward</a:t>
            </a:r>
            <a:endParaRPr lang="en-IN" dirty="0"/>
          </a:p>
        </p:txBody>
      </p:sp>
      <p:sp>
        <p:nvSpPr>
          <p:cNvPr id="22" name="Rectangle 21"/>
          <p:cNvSpPr/>
          <p:nvPr/>
        </p:nvSpPr>
        <p:spPr>
          <a:xfrm>
            <a:off x="8417859" y="5013016"/>
            <a:ext cx="2196352" cy="394447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 smtClean="0"/>
              <a:t>Update Q Table</a:t>
            </a:r>
            <a:endParaRPr lang="en-IN" dirty="0"/>
          </a:p>
        </p:txBody>
      </p:sp>
      <p:sp>
        <p:nvSpPr>
          <p:cNvPr id="23" name="Rectangle 22"/>
          <p:cNvSpPr/>
          <p:nvPr/>
        </p:nvSpPr>
        <p:spPr>
          <a:xfrm>
            <a:off x="8417859" y="2404285"/>
            <a:ext cx="2196352" cy="394447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 smtClean="0"/>
              <a:t>Choose an Action</a:t>
            </a:r>
            <a:endParaRPr lang="en-IN" dirty="0"/>
          </a:p>
        </p:txBody>
      </p:sp>
      <p:cxnSp>
        <p:nvCxnSpPr>
          <p:cNvPr id="24" name="Straight Arrow Connector 23"/>
          <p:cNvCxnSpPr>
            <a:stCxn id="19" idx="2"/>
            <a:endCxn id="23" idx="0"/>
          </p:cNvCxnSpPr>
          <p:nvPr/>
        </p:nvCxnSpPr>
        <p:spPr>
          <a:xfrm>
            <a:off x="9516035" y="1969497"/>
            <a:ext cx="0" cy="434788"/>
          </a:xfrm>
          <a:prstGeom prst="straightConnector1">
            <a:avLst/>
          </a:prstGeom>
          <a:ln w="1905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/>
          <p:cNvCxnSpPr/>
          <p:nvPr/>
        </p:nvCxnSpPr>
        <p:spPr>
          <a:xfrm>
            <a:off x="9516035" y="2798732"/>
            <a:ext cx="0" cy="434788"/>
          </a:xfrm>
          <a:prstGeom prst="straightConnector1">
            <a:avLst/>
          </a:prstGeom>
          <a:ln w="1905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/>
          <p:cNvCxnSpPr/>
          <p:nvPr/>
        </p:nvCxnSpPr>
        <p:spPr>
          <a:xfrm>
            <a:off x="9547411" y="3668309"/>
            <a:ext cx="0" cy="434788"/>
          </a:xfrm>
          <a:prstGeom prst="straightConnector1">
            <a:avLst/>
          </a:prstGeom>
          <a:ln w="1905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/>
          <p:cNvCxnSpPr/>
          <p:nvPr/>
        </p:nvCxnSpPr>
        <p:spPr>
          <a:xfrm>
            <a:off x="9516035" y="4578228"/>
            <a:ext cx="0" cy="434788"/>
          </a:xfrm>
          <a:prstGeom prst="straightConnector1">
            <a:avLst/>
          </a:prstGeom>
          <a:ln w="1905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Curved Connector 28"/>
          <p:cNvCxnSpPr>
            <a:stCxn id="22" idx="3"/>
            <a:endCxn id="23" idx="3"/>
          </p:cNvCxnSpPr>
          <p:nvPr/>
        </p:nvCxnSpPr>
        <p:spPr>
          <a:xfrm flipV="1">
            <a:off x="10614211" y="2601509"/>
            <a:ext cx="12700" cy="2608731"/>
          </a:xfrm>
          <a:prstGeom prst="curvedConnector3">
            <a:avLst>
              <a:gd name="adj1" fmla="val 8082354"/>
            </a:avLst>
          </a:prstGeom>
          <a:ln w="1905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1" name="Picture 20"/>
          <p:cNvPicPr>
            <a:picLocks noChangeAspect="1"/>
          </p:cNvPicPr>
          <p:nvPr/>
        </p:nvPicPr>
        <p:blipFill rotWithShape="1">
          <a:blip r:embed="rId2"/>
          <a:srcRect l="2338" r="1726"/>
          <a:stretch/>
        </p:blipFill>
        <p:spPr>
          <a:xfrm>
            <a:off x="614185" y="4103097"/>
            <a:ext cx="7575319" cy="1892565"/>
          </a:xfrm>
          <a:prstGeom prst="rect">
            <a:avLst/>
          </a:prstGeom>
        </p:spPr>
      </p:pic>
      <p:sp>
        <p:nvSpPr>
          <p:cNvPr id="26" name="Rectangle 25"/>
          <p:cNvSpPr/>
          <p:nvPr/>
        </p:nvSpPr>
        <p:spPr>
          <a:xfrm>
            <a:off x="3364589" y="6113234"/>
            <a:ext cx="284009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u="sng" dirty="0" smtClean="0">
                <a:solidFill>
                  <a:schemeClr val="bg1"/>
                </a:solidFill>
              </a:rPr>
              <a:t>Bellman Equation</a:t>
            </a:r>
            <a:endParaRPr lang="en-IN" u="sng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512355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/>
          <p:cNvSpPr/>
          <p:nvPr/>
        </p:nvSpPr>
        <p:spPr>
          <a:xfrm>
            <a:off x="4179274" y="741663"/>
            <a:ext cx="284009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u="sng" dirty="0" smtClean="0">
                <a:solidFill>
                  <a:schemeClr val="bg1"/>
                </a:solidFill>
              </a:rPr>
              <a:t>Epsilon – Greedy Algorithm</a:t>
            </a:r>
            <a:endParaRPr lang="en-IN" u="sng" dirty="0">
              <a:solidFill>
                <a:schemeClr val="bg1"/>
              </a:solidFill>
            </a:endParaRPr>
          </a:p>
        </p:txBody>
      </p:sp>
      <p:cxnSp>
        <p:nvCxnSpPr>
          <p:cNvPr id="8" name="Straight Arrow Connector 7"/>
          <p:cNvCxnSpPr>
            <a:stCxn id="17" idx="2"/>
          </p:cNvCxnSpPr>
          <p:nvPr/>
        </p:nvCxnSpPr>
        <p:spPr>
          <a:xfrm flipH="1">
            <a:off x="3585883" y="1110995"/>
            <a:ext cx="2013437" cy="34128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/>
          <p:cNvCxnSpPr>
            <a:stCxn id="17" idx="2"/>
          </p:cNvCxnSpPr>
          <p:nvPr/>
        </p:nvCxnSpPr>
        <p:spPr>
          <a:xfrm>
            <a:off x="5599320" y="1110995"/>
            <a:ext cx="2056539" cy="34128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Rectangle 25"/>
          <p:cNvSpPr/>
          <p:nvPr/>
        </p:nvSpPr>
        <p:spPr>
          <a:xfrm>
            <a:off x="2759228" y="1558602"/>
            <a:ext cx="284009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dirty="0" smtClean="0">
                <a:solidFill>
                  <a:schemeClr val="bg1"/>
                </a:solidFill>
              </a:rPr>
              <a:t>Exploration</a:t>
            </a:r>
            <a:endParaRPr lang="en-IN" dirty="0">
              <a:solidFill>
                <a:schemeClr val="bg1"/>
              </a:solidFill>
            </a:endParaRPr>
          </a:p>
        </p:txBody>
      </p:sp>
      <p:sp>
        <p:nvSpPr>
          <p:cNvPr id="30" name="Rectangle 29"/>
          <p:cNvSpPr/>
          <p:nvPr/>
        </p:nvSpPr>
        <p:spPr>
          <a:xfrm>
            <a:off x="7134004" y="1533487"/>
            <a:ext cx="284009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dirty="0" smtClean="0">
                <a:solidFill>
                  <a:schemeClr val="bg1"/>
                </a:solidFill>
              </a:rPr>
              <a:t>Exploitation</a:t>
            </a:r>
            <a:endParaRPr lang="en-IN" dirty="0">
              <a:solidFill>
                <a:schemeClr val="bg1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2266168" y="2016867"/>
            <a:ext cx="3525031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Tx/>
              <a:buChar char="-"/>
            </a:pPr>
            <a:r>
              <a:rPr lang="en-GB" dirty="0" smtClean="0">
                <a:solidFill>
                  <a:schemeClr val="bg1"/>
                </a:solidFill>
              </a:rPr>
              <a:t>With probability = epsilon</a:t>
            </a:r>
          </a:p>
          <a:p>
            <a:pPr marL="285750" indent="-285750">
              <a:buFontTx/>
              <a:buChar char="-"/>
            </a:pPr>
            <a:r>
              <a:rPr lang="en-GB" dirty="0" smtClean="0">
                <a:solidFill>
                  <a:schemeClr val="bg1"/>
                </a:solidFill>
              </a:rPr>
              <a:t>Explore unknown knowledge</a:t>
            </a:r>
          </a:p>
          <a:p>
            <a:pPr marL="285750" indent="-285750">
              <a:buFontTx/>
              <a:buChar char="-"/>
            </a:pPr>
            <a:r>
              <a:rPr lang="en-GB" dirty="0">
                <a:solidFill>
                  <a:schemeClr val="bg1"/>
                </a:solidFill>
              </a:rPr>
              <a:t>Choose Random action </a:t>
            </a:r>
            <a:endParaRPr lang="en-IN" dirty="0">
              <a:solidFill>
                <a:schemeClr val="bg1"/>
              </a:solidFill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4946616" y="1359913"/>
            <a:ext cx="284009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dirty="0" smtClean="0">
                <a:solidFill>
                  <a:schemeClr val="bg1"/>
                </a:solidFill>
              </a:rPr>
              <a:t>0&lt;epsilon&lt;1</a:t>
            </a:r>
            <a:endParaRPr lang="en-IN" dirty="0">
              <a:solidFill>
                <a:schemeClr val="bg1"/>
              </a:solidFill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6515440" y="2006209"/>
            <a:ext cx="3458656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Tx/>
              <a:buChar char="-"/>
            </a:pPr>
            <a:r>
              <a:rPr lang="en-GB" dirty="0" smtClean="0">
                <a:solidFill>
                  <a:schemeClr val="bg1"/>
                </a:solidFill>
              </a:rPr>
              <a:t>With probability = 1- epsilon</a:t>
            </a:r>
          </a:p>
          <a:p>
            <a:pPr marL="285750" indent="-285750">
              <a:buFontTx/>
              <a:buChar char="-"/>
            </a:pPr>
            <a:r>
              <a:rPr lang="en-GB" dirty="0" smtClean="0">
                <a:solidFill>
                  <a:schemeClr val="bg1"/>
                </a:solidFill>
              </a:rPr>
              <a:t>Exploit current knowledge</a:t>
            </a:r>
          </a:p>
          <a:p>
            <a:pPr marL="285750" indent="-285750">
              <a:buFontTx/>
              <a:buChar char="-"/>
            </a:pPr>
            <a:r>
              <a:rPr lang="en-GB" dirty="0">
                <a:solidFill>
                  <a:schemeClr val="bg1"/>
                </a:solidFill>
              </a:rPr>
              <a:t>Choose max Q(S,A</a:t>
            </a:r>
            <a:r>
              <a:rPr lang="en-GB" dirty="0" smtClean="0">
                <a:solidFill>
                  <a:schemeClr val="bg1"/>
                </a:solidFill>
              </a:rPr>
              <a:t>)</a:t>
            </a:r>
            <a:endParaRPr lang="en-IN" dirty="0">
              <a:solidFill>
                <a:schemeClr val="bg1"/>
              </a:solidFill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1816120" y="3601404"/>
            <a:ext cx="284009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u="sng" dirty="0" smtClean="0">
                <a:solidFill>
                  <a:schemeClr val="bg1"/>
                </a:solidFill>
              </a:rPr>
              <a:t>Discount Factor(Gamma)</a:t>
            </a:r>
            <a:endParaRPr lang="en-IN" u="sng" dirty="0">
              <a:solidFill>
                <a:schemeClr val="bg1"/>
              </a:solidFill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7967721" y="3601404"/>
            <a:ext cx="284009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u="sng" dirty="0" smtClean="0">
                <a:solidFill>
                  <a:schemeClr val="bg1"/>
                </a:solidFill>
              </a:rPr>
              <a:t>Learning Rate(Alpha)</a:t>
            </a:r>
            <a:endParaRPr lang="en-IN" u="sng" dirty="0">
              <a:solidFill>
                <a:schemeClr val="bg1"/>
              </a:solidFill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1611745" y="4143384"/>
            <a:ext cx="4242207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Tx/>
              <a:buChar char="-"/>
            </a:pPr>
            <a:r>
              <a:rPr lang="en-GB" dirty="0" smtClean="0">
                <a:solidFill>
                  <a:schemeClr val="bg1"/>
                </a:solidFill>
              </a:rPr>
              <a:t>Limits agent’s ability to look far into the future.</a:t>
            </a:r>
          </a:p>
          <a:p>
            <a:pPr marL="285750" indent="-285750">
              <a:buFontTx/>
              <a:buChar char="-"/>
            </a:pPr>
            <a:r>
              <a:rPr lang="en-GB" dirty="0" smtClean="0">
                <a:solidFill>
                  <a:schemeClr val="bg1"/>
                </a:solidFill>
              </a:rPr>
              <a:t>0&lt;=Gamma&lt;=1</a:t>
            </a:r>
          </a:p>
          <a:p>
            <a:pPr marL="285750" indent="-285750">
              <a:buFontTx/>
              <a:buChar char="-"/>
            </a:pPr>
            <a:r>
              <a:rPr lang="en-GB" dirty="0" smtClean="0">
                <a:solidFill>
                  <a:schemeClr val="bg1"/>
                </a:solidFill>
              </a:rPr>
              <a:t>Gamma = 0.05 : agent is short-sighted</a:t>
            </a:r>
            <a:endParaRPr lang="en-IN" dirty="0">
              <a:solidFill>
                <a:schemeClr val="bg1"/>
              </a:solidFill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7245022" y="4143383"/>
            <a:ext cx="4256696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Tx/>
              <a:buChar char="-"/>
            </a:pPr>
            <a:r>
              <a:rPr lang="en-GB" dirty="0" smtClean="0">
                <a:solidFill>
                  <a:schemeClr val="bg1"/>
                </a:solidFill>
              </a:rPr>
              <a:t>Controls how </a:t>
            </a:r>
            <a:r>
              <a:rPr lang="en-GB" dirty="0">
                <a:solidFill>
                  <a:schemeClr val="bg1"/>
                </a:solidFill>
              </a:rPr>
              <a:t>fast or slow the agent updates its Q values after every </a:t>
            </a:r>
            <a:r>
              <a:rPr lang="en-GB" dirty="0" smtClean="0">
                <a:solidFill>
                  <a:schemeClr val="bg1"/>
                </a:solidFill>
              </a:rPr>
              <a:t>episode</a:t>
            </a:r>
          </a:p>
          <a:p>
            <a:pPr marL="285750" indent="-285750">
              <a:buFontTx/>
              <a:buChar char="-"/>
            </a:pPr>
            <a:r>
              <a:rPr lang="en-GB" dirty="0" smtClean="0">
                <a:solidFill>
                  <a:schemeClr val="bg1"/>
                </a:solidFill>
              </a:rPr>
              <a:t>0&lt;=alpha&lt;=1</a:t>
            </a:r>
          </a:p>
          <a:p>
            <a:pPr marL="285750" indent="-285750">
              <a:buFontTx/>
              <a:buChar char="-"/>
            </a:pPr>
            <a:r>
              <a:rPr lang="en-GB" dirty="0" smtClean="0">
                <a:solidFill>
                  <a:schemeClr val="bg1"/>
                </a:solidFill>
              </a:rPr>
              <a:t>Alpha = 0.9 : agent updated aggressively</a:t>
            </a:r>
          </a:p>
          <a:p>
            <a:pPr marL="285750" indent="-285750">
              <a:buFontTx/>
              <a:buChar char="-"/>
            </a:pPr>
            <a:endParaRPr lang="en-GB" dirty="0">
              <a:solidFill>
                <a:schemeClr val="bg1"/>
              </a:solidFill>
            </a:endParaRPr>
          </a:p>
          <a:p>
            <a:pPr marL="285750" indent="-285750">
              <a:buFontTx/>
              <a:buChar char="-"/>
            </a:pPr>
            <a:endParaRPr lang="en-IN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198569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109882" y="819743"/>
            <a:ext cx="1479177" cy="448235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 smtClean="0"/>
              <a:t>State</a:t>
            </a:r>
            <a:endParaRPr lang="en-IN" dirty="0"/>
          </a:p>
        </p:txBody>
      </p:sp>
      <p:sp>
        <p:nvSpPr>
          <p:cNvPr id="11" name="Rectangle 10"/>
          <p:cNvSpPr/>
          <p:nvPr/>
        </p:nvSpPr>
        <p:spPr>
          <a:xfrm>
            <a:off x="4654159" y="2070209"/>
            <a:ext cx="1479177" cy="448235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 smtClean="0"/>
              <a:t>Port Traffic</a:t>
            </a:r>
            <a:endParaRPr lang="en-IN" dirty="0"/>
          </a:p>
        </p:txBody>
      </p:sp>
      <p:sp>
        <p:nvSpPr>
          <p:cNvPr id="13" name="Rectangle 12"/>
          <p:cNvSpPr/>
          <p:nvPr/>
        </p:nvSpPr>
        <p:spPr>
          <a:xfrm>
            <a:off x="2506729" y="2079624"/>
            <a:ext cx="1723377" cy="448235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 smtClean="0"/>
              <a:t>Flood Pressure</a:t>
            </a:r>
            <a:endParaRPr lang="en-IN" dirty="0"/>
          </a:p>
        </p:txBody>
      </p:sp>
      <p:sp>
        <p:nvSpPr>
          <p:cNvPr id="16" name="Rectangle 15"/>
          <p:cNvSpPr/>
          <p:nvPr/>
        </p:nvSpPr>
        <p:spPr>
          <a:xfrm>
            <a:off x="299894" y="2079624"/>
            <a:ext cx="1855696" cy="448235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 smtClean="0"/>
              <a:t>MAC Table Entries</a:t>
            </a:r>
            <a:endParaRPr lang="en-IN" dirty="0"/>
          </a:p>
        </p:txBody>
      </p:sp>
      <p:sp>
        <p:nvSpPr>
          <p:cNvPr id="38" name="TextBox 37"/>
          <p:cNvSpPr txBox="1"/>
          <p:nvPr/>
        </p:nvSpPr>
        <p:spPr>
          <a:xfrm>
            <a:off x="336807" y="2711935"/>
            <a:ext cx="178187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Clr>
                <a:schemeClr val="bg1"/>
              </a:buClr>
              <a:buFontTx/>
              <a:buChar char="-"/>
            </a:pPr>
            <a:r>
              <a:rPr lang="en-GB" dirty="0" smtClean="0">
                <a:solidFill>
                  <a:schemeClr val="bg1"/>
                </a:solidFill>
              </a:rPr>
              <a:t>Empty</a:t>
            </a:r>
          </a:p>
          <a:p>
            <a:pPr marL="285750" indent="-285750">
              <a:buClr>
                <a:schemeClr val="bg1"/>
              </a:buClr>
              <a:buFontTx/>
              <a:buChar char="-"/>
            </a:pPr>
            <a:r>
              <a:rPr lang="en-GB" dirty="0" smtClean="0">
                <a:solidFill>
                  <a:schemeClr val="bg1"/>
                </a:solidFill>
              </a:rPr>
              <a:t>Almost full</a:t>
            </a:r>
            <a:endParaRPr lang="en-GB" dirty="0">
              <a:solidFill>
                <a:schemeClr val="bg1"/>
              </a:solidFill>
            </a:endParaRPr>
          </a:p>
          <a:p>
            <a:pPr marL="285750" indent="-285750">
              <a:buClr>
                <a:schemeClr val="bg1"/>
              </a:buClr>
              <a:buFontTx/>
              <a:buChar char="-"/>
            </a:pPr>
            <a:r>
              <a:rPr lang="en-GB" dirty="0" smtClean="0">
                <a:solidFill>
                  <a:schemeClr val="bg1"/>
                </a:solidFill>
              </a:rPr>
              <a:t>Full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593696" y="2782953"/>
            <a:ext cx="132386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Clr>
                <a:schemeClr val="bg1"/>
              </a:buClr>
              <a:buFontTx/>
              <a:buChar char="-"/>
            </a:pPr>
            <a:r>
              <a:rPr lang="en-GB" dirty="0" smtClean="0">
                <a:solidFill>
                  <a:schemeClr val="bg1"/>
                </a:solidFill>
              </a:rPr>
              <a:t>Low</a:t>
            </a:r>
          </a:p>
          <a:p>
            <a:pPr marL="285750" indent="-285750">
              <a:buClr>
                <a:schemeClr val="bg1"/>
              </a:buClr>
              <a:buFontTx/>
              <a:buChar char="-"/>
            </a:pPr>
            <a:r>
              <a:rPr lang="en-GB" dirty="0" smtClean="0">
                <a:solidFill>
                  <a:schemeClr val="bg1"/>
                </a:solidFill>
              </a:rPr>
              <a:t>Medium</a:t>
            </a:r>
          </a:p>
          <a:p>
            <a:pPr marL="285750" indent="-285750">
              <a:buClr>
                <a:schemeClr val="bg1"/>
              </a:buClr>
              <a:buFontTx/>
              <a:buChar char="-"/>
            </a:pPr>
            <a:r>
              <a:rPr lang="en-GB" dirty="0" smtClean="0">
                <a:solidFill>
                  <a:schemeClr val="bg1"/>
                </a:solidFill>
              </a:rPr>
              <a:t>High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426934" y="2696763"/>
            <a:ext cx="132386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Clr>
                <a:schemeClr val="bg1"/>
              </a:buClr>
              <a:buFontTx/>
              <a:buChar char="-"/>
            </a:pPr>
            <a:r>
              <a:rPr lang="en-GB" dirty="0" smtClean="0">
                <a:solidFill>
                  <a:schemeClr val="bg1"/>
                </a:solidFill>
              </a:rPr>
              <a:t>Fresh</a:t>
            </a:r>
          </a:p>
          <a:p>
            <a:pPr marL="285750" indent="-285750">
              <a:buClr>
                <a:schemeClr val="bg1"/>
              </a:buClr>
              <a:buFontTx/>
              <a:buChar char="-"/>
            </a:pPr>
            <a:r>
              <a:rPr lang="en-GB" dirty="0" smtClean="0">
                <a:solidFill>
                  <a:schemeClr val="bg1"/>
                </a:solidFill>
              </a:rPr>
              <a:t>Aging</a:t>
            </a:r>
          </a:p>
          <a:p>
            <a:pPr marL="285750" indent="-285750">
              <a:buClr>
                <a:schemeClr val="bg1"/>
              </a:buClr>
              <a:buFontTx/>
              <a:buChar char="-"/>
            </a:pPr>
            <a:r>
              <a:rPr lang="en-GB" dirty="0" smtClean="0">
                <a:solidFill>
                  <a:schemeClr val="bg1"/>
                </a:solidFill>
              </a:rPr>
              <a:t>Stale</a:t>
            </a:r>
          </a:p>
        </p:txBody>
      </p:sp>
      <p:cxnSp>
        <p:nvCxnSpPr>
          <p:cNvPr id="26" name="Elbow Connector 25"/>
          <p:cNvCxnSpPr>
            <a:stCxn id="2" idx="2"/>
            <a:endCxn id="16" idx="0"/>
          </p:cNvCxnSpPr>
          <p:nvPr/>
        </p:nvCxnSpPr>
        <p:spPr>
          <a:xfrm rot="5400000">
            <a:off x="3132784" y="-637063"/>
            <a:ext cx="811646" cy="4621729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Elbow Connector 28"/>
          <p:cNvCxnSpPr/>
          <p:nvPr/>
        </p:nvCxnSpPr>
        <p:spPr>
          <a:xfrm rot="5400000">
            <a:off x="4203122" y="433276"/>
            <a:ext cx="811646" cy="2481053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Elbow Connector 31"/>
          <p:cNvCxnSpPr/>
          <p:nvPr/>
        </p:nvCxnSpPr>
        <p:spPr>
          <a:xfrm rot="16200000" flipH="1">
            <a:off x="6187942" y="929505"/>
            <a:ext cx="802233" cy="1479177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299894" y="3635265"/>
            <a:ext cx="229380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Clr>
                <a:schemeClr val="bg1"/>
              </a:buClr>
            </a:pPr>
            <a:r>
              <a:rPr lang="en-GB" dirty="0" smtClean="0">
                <a:solidFill>
                  <a:schemeClr val="bg1"/>
                </a:solidFill>
              </a:rPr>
              <a:t>e.g.; known : 800</a:t>
            </a:r>
          </a:p>
          <a:p>
            <a:pPr>
              <a:buClr>
                <a:schemeClr val="bg1"/>
              </a:buClr>
            </a:pPr>
            <a:r>
              <a:rPr lang="en-GB" dirty="0" smtClean="0">
                <a:solidFill>
                  <a:schemeClr val="bg1"/>
                </a:solidFill>
              </a:rPr>
              <a:t>Capacity : 1000</a:t>
            </a:r>
          </a:p>
          <a:p>
            <a:pPr>
              <a:buClr>
                <a:schemeClr val="bg1"/>
              </a:buClr>
            </a:pPr>
            <a:r>
              <a:rPr lang="en-GB" dirty="0" smtClean="0">
                <a:solidFill>
                  <a:schemeClr val="bg1"/>
                </a:solidFill>
              </a:rPr>
              <a:t>Status : 80% filled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506729" y="3704752"/>
            <a:ext cx="2293802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Clr>
                <a:schemeClr val="bg1"/>
              </a:buClr>
            </a:pPr>
            <a:r>
              <a:rPr lang="en-GB" dirty="0" smtClean="0">
                <a:solidFill>
                  <a:schemeClr val="bg1"/>
                </a:solidFill>
              </a:rPr>
              <a:t>e.g.; </a:t>
            </a:r>
          </a:p>
          <a:p>
            <a:pPr>
              <a:buClr>
                <a:schemeClr val="bg1"/>
              </a:buClr>
            </a:pPr>
            <a:r>
              <a:rPr lang="en-GB" dirty="0" smtClean="0">
                <a:solidFill>
                  <a:schemeClr val="bg1"/>
                </a:solidFill>
              </a:rPr>
              <a:t>Total MAC = 100</a:t>
            </a:r>
          </a:p>
          <a:p>
            <a:pPr>
              <a:buClr>
                <a:schemeClr val="bg1"/>
              </a:buClr>
            </a:pPr>
            <a:r>
              <a:rPr lang="en-GB" dirty="0" smtClean="0">
                <a:solidFill>
                  <a:schemeClr val="bg1"/>
                </a:solidFill>
              </a:rPr>
              <a:t>Unknown = 70</a:t>
            </a:r>
          </a:p>
          <a:p>
            <a:pPr>
              <a:buClr>
                <a:schemeClr val="bg1"/>
              </a:buClr>
            </a:pPr>
            <a:r>
              <a:rPr lang="en-GB" dirty="0" smtClean="0">
                <a:solidFill>
                  <a:schemeClr val="bg1"/>
                </a:solidFill>
              </a:rPr>
              <a:t>So FP = 70%</a:t>
            </a:r>
          </a:p>
          <a:p>
            <a:pPr>
              <a:buClr>
                <a:schemeClr val="bg1"/>
              </a:buClr>
            </a:pPr>
            <a:r>
              <a:rPr lang="en-GB" dirty="0" smtClean="0">
                <a:solidFill>
                  <a:schemeClr val="bg1"/>
                </a:solidFill>
              </a:rPr>
              <a:t>Status : High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270183" y="3788997"/>
            <a:ext cx="205882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Clr>
                <a:schemeClr val="bg1"/>
              </a:buClr>
            </a:pPr>
            <a:r>
              <a:rPr lang="en-GB" dirty="0" smtClean="0">
                <a:solidFill>
                  <a:schemeClr val="bg1"/>
                </a:solidFill>
              </a:rPr>
              <a:t>e.g.; </a:t>
            </a:r>
            <a:r>
              <a:rPr lang="en-GB" dirty="0" err="1" smtClean="0">
                <a:solidFill>
                  <a:schemeClr val="bg1"/>
                </a:solidFill>
              </a:rPr>
              <a:t>avg</a:t>
            </a:r>
            <a:r>
              <a:rPr lang="en-GB" dirty="0" smtClean="0">
                <a:solidFill>
                  <a:schemeClr val="bg1"/>
                </a:solidFill>
              </a:rPr>
              <a:t> TTL : 180s</a:t>
            </a:r>
          </a:p>
          <a:p>
            <a:pPr>
              <a:buClr>
                <a:schemeClr val="bg1"/>
              </a:buClr>
            </a:pPr>
            <a:r>
              <a:rPr lang="en-GB" dirty="0" smtClean="0">
                <a:solidFill>
                  <a:schemeClr val="bg1"/>
                </a:solidFill>
              </a:rPr>
              <a:t>Oldest : 290s</a:t>
            </a:r>
          </a:p>
          <a:p>
            <a:pPr>
              <a:buClr>
                <a:schemeClr val="bg1"/>
              </a:buClr>
            </a:pPr>
            <a:r>
              <a:rPr lang="en-GB" dirty="0" smtClean="0">
                <a:solidFill>
                  <a:schemeClr val="bg1"/>
                </a:solidFill>
              </a:rPr>
              <a:t>Status : Aging</a:t>
            </a:r>
          </a:p>
        </p:txBody>
      </p:sp>
      <p:sp>
        <p:nvSpPr>
          <p:cNvPr id="51" name="Rectangle 50"/>
          <p:cNvSpPr/>
          <p:nvPr/>
        </p:nvSpPr>
        <p:spPr>
          <a:xfrm>
            <a:off x="8270183" y="2101880"/>
            <a:ext cx="1670323" cy="448235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 smtClean="0"/>
              <a:t>Entry Age</a:t>
            </a:r>
            <a:endParaRPr lang="en-IN" dirty="0"/>
          </a:p>
        </p:txBody>
      </p:sp>
      <p:cxnSp>
        <p:nvCxnSpPr>
          <p:cNvPr id="52" name="Elbow Connector 51"/>
          <p:cNvCxnSpPr>
            <a:endCxn id="51" idx="0"/>
          </p:cNvCxnSpPr>
          <p:nvPr/>
        </p:nvCxnSpPr>
        <p:spPr>
          <a:xfrm>
            <a:off x="5091795" y="1695584"/>
            <a:ext cx="4013550" cy="406296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Rectangle 58"/>
          <p:cNvSpPr/>
          <p:nvPr/>
        </p:nvSpPr>
        <p:spPr>
          <a:xfrm>
            <a:off x="6395625" y="2079624"/>
            <a:ext cx="1479177" cy="448235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 smtClean="0"/>
              <a:t>VLAN Info</a:t>
            </a:r>
            <a:endParaRPr lang="en-IN" dirty="0"/>
          </a:p>
        </p:txBody>
      </p:sp>
      <p:sp>
        <p:nvSpPr>
          <p:cNvPr id="60" name="Rectangle 59"/>
          <p:cNvSpPr/>
          <p:nvPr/>
        </p:nvSpPr>
        <p:spPr>
          <a:xfrm>
            <a:off x="10344699" y="2101880"/>
            <a:ext cx="1570180" cy="448235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 smtClean="0"/>
              <a:t>New MAC rate</a:t>
            </a:r>
          </a:p>
        </p:txBody>
      </p:sp>
      <p:cxnSp>
        <p:nvCxnSpPr>
          <p:cNvPr id="61" name="Elbow Connector 60"/>
          <p:cNvCxnSpPr/>
          <p:nvPr/>
        </p:nvCxnSpPr>
        <p:spPr>
          <a:xfrm>
            <a:off x="7098570" y="1687874"/>
            <a:ext cx="4013550" cy="406296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TextBox 61"/>
          <p:cNvSpPr txBox="1"/>
          <p:nvPr/>
        </p:nvSpPr>
        <p:spPr>
          <a:xfrm>
            <a:off x="4691632" y="2693060"/>
            <a:ext cx="132386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Clr>
                <a:schemeClr val="bg1"/>
              </a:buClr>
              <a:buFontTx/>
              <a:buChar char="-"/>
            </a:pPr>
            <a:r>
              <a:rPr lang="en-GB" dirty="0" smtClean="0">
                <a:solidFill>
                  <a:schemeClr val="bg1"/>
                </a:solidFill>
              </a:rPr>
              <a:t>Low</a:t>
            </a:r>
          </a:p>
          <a:p>
            <a:pPr marL="285750" indent="-285750">
              <a:buClr>
                <a:schemeClr val="bg1"/>
              </a:buClr>
              <a:buFontTx/>
              <a:buChar char="-"/>
            </a:pPr>
            <a:r>
              <a:rPr lang="en-GB" dirty="0" smtClean="0">
                <a:solidFill>
                  <a:schemeClr val="bg1"/>
                </a:solidFill>
              </a:rPr>
              <a:t>High</a:t>
            </a:r>
          </a:p>
          <a:p>
            <a:pPr marL="285750" indent="-285750">
              <a:buClr>
                <a:schemeClr val="bg1"/>
              </a:buClr>
              <a:buFontTx/>
              <a:buChar char="-"/>
            </a:pPr>
            <a:r>
              <a:rPr lang="en-GB" dirty="0" smtClean="0">
                <a:solidFill>
                  <a:schemeClr val="bg1"/>
                </a:solidFill>
              </a:rPr>
              <a:t>Medium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4721794" y="3649506"/>
            <a:ext cx="109444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Clr>
                <a:schemeClr val="bg1"/>
              </a:buClr>
            </a:pPr>
            <a:r>
              <a:rPr lang="en-GB" dirty="0" smtClean="0">
                <a:solidFill>
                  <a:schemeClr val="bg1"/>
                </a:solidFill>
              </a:rPr>
              <a:t>e.g.; </a:t>
            </a:r>
          </a:p>
          <a:p>
            <a:pPr>
              <a:buClr>
                <a:schemeClr val="bg1"/>
              </a:buClr>
            </a:pPr>
            <a:r>
              <a:rPr lang="en-GB" dirty="0" smtClean="0">
                <a:solidFill>
                  <a:schemeClr val="bg1"/>
                </a:solidFill>
              </a:rPr>
              <a:t>P1 : High</a:t>
            </a:r>
          </a:p>
          <a:p>
            <a:pPr>
              <a:buClr>
                <a:schemeClr val="bg1"/>
              </a:buClr>
            </a:pPr>
            <a:r>
              <a:rPr lang="en-GB" dirty="0" smtClean="0">
                <a:solidFill>
                  <a:schemeClr val="bg1"/>
                </a:solidFill>
              </a:rPr>
              <a:t>P2 : Low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196367" y="2696763"/>
            <a:ext cx="207381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Clr>
                <a:schemeClr val="bg1"/>
              </a:buClr>
            </a:pPr>
            <a:r>
              <a:rPr lang="en-GB" dirty="0" smtClean="0">
                <a:solidFill>
                  <a:schemeClr val="bg1"/>
                </a:solidFill>
              </a:rPr>
              <a:t>e.g.; </a:t>
            </a:r>
          </a:p>
          <a:p>
            <a:pPr>
              <a:buClr>
                <a:schemeClr val="bg1"/>
              </a:buClr>
            </a:pPr>
            <a:r>
              <a:rPr lang="en-GB" dirty="0" smtClean="0">
                <a:solidFill>
                  <a:schemeClr val="bg1"/>
                </a:solidFill>
              </a:rPr>
              <a:t>VLAN 1 : 40 devices</a:t>
            </a:r>
          </a:p>
          <a:p>
            <a:pPr>
              <a:buClr>
                <a:schemeClr val="bg1"/>
              </a:buClr>
            </a:pPr>
            <a:r>
              <a:rPr lang="en-GB" dirty="0" smtClean="0">
                <a:solidFill>
                  <a:schemeClr val="bg1"/>
                </a:solidFill>
              </a:rPr>
              <a:t>VLAN 2 : 27devices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0344699" y="2693060"/>
            <a:ext cx="132386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Clr>
                <a:schemeClr val="bg1"/>
              </a:buClr>
              <a:buFontTx/>
              <a:buChar char="-"/>
            </a:pPr>
            <a:r>
              <a:rPr lang="en-GB" dirty="0" smtClean="0">
                <a:solidFill>
                  <a:schemeClr val="bg1"/>
                </a:solidFill>
              </a:rPr>
              <a:t>Low</a:t>
            </a:r>
          </a:p>
          <a:p>
            <a:pPr marL="285750" indent="-285750">
              <a:buClr>
                <a:schemeClr val="bg1"/>
              </a:buClr>
              <a:buFontTx/>
              <a:buChar char="-"/>
            </a:pPr>
            <a:r>
              <a:rPr lang="en-GB" dirty="0" smtClean="0">
                <a:solidFill>
                  <a:schemeClr val="bg1"/>
                </a:solidFill>
              </a:rPr>
              <a:t>High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0329004" y="3489742"/>
            <a:ext cx="1665772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Clr>
                <a:schemeClr val="bg1"/>
              </a:buClr>
            </a:pPr>
            <a:r>
              <a:rPr lang="en-GB" dirty="0" smtClean="0">
                <a:solidFill>
                  <a:schemeClr val="bg1"/>
                </a:solidFill>
              </a:rPr>
              <a:t>e.g.; </a:t>
            </a:r>
          </a:p>
          <a:p>
            <a:pPr>
              <a:buClr>
                <a:schemeClr val="bg1"/>
              </a:buClr>
            </a:pPr>
            <a:r>
              <a:rPr lang="en-GB" dirty="0" smtClean="0">
                <a:solidFill>
                  <a:schemeClr val="bg1"/>
                </a:solidFill>
              </a:rPr>
              <a:t>Last 10 sec : </a:t>
            </a:r>
          </a:p>
          <a:p>
            <a:pPr>
              <a:buClr>
                <a:schemeClr val="bg1"/>
              </a:buClr>
            </a:pPr>
            <a:r>
              <a:rPr lang="en-GB" dirty="0">
                <a:solidFill>
                  <a:schemeClr val="bg1"/>
                </a:solidFill>
              </a:rPr>
              <a:t>7</a:t>
            </a:r>
            <a:r>
              <a:rPr lang="en-GB" dirty="0" smtClean="0">
                <a:solidFill>
                  <a:schemeClr val="bg1"/>
                </a:solidFill>
              </a:rPr>
              <a:t> </a:t>
            </a:r>
            <a:r>
              <a:rPr lang="en-GB" dirty="0" smtClean="0">
                <a:solidFill>
                  <a:schemeClr val="bg1"/>
                </a:solidFill>
              </a:rPr>
              <a:t>new MACs</a:t>
            </a:r>
          </a:p>
          <a:p>
            <a:pPr>
              <a:buClr>
                <a:schemeClr val="bg1"/>
              </a:buClr>
            </a:pPr>
            <a:r>
              <a:rPr lang="en-GB" dirty="0" smtClean="0">
                <a:solidFill>
                  <a:schemeClr val="bg1"/>
                </a:solidFill>
              </a:rPr>
              <a:t>So Rate : 7MAC/10 sec</a:t>
            </a:r>
          </a:p>
          <a:p>
            <a:pPr>
              <a:buClr>
                <a:schemeClr val="bg1"/>
              </a:buClr>
            </a:pPr>
            <a:r>
              <a:rPr lang="en-GB" dirty="0" smtClean="0">
                <a:solidFill>
                  <a:schemeClr val="bg1"/>
                </a:solidFill>
              </a:rPr>
              <a:t>Status : High</a:t>
            </a:r>
          </a:p>
        </p:txBody>
      </p:sp>
      <p:cxnSp>
        <p:nvCxnSpPr>
          <p:cNvPr id="67" name="Elbow Connector 66"/>
          <p:cNvCxnSpPr>
            <a:stCxn id="2" idx="2"/>
          </p:cNvCxnSpPr>
          <p:nvPr/>
        </p:nvCxnSpPr>
        <p:spPr>
          <a:xfrm rot="5400000">
            <a:off x="5220495" y="1441232"/>
            <a:ext cx="802231" cy="455722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798240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488140" y="2868706"/>
            <a:ext cx="1479177" cy="448235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 smtClean="0"/>
              <a:t>Action</a:t>
            </a:r>
            <a:endParaRPr lang="en-IN" dirty="0"/>
          </a:p>
        </p:txBody>
      </p:sp>
      <p:sp>
        <p:nvSpPr>
          <p:cNvPr id="11" name="Rectangle 10"/>
          <p:cNvSpPr/>
          <p:nvPr/>
        </p:nvSpPr>
        <p:spPr>
          <a:xfrm>
            <a:off x="4733364" y="681317"/>
            <a:ext cx="1479177" cy="448235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 smtClean="0"/>
              <a:t>LEARN_MAC</a:t>
            </a:r>
            <a:endParaRPr lang="en-IN" dirty="0"/>
          </a:p>
        </p:txBody>
      </p:sp>
      <p:sp>
        <p:nvSpPr>
          <p:cNvPr id="12" name="Rectangle 11"/>
          <p:cNvSpPr/>
          <p:nvPr/>
        </p:nvSpPr>
        <p:spPr>
          <a:xfrm>
            <a:off x="4733364" y="1649504"/>
            <a:ext cx="1479177" cy="448235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 smtClean="0"/>
              <a:t>EVICT_ENTRY</a:t>
            </a:r>
            <a:endParaRPr lang="en-IN" dirty="0"/>
          </a:p>
        </p:txBody>
      </p:sp>
      <p:sp>
        <p:nvSpPr>
          <p:cNvPr id="13" name="Rectangle 12"/>
          <p:cNvSpPr/>
          <p:nvPr/>
        </p:nvSpPr>
        <p:spPr>
          <a:xfrm>
            <a:off x="4733363" y="2599758"/>
            <a:ext cx="1479177" cy="448235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 smtClean="0"/>
              <a:t>FLOOD</a:t>
            </a:r>
            <a:endParaRPr lang="en-IN" dirty="0"/>
          </a:p>
        </p:txBody>
      </p:sp>
      <p:sp>
        <p:nvSpPr>
          <p:cNvPr id="14" name="Rectangle 13"/>
          <p:cNvSpPr/>
          <p:nvPr/>
        </p:nvSpPr>
        <p:spPr>
          <a:xfrm>
            <a:off x="4733363" y="3550012"/>
            <a:ext cx="1559861" cy="448235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 smtClean="0"/>
              <a:t>ASSIGN_MAC</a:t>
            </a:r>
            <a:endParaRPr lang="en-IN" dirty="0"/>
          </a:p>
        </p:txBody>
      </p:sp>
      <p:sp>
        <p:nvSpPr>
          <p:cNvPr id="15" name="Rectangle 14"/>
          <p:cNvSpPr/>
          <p:nvPr/>
        </p:nvSpPr>
        <p:spPr>
          <a:xfrm>
            <a:off x="4733363" y="4500266"/>
            <a:ext cx="1479177" cy="448235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 smtClean="0"/>
              <a:t>BLOCK_PORT</a:t>
            </a:r>
            <a:endParaRPr lang="en-IN" dirty="0"/>
          </a:p>
        </p:txBody>
      </p:sp>
      <p:sp>
        <p:nvSpPr>
          <p:cNvPr id="16" name="Rectangle 15"/>
          <p:cNvSpPr/>
          <p:nvPr/>
        </p:nvSpPr>
        <p:spPr>
          <a:xfrm>
            <a:off x="4733363" y="5450520"/>
            <a:ext cx="1855696" cy="448235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UPDATE_CONFIG</a:t>
            </a:r>
          </a:p>
        </p:txBody>
      </p:sp>
      <p:cxnSp>
        <p:nvCxnSpPr>
          <p:cNvPr id="17" name="Elbow Connector 16"/>
          <p:cNvCxnSpPr>
            <a:stCxn id="2" idx="3"/>
            <a:endCxn id="13" idx="1"/>
          </p:cNvCxnSpPr>
          <p:nvPr/>
        </p:nvCxnSpPr>
        <p:spPr>
          <a:xfrm flipV="1">
            <a:off x="2967317" y="2823876"/>
            <a:ext cx="1766046" cy="268948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Elbow Connector 18"/>
          <p:cNvCxnSpPr>
            <a:endCxn id="12" idx="1"/>
          </p:cNvCxnSpPr>
          <p:nvPr/>
        </p:nvCxnSpPr>
        <p:spPr>
          <a:xfrm flipV="1">
            <a:off x="2967317" y="1873622"/>
            <a:ext cx="1766047" cy="1219202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Elbow Connector 20"/>
          <p:cNvCxnSpPr/>
          <p:nvPr/>
        </p:nvCxnSpPr>
        <p:spPr>
          <a:xfrm rot="5400000" flipH="1" flipV="1">
            <a:off x="3193682" y="1562092"/>
            <a:ext cx="2196341" cy="883024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Elbow Connector 23"/>
          <p:cNvCxnSpPr/>
          <p:nvPr/>
        </p:nvCxnSpPr>
        <p:spPr>
          <a:xfrm rot="16200000" flipH="1">
            <a:off x="3267641" y="4208915"/>
            <a:ext cx="2048425" cy="883022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Elbow Connector 27"/>
          <p:cNvCxnSpPr>
            <a:endCxn id="14" idx="1"/>
          </p:cNvCxnSpPr>
          <p:nvPr/>
        </p:nvCxnSpPr>
        <p:spPr>
          <a:xfrm>
            <a:off x="2967315" y="3092824"/>
            <a:ext cx="1766048" cy="681306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Elbow Connector 30"/>
          <p:cNvCxnSpPr>
            <a:stCxn id="2" idx="3"/>
            <a:endCxn id="15" idx="1"/>
          </p:cNvCxnSpPr>
          <p:nvPr/>
        </p:nvCxnSpPr>
        <p:spPr>
          <a:xfrm>
            <a:off x="2967317" y="3092824"/>
            <a:ext cx="1766046" cy="1631560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6293224" y="760220"/>
            <a:ext cx="58631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Clr>
                <a:schemeClr val="bg1"/>
              </a:buClr>
            </a:pPr>
            <a:r>
              <a:rPr lang="en-GB" dirty="0">
                <a:solidFill>
                  <a:schemeClr val="bg1"/>
                </a:solidFill>
              </a:rPr>
              <a:t>Learn a new MAC address and store it in the table</a:t>
            </a:r>
            <a:endParaRPr lang="en-GB" dirty="0" smtClean="0">
              <a:solidFill>
                <a:schemeClr val="bg1"/>
              </a:solidFill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6293224" y="1776818"/>
            <a:ext cx="58631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Clr>
                <a:schemeClr val="bg1"/>
              </a:buClr>
            </a:pPr>
            <a:r>
              <a:rPr lang="en-GB" dirty="0">
                <a:solidFill>
                  <a:schemeClr val="bg1"/>
                </a:solidFill>
              </a:rPr>
              <a:t>Remove </a:t>
            </a:r>
            <a:r>
              <a:rPr lang="en-GB" dirty="0" smtClean="0">
                <a:solidFill>
                  <a:schemeClr val="bg1"/>
                </a:solidFill>
              </a:rPr>
              <a:t>a stale </a:t>
            </a:r>
            <a:r>
              <a:rPr lang="en-GB" dirty="0">
                <a:solidFill>
                  <a:schemeClr val="bg1"/>
                </a:solidFill>
              </a:rPr>
              <a:t>MAC entry from the table</a:t>
            </a:r>
            <a:endParaRPr lang="en-GB" dirty="0" smtClean="0">
              <a:solidFill>
                <a:schemeClr val="bg1"/>
              </a:solidFill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6293224" y="2739623"/>
            <a:ext cx="58631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Clr>
                <a:schemeClr val="bg1"/>
              </a:buClr>
            </a:pPr>
            <a:r>
              <a:rPr lang="en-GB" dirty="0" smtClean="0">
                <a:solidFill>
                  <a:schemeClr val="bg1"/>
                </a:solidFill>
              </a:rPr>
              <a:t>Flood the frame to all ports when destination is unknown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328812" y="3610974"/>
            <a:ext cx="58631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Clr>
                <a:schemeClr val="bg1"/>
              </a:buClr>
            </a:pPr>
            <a:r>
              <a:rPr lang="en-GB" dirty="0" smtClean="0">
                <a:solidFill>
                  <a:schemeClr val="bg1"/>
                </a:solidFill>
              </a:rPr>
              <a:t>Assign MAC to a specific VLAN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328812" y="4539718"/>
            <a:ext cx="58631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Clr>
                <a:schemeClr val="bg1"/>
              </a:buClr>
            </a:pPr>
            <a:r>
              <a:rPr lang="en-GB" dirty="0" smtClean="0">
                <a:solidFill>
                  <a:schemeClr val="bg1"/>
                </a:solidFill>
              </a:rPr>
              <a:t>Block port if something looks suspicious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589059" y="5576024"/>
            <a:ext cx="58631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Clr>
                <a:schemeClr val="bg1"/>
              </a:buClr>
            </a:pPr>
            <a:r>
              <a:rPr lang="en-GB" dirty="0" smtClean="0">
                <a:solidFill>
                  <a:schemeClr val="bg1"/>
                </a:solidFill>
              </a:rPr>
              <a:t>Update switch configuration in </a:t>
            </a:r>
            <a:r>
              <a:rPr lang="en-GB" dirty="0" err="1" smtClean="0">
                <a:solidFill>
                  <a:schemeClr val="bg1"/>
                </a:solidFill>
              </a:rPr>
              <a:t>Redis</a:t>
            </a:r>
            <a:endParaRPr lang="en-GB" dirty="0" smtClean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932531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87386266"/>
              </p:ext>
            </p:extLst>
          </p:nvPr>
        </p:nvGraphicFramePr>
        <p:xfrm>
          <a:off x="1346666" y="2014051"/>
          <a:ext cx="9491662" cy="3291840"/>
        </p:xfrm>
        <a:graphic>
          <a:graphicData uri="http://schemas.openxmlformats.org/drawingml/2006/table">
            <a:tbl>
              <a:tblPr/>
              <a:tblGrid>
                <a:gridCol w="6578133"/>
                <a:gridCol w="2913529"/>
              </a:tblGrid>
              <a:tr h="0">
                <a:tc>
                  <a:txBody>
                    <a:bodyPr/>
                    <a:lstStyle/>
                    <a:p>
                      <a:r>
                        <a:rPr lang="en-IN" b="1" dirty="0">
                          <a:solidFill>
                            <a:schemeClr val="bg1"/>
                          </a:solidFill>
                        </a:rPr>
                        <a:t>Situation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b="1" dirty="0">
                          <a:solidFill>
                            <a:schemeClr val="bg1"/>
                          </a:solidFill>
                        </a:rPr>
                        <a:t>Reward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50000"/>
                      </a:schemeClr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chemeClr val="bg1"/>
                          </a:solidFill>
                        </a:rPr>
                        <a:t>Correct </a:t>
                      </a:r>
                      <a:r>
                        <a:rPr lang="en-GB" dirty="0" smtClean="0">
                          <a:solidFill>
                            <a:schemeClr val="bg1"/>
                          </a:solidFill>
                        </a:rPr>
                        <a:t>MAC lookup and delivery</a:t>
                      </a:r>
                      <a:endParaRPr lang="en-GB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solidFill>
                            <a:schemeClr val="bg1"/>
                          </a:solidFill>
                        </a:rPr>
                        <a:t>+1.0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GB" dirty="0" smtClean="0">
                          <a:solidFill>
                            <a:schemeClr val="bg1"/>
                          </a:solidFill>
                        </a:rPr>
                        <a:t>Flooding Avoided</a:t>
                      </a:r>
                      <a:endParaRPr lang="en-GB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solidFill>
                            <a:schemeClr val="bg1"/>
                          </a:solidFill>
                        </a:rPr>
                        <a:t>+0.8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GB" dirty="0" smtClean="0">
                          <a:solidFill>
                            <a:schemeClr val="bg1"/>
                          </a:solidFill>
                        </a:rPr>
                        <a:t>Preventive entry removal before table overflow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 smtClean="0">
                          <a:solidFill>
                            <a:schemeClr val="bg1"/>
                          </a:solidFill>
                        </a:rPr>
                        <a:t>+0.3</a:t>
                      </a:r>
                      <a:endParaRPr lang="en-IN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GB" dirty="0" smtClean="0">
                          <a:solidFill>
                            <a:schemeClr val="bg1"/>
                          </a:solidFill>
                        </a:rPr>
                        <a:t>Necessary</a:t>
                      </a:r>
                      <a:r>
                        <a:rPr lang="en-GB" baseline="0" dirty="0" smtClean="0">
                          <a:solidFill>
                            <a:schemeClr val="bg1"/>
                          </a:solidFill>
                        </a:rPr>
                        <a:t> flooding (Unknown MAC)</a:t>
                      </a:r>
                      <a:endParaRPr lang="en-GB" dirty="0" smtClean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 smtClean="0">
                          <a:solidFill>
                            <a:schemeClr val="bg1"/>
                          </a:solidFill>
                        </a:rPr>
                        <a:t>−0.1</a:t>
                      </a:r>
                      <a:endParaRPr lang="en-IN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IN" dirty="0" smtClean="0">
                          <a:solidFill>
                            <a:schemeClr val="bg1"/>
                          </a:solidFill>
                        </a:rPr>
                        <a:t>Unnecessary flooding of frame </a:t>
                      </a:r>
                      <a:endParaRPr lang="en-GB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 smtClean="0">
                          <a:solidFill>
                            <a:schemeClr val="bg1"/>
                          </a:solidFill>
                        </a:rPr>
                        <a:t>−1</a:t>
                      </a:r>
                      <a:endParaRPr lang="en-IN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GB" dirty="0" smtClean="0">
                          <a:solidFill>
                            <a:schemeClr val="bg1"/>
                          </a:solidFill>
                        </a:rPr>
                        <a:t>Wrong port delivery due to stale entry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 smtClean="0">
                          <a:solidFill>
                            <a:schemeClr val="bg1"/>
                          </a:solidFill>
                        </a:rPr>
                        <a:t>−</a:t>
                      </a:r>
                      <a:r>
                        <a:rPr lang="en-GB" dirty="0" smtClean="0">
                          <a:solidFill>
                            <a:schemeClr val="bg1"/>
                          </a:solidFill>
                        </a:rPr>
                        <a:t>0.5</a:t>
                      </a:r>
                      <a:endParaRPr lang="en-IN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GB" dirty="0" smtClean="0">
                          <a:solidFill>
                            <a:schemeClr val="bg1"/>
                          </a:solidFill>
                        </a:rPr>
                        <a:t>Early removal of active entry (useful entry)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 smtClean="0">
                          <a:solidFill>
                            <a:schemeClr val="bg1"/>
                          </a:solidFill>
                        </a:rPr>
                        <a:t>−0.3</a:t>
                      </a:r>
                      <a:endParaRPr lang="en-IN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GB" dirty="0" smtClean="0">
                          <a:solidFill>
                            <a:schemeClr val="bg1"/>
                          </a:solidFill>
                        </a:rPr>
                        <a:t>Table</a:t>
                      </a:r>
                      <a:r>
                        <a:rPr lang="en-GB" baseline="0" dirty="0" smtClean="0">
                          <a:solidFill>
                            <a:schemeClr val="bg1"/>
                          </a:solidFill>
                        </a:rPr>
                        <a:t> overflow </a:t>
                      </a:r>
                      <a:endParaRPr lang="en-GB" dirty="0" smtClean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 smtClean="0">
                          <a:solidFill>
                            <a:schemeClr val="bg1"/>
                          </a:solidFill>
                        </a:rPr>
                        <a:t>−0.7</a:t>
                      </a:r>
                      <a:endParaRPr lang="en-IN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546265" y="1349099"/>
            <a:ext cx="30826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Clr>
                <a:schemeClr val="bg1"/>
              </a:buClr>
            </a:pPr>
            <a:r>
              <a:rPr lang="en-IN" dirty="0" smtClean="0">
                <a:solidFill>
                  <a:schemeClr val="bg1"/>
                </a:solidFill>
              </a:rPr>
              <a:t>REWARD</a:t>
            </a:r>
            <a:endParaRPr lang="en-GB" dirty="0" smtClean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637984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45900564"/>
              </p:ext>
            </p:extLst>
          </p:nvPr>
        </p:nvGraphicFramePr>
        <p:xfrm>
          <a:off x="1409179" y="889232"/>
          <a:ext cx="9479176" cy="47548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36162"/>
                <a:gridCol w="1918447"/>
                <a:gridCol w="1882588"/>
                <a:gridCol w="1079475"/>
                <a:gridCol w="1107914"/>
                <a:gridCol w="1299882"/>
                <a:gridCol w="1654708"/>
              </a:tblGrid>
              <a:tr h="370840">
                <a:tc>
                  <a:txBody>
                    <a:bodyPr/>
                    <a:lstStyle/>
                    <a:p>
                      <a:endParaRPr lang="en-IN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 smtClean="0">
                          <a:solidFill>
                            <a:schemeClr val="bg1"/>
                          </a:solidFill>
                        </a:rPr>
                        <a:t>MAC Table Entries</a:t>
                      </a:r>
                      <a:endParaRPr lang="en-IN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 smtClean="0">
                          <a:solidFill>
                            <a:schemeClr val="bg1"/>
                          </a:solidFill>
                        </a:rPr>
                        <a:t>Flood Pressure</a:t>
                      </a:r>
                      <a:endParaRPr lang="en-IN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 smtClean="0">
                          <a:solidFill>
                            <a:schemeClr val="bg1"/>
                          </a:solidFill>
                        </a:rPr>
                        <a:t>Port Traffic</a:t>
                      </a:r>
                      <a:endParaRPr lang="en-IN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 smtClean="0">
                          <a:solidFill>
                            <a:schemeClr val="bg1"/>
                          </a:solidFill>
                        </a:rPr>
                        <a:t>VLAN Info</a:t>
                      </a:r>
                      <a:endParaRPr lang="en-IN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 smtClean="0">
                          <a:solidFill>
                            <a:schemeClr val="bg1"/>
                          </a:solidFill>
                        </a:rPr>
                        <a:t>Entry Age</a:t>
                      </a:r>
                      <a:endParaRPr lang="en-IN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 smtClean="0">
                          <a:solidFill>
                            <a:schemeClr val="bg1"/>
                          </a:solidFill>
                        </a:rPr>
                        <a:t>New MAC Rate</a:t>
                      </a:r>
                      <a:endParaRPr lang="en-IN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5999">
                <a:tc>
                  <a:txBody>
                    <a:bodyPr/>
                    <a:lstStyle/>
                    <a:p>
                      <a:r>
                        <a:rPr lang="en-IN" dirty="0" smtClean="0">
                          <a:solidFill>
                            <a:schemeClr val="bg1"/>
                          </a:solidFill>
                        </a:rPr>
                        <a:t>S1</a:t>
                      </a:r>
                      <a:endParaRPr lang="en-IN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 smtClean="0">
                          <a:solidFill>
                            <a:schemeClr val="bg1"/>
                          </a:solidFill>
                        </a:rPr>
                        <a:t>0% filled</a:t>
                      </a:r>
                      <a:endParaRPr lang="en-IN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 smtClean="0">
                          <a:solidFill>
                            <a:schemeClr val="bg1"/>
                          </a:solidFill>
                        </a:rPr>
                        <a:t>High</a:t>
                      </a:r>
                      <a:br>
                        <a:rPr lang="en-IN" dirty="0" smtClean="0">
                          <a:solidFill>
                            <a:schemeClr val="bg1"/>
                          </a:solidFill>
                        </a:rPr>
                      </a:br>
                      <a:r>
                        <a:rPr lang="en-IN" dirty="0" smtClean="0">
                          <a:solidFill>
                            <a:schemeClr val="bg1"/>
                          </a:solidFill>
                        </a:rPr>
                        <a:t>total</a:t>
                      </a:r>
                      <a:r>
                        <a:rPr lang="en-IN" baseline="0" dirty="0" smtClean="0">
                          <a:solidFill>
                            <a:schemeClr val="bg1"/>
                          </a:solidFill>
                        </a:rPr>
                        <a:t> MAC = 0</a:t>
                      </a:r>
                    </a:p>
                    <a:p>
                      <a:r>
                        <a:rPr lang="en-IN" baseline="0" dirty="0" smtClean="0">
                          <a:solidFill>
                            <a:schemeClr val="bg1"/>
                          </a:solidFill>
                        </a:rPr>
                        <a:t>Unknown = 100</a:t>
                      </a:r>
                      <a:endParaRPr lang="en-IN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 smtClean="0">
                          <a:solidFill>
                            <a:schemeClr val="bg1"/>
                          </a:solidFill>
                        </a:rPr>
                        <a:t>P1 :low</a:t>
                      </a:r>
                    </a:p>
                    <a:p>
                      <a:r>
                        <a:rPr lang="en-IN" dirty="0" smtClean="0">
                          <a:solidFill>
                            <a:schemeClr val="bg1"/>
                          </a:solidFill>
                        </a:rPr>
                        <a:t>P2 :low</a:t>
                      </a:r>
                      <a:endParaRPr lang="en-IN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 smtClean="0">
                          <a:solidFill>
                            <a:schemeClr val="bg1"/>
                          </a:solidFill>
                        </a:rPr>
                        <a:t>1 : 0</a:t>
                      </a:r>
                      <a:r>
                        <a:rPr lang="en-IN" baseline="0" dirty="0" smtClean="0">
                          <a:solidFill>
                            <a:schemeClr val="bg1"/>
                          </a:solidFill>
                        </a:rPr>
                        <a:t> devices</a:t>
                      </a:r>
                    </a:p>
                    <a:p>
                      <a:r>
                        <a:rPr lang="en-IN" baseline="0" dirty="0" smtClean="0">
                          <a:solidFill>
                            <a:schemeClr val="bg1"/>
                          </a:solidFill>
                        </a:rPr>
                        <a:t>2 : 0 devices</a:t>
                      </a:r>
                      <a:endParaRPr lang="en-IN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 smtClean="0">
                          <a:solidFill>
                            <a:schemeClr val="bg1"/>
                          </a:solidFill>
                        </a:rPr>
                        <a:t>Fresh</a:t>
                      </a:r>
                    </a:p>
                    <a:p>
                      <a:r>
                        <a:rPr lang="en-IN" dirty="0" err="1" smtClean="0">
                          <a:solidFill>
                            <a:schemeClr val="bg1"/>
                          </a:solidFill>
                        </a:rPr>
                        <a:t>Avg</a:t>
                      </a:r>
                      <a:r>
                        <a:rPr lang="en-IN" dirty="0" smtClean="0">
                          <a:solidFill>
                            <a:schemeClr val="bg1"/>
                          </a:solidFill>
                        </a:rPr>
                        <a:t> TTL :</a:t>
                      </a:r>
                      <a:r>
                        <a:rPr lang="en-IN" baseline="0" dirty="0" smtClean="0">
                          <a:solidFill>
                            <a:schemeClr val="bg1"/>
                          </a:solidFill>
                        </a:rPr>
                        <a:t> 300s</a:t>
                      </a:r>
                    </a:p>
                    <a:p>
                      <a:r>
                        <a:rPr lang="en-IN" baseline="0" dirty="0" smtClean="0">
                          <a:solidFill>
                            <a:schemeClr val="bg1"/>
                          </a:solidFill>
                        </a:rPr>
                        <a:t>Oldest : 0s</a:t>
                      </a:r>
                      <a:endParaRPr lang="en-IN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 smtClean="0">
                          <a:solidFill>
                            <a:schemeClr val="bg1"/>
                          </a:solidFill>
                        </a:rPr>
                        <a:t>High</a:t>
                      </a:r>
                    </a:p>
                    <a:p>
                      <a:r>
                        <a:rPr lang="en-IN" dirty="0" smtClean="0">
                          <a:solidFill>
                            <a:schemeClr val="bg1"/>
                          </a:solidFill>
                        </a:rPr>
                        <a:t>10/10sec</a:t>
                      </a:r>
                      <a:endParaRPr lang="en-IN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 smtClean="0">
                          <a:solidFill>
                            <a:schemeClr val="bg1"/>
                          </a:solidFill>
                        </a:rPr>
                        <a:t>S2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 smtClean="0">
                          <a:solidFill>
                            <a:schemeClr val="bg1"/>
                          </a:solidFill>
                        </a:rPr>
                        <a:t>80% filled</a:t>
                      </a:r>
                      <a:endParaRPr lang="en-IN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 smtClean="0">
                          <a:solidFill>
                            <a:schemeClr val="bg1"/>
                          </a:solidFill>
                        </a:rPr>
                        <a:t>Low</a:t>
                      </a:r>
                    </a:p>
                    <a:p>
                      <a:r>
                        <a:rPr lang="en-IN" dirty="0" smtClean="0">
                          <a:solidFill>
                            <a:schemeClr val="bg1"/>
                          </a:solidFill>
                        </a:rPr>
                        <a:t>total</a:t>
                      </a:r>
                      <a:r>
                        <a:rPr lang="en-IN" baseline="0" dirty="0" smtClean="0">
                          <a:solidFill>
                            <a:schemeClr val="bg1"/>
                          </a:solidFill>
                        </a:rPr>
                        <a:t> MAC = 0</a:t>
                      </a:r>
                    </a:p>
                    <a:p>
                      <a:r>
                        <a:rPr lang="en-IN" baseline="0" dirty="0" smtClean="0">
                          <a:solidFill>
                            <a:schemeClr val="bg1"/>
                          </a:solidFill>
                        </a:rPr>
                        <a:t>Unknown = 100</a:t>
                      </a:r>
                      <a:endParaRPr lang="en-IN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 smtClean="0">
                          <a:solidFill>
                            <a:schemeClr val="bg1"/>
                          </a:solidFill>
                        </a:rPr>
                        <a:t>P1 :mid P2 :low</a:t>
                      </a:r>
                      <a:endParaRPr lang="en-IN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 smtClean="0">
                          <a:solidFill>
                            <a:schemeClr val="bg1"/>
                          </a:solidFill>
                        </a:rPr>
                        <a:t>1 : 40</a:t>
                      </a:r>
                      <a:r>
                        <a:rPr lang="en-IN" baseline="0" dirty="0" smtClean="0">
                          <a:solidFill>
                            <a:schemeClr val="bg1"/>
                          </a:solidFill>
                        </a:rPr>
                        <a:t> devices</a:t>
                      </a:r>
                    </a:p>
                    <a:p>
                      <a:r>
                        <a:rPr lang="en-IN" baseline="0" dirty="0" smtClean="0">
                          <a:solidFill>
                            <a:schemeClr val="bg1"/>
                          </a:solidFill>
                        </a:rPr>
                        <a:t>2 : 27 devices</a:t>
                      </a:r>
                      <a:endParaRPr lang="en-IN" dirty="0" smtClean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 smtClean="0">
                          <a:solidFill>
                            <a:schemeClr val="bg1"/>
                          </a:solidFill>
                        </a:rPr>
                        <a:t>Aging</a:t>
                      </a:r>
                    </a:p>
                    <a:p>
                      <a:r>
                        <a:rPr lang="en-IN" dirty="0" err="1" smtClean="0">
                          <a:solidFill>
                            <a:schemeClr val="bg1"/>
                          </a:solidFill>
                        </a:rPr>
                        <a:t>Avg</a:t>
                      </a:r>
                      <a:r>
                        <a:rPr lang="en-IN" dirty="0" smtClean="0">
                          <a:solidFill>
                            <a:schemeClr val="bg1"/>
                          </a:solidFill>
                        </a:rPr>
                        <a:t> TTL :</a:t>
                      </a:r>
                      <a:r>
                        <a:rPr lang="en-IN" baseline="0" dirty="0" smtClean="0">
                          <a:solidFill>
                            <a:schemeClr val="bg1"/>
                          </a:solidFill>
                        </a:rPr>
                        <a:t> 180s</a:t>
                      </a:r>
                    </a:p>
                    <a:p>
                      <a:r>
                        <a:rPr lang="en-IN" baseline="0" dirty="0" smtClean="0">
                          <a:solidFill>
                            <a:schemeClr val="bg1"/>
                          </a:solidFill>
                        </a:rPr>
                        <a:t>Oldest : 290s</a:t>
                      </a:r>
                      <a:endParaRPr lang="en-IN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 smtClean="0">
                          <a:solidFill>
                            <a:schemeClr val="bg1"/>
                          </a:solidFill>
                        </a:rPr>
                        <a:t>Low</a:t>
                      </a:r>
                    </a:p>
                    <a:p>
                      <a:r>
                        <a:rPr lang="en-IN" dirty="0" smtClean="0">
                          <a:solidFill>
                            <a:schemeClr val="bg1"/>
                          </a:solidFill>
                        </a:rPr>
                        <a:t>2/10</a:t>
                      </a:r>
                      <a:r>
                        <a:rPr lang="en-IN" baseline="0" dirty="0" smtClean="0">
                          <a:solidFill>
                            <a:schemeClr val="bg1"/>
                          </a:solidFill>
                        </a:rPr>
                        <a:t>sec</a:t>
                      </a:r>
                      <a:endParaRPr lang="en-IN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 smtClean="0">
                          <a:solidFill>
                            <a:schemeClr val="bg1"/>
                          </a:solidFill>
                        </a:rPr>
                        <a:t>S3</a:t>
                      </a:r>
                      <a:endParaRPr lang="en-IN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 smtClean="0">
                          <a:solidFill>
                            <a:schemeClr val="bg1"/>
                          </a:solidFill>
                        </a:rPr>
                        <a:t>100% filled</a:t>
                      </a:r>
                      <a:endParaRPr lang="en-IN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 smtClean="0">
                          <a:solidFill>
                            <a:schemeClr val="bg1"/>
                          </a:solidFill>
                        </a:rPr>
                        <a:t>High</a:t>
                      </a:r>
                    </a:p>
                    <a:p>
                      <a:r>
                        <a:rPr lang="en-IN" dirty="0" smtClean="0">
                          <a:solidFill>
                            <a:schemeClr val="bg1"/>
                          </a:solidFill>
                        </a:rPr>
                        <a:t>total</a:t>
                      </a:r>
                      <a:r>
                        <a:rPr lang="en-IN" baseline="0" dirty="0" smtClean="0">
                          <a:solidFill>
                            <a:schemeClr val="bg1"/>
                          </a:solidFill>
                        </a:rPr>
                        <a:t> MAC = 100</a:t>
                      </a:r>
                    </a:p>
                    <a:p>
                      <a:r>
                        <a:rPr lang="en-IN" baseline="0" dirty="0" smtClean="0">
                          <a:solidFill>
                            <a:schemeClr val="bg1"/>
                          </a:solidFill>
                        </a:rPr>
                        <a:t>Unknown = 70</a:t>
                      </a:r>
                      <a:endParaRPr lang="en-IN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 smtClean="0">
                          <a:solidFill>
                            <a:schemeClr val="bg1"/>
                          </a:solidFill>
                        </a:rPr>
                        <a:t>P1 :high</a:t>
                      </a:r>
                    </a:p>
                    <a:p>
                      <a:r>
                        <a:rPr lang="en-IN" dirty="0" smtClean="0">
                          <a:solidFill>
                            <a:schemeClr val="bg1"/>
                          </a:solidFill>
                        </a:rPr>
                        <a:t>P2 :high</a:t>
                      </a:r>
                      <a:endParaRPr lang="en-IN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 smtClean="0">
                          <a:solidFill>
                            <a:schemeClr val="bg1"/>
                          </a:solidFill>
                        </a:rPr>
                        <a:t>1 : 60</a:t>
                      </a:r>
                      <a:r>
                        <a:rPr lang="en-IN" baseline="0" dirty="0" smtClean="0">
                          <a:solidFill>
                            <a:schemeClr val="bg1"/>
                          </a:solidFill>
                        </a:rPr>
                        <a:t> devices</a:t>
                      </a:r>
                    </a:p>
                    <a:p>
                      <a:r>
                        <a:rPr lang="en-IN" baseline="0" dirty="0" smtClean="0">
                          <a:solidFill>
                            <a:schemeClr val="bg1"/>
                          </a:solidFill>
                        </a:rPr>
                        <a:t>2 : 40 devices</a:t>
                      </a:r>
                      <a:endParaRPr lang="en-IN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 smtClean="0">
                          <a:solidFill>
                            <a:schemeClr val="bg1"/>
                          </a:solidFill>
                        </a:rPr>
                        <a:t>Stale</a:t>
                      </a:r>
                    </a:p>
                    <a:p>
                      <a:r>
                        <a:rPr lang="en-IN" dirty="0" err="1" smtClean="0">
                          <a:solidFill>
                            <a:schemeClr val="bg1"/>
                          </a:solidFill>
                        </a:rPr>
                        <a:t>Avg</a:t>
                      </a:r>
                      <a:r>
                        <a:rPr lang="en-IN" dirty="0" smtClean="0">
                          <a:solidFill>
                            <a:schemeClr val="bg1"/>
                          </a:solidFill>
                        </a:rPr>
                        <a:t> TTL :</a:t>
                      </a:r>
                      <a:r>
                        <a:rPr lang="en-IN" baseline="0" dirty="0" smtClean="0">
                          <a:solidFill>
                            <a:schemeClr val="bg1"/>
                          </a:solidFill>
                        </a:rPr>
                        <a:t> 20s</a:t>
                      </a:r>
                    </a:p>
                    <a:p>
                      <a:r>
                        <a:rPr lang="en-IN" baseline="0" dirty="0" smtClean="0">
                          <a:solidFill>
                            <a:schemeClr val="bg1"/>
                          </a:solidFill>
                        </a:rPr>
                        <a:t>Oldest : 400s</a:t>
                      </a:r>
                      <a:endParaRPr lang="en-IN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 smtClean="0">
                          <a:solidFill>
                            <a:schemeClr val="bg1"/>
                          </a:solidFill>
                        </a:rPr>
                        <a:t>High</a:t>
                      </a:r>
                    </a:p>
                    <a:p>
                      <a:r>
                        <a:rPr lang="en-IN" dirty="0" smtClean="0">
                          <a:solidFill>
                            <a:schemeClr val="bg1"/>
                          </a:solidFill>
                        </a:rPr>
                        <a:t>15/10sec</a:t>
                      </a:r>
                      <a:endParaRPr lang="en-IN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271129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42499355"/>
              </p:ext>
            </p:extLst>
          </p:nvPr>
        </p:nvGraphicFramePr>
        <p:xfrm>
          <a:off x="1171388" y="1160760"/>
          <a:ext cx="9406965" cy="14833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13537"/>
                <a:gridCol w="1576839"/>
                <a:gridCol w="1730189"/>
                <a:gridCol w="1089687"/>
                <a:gridCol w="936336"/>
                <a:gridCol w="1488141"/>
                <a:gridCol w="1972236"/>
              </a:tblGrid>
              <a:tr h="370840">
                <a:tc>
                  <a:txBody>
                    <a:bodyPr/>
                    <a:lstStyle/>
                    <a:p>
                      <a:endParaRPr lang="en-IN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 smtClean="0">
                          <a:solidFill>
                            <a:schemeClr val="bg1"/>
                          </a:solidFill>
                        </a:rPr>
                        <a:t>LEARN_MAC</a:t>
                      </a:r>
                      <a:endParaRPr lang="en-IN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dirty="0" smtClean="0">
                          <a:solidFill>
                            <a:schemeClr val="bg1"/>
                          </a:solidFill>
                        </a:rPr>
                        <a:t>EVICT_ENTRY</a:t>
                      </a:r>
                      <a:endParaRPr lang="en-IN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 smtClean="0">
                          <a:solidFill>
                            <a:schemeClr val="bg1"/>
                          </a:solidFill>
                        </a:rPr>
                        <a:t>FLOOD</a:t>
                      </a:r>
                      <a:endParaRPr lang="en-IN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 smtClean="0">
                          <a:solidFill>
                            <a:schemeClr val="bg1"/>
                          </a:solidFill>
                        </a:rPr>
                        <a:t>ASSIGN</a:t>
                      </a:r>
                      <a:endParaRPr lang="en-IN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 smtClean="0">
                          <a:solidFill>
                            <a:schemeClr val="bg1"/>
                          </a:solidFill>
                        </a:rPr>
                        <a:t>BLOCK_PORT</a:t>
                      </a:r>
                      <a:endParaRPr lang="en-IN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 smtClean="0">
                          <a:solidFill>
                            <a:schemeClr val="bg1"/>
                          </a:solidFill>
                        </a:rPr>
                        <a:t>UPDATE_CONFIG</a:t>
                      </a:r>
                      <a:endParaRPr lang="en-IN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 smtClean="0">
                          <a:solidFill>
                            <a:schemeClr val="bg1"/>
                          </a:solidFill>
                        </a:rPr>
                        <a:t>S1</a:t>
                      </a:r>
                      <a:endParaRPr lang="en-IN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 smtClean="0">
                          <a:solidFill>
                            <a:schemeClr val="bg1"/>
                          </a:solidFill>
                        </a:rPr>
                        <a:t>0</a:t>
                      </a:r>
                      <a:endParaRPr lang="en-IN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 smtClean="0">
                          <a:solidFill>
                            <a:schemeClr val="bg1"/>
                          </a:solidFill>
                        </a:rPr>
                        <a:t>0</a:t>
                      </a:r>
                      <a:endParaRPr lang="en-IN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 smtClean="0">
                          <a:solidFill>
                            <a:schemeClr val="bg1"/>
                          </a:solidFill>
                        </a:rPr>
                        <a:t>0</a:t>
                      </a:r>
                      <a:endParaRPr lang="en-IN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 smtClean="0">
                          <a:solidFill>
                            <a:schemeClr val="bg1"/>
                          </a:solidFill>
                        </a:rPr>
                        <a:t>0</a:t>
                      </a:r>
                      <a:endParaRPr lang="en-IN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 smtClean="0">
                          <a:solidFill>
                            <a:schemeClr val="bg1"/>
                          </a:solidFill>
                        </a:rPr>
                        <a:t>0</a:t>
                      </a:r>
                      <a:endParaRPr lang="en-IN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 smtClean="0">
                          <a:solidFill>
                            <a:schemeClr val="bg1"/>
                          </a:solidFill>
                        </a:rPr>
                        <a:t>0</a:t>
                      </a:r>
                      <a:endParaRPr lang="en-IN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 smtClean="0">
                          <a:solidFill>
                            <a:schemeClr val="bg1"/>
                          </a:solidFill>
                        </a:rPr>
                        <a:t>S2</a:t>
                      </a:r>
                      <a:endParaRPr lang="en-IN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 smtClean="0">
                          <a:solidFill>
                            <a:schemeClr val="bg1"/>
                          </a:solidFill>
                        </a:rPr>
                        <a:t>0</a:t>
                      </a:r>
                      <a:endParaRPr lang="en-IN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 smtClean="0">
                          <a:solidFill>
                            <a:schemeClr val="bg1"/>
                          </a:solidFill>
                        </a:rPr>
                        <a:t>0</a:t>
                      </a:r>
                      <a:endParaRPr lang="en-IN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 smtClean="0">
                          <a:solidFill>
                            <a:schemeClr val="bg1"/>
                          </a:solidFill>
                        </a:rPr>
                        <a:t>0</a:t>
                      </a:r>
                      <a:endParaRPr lang="en-IN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 smtClean="0">
                          <a:solidFill>
                            <a:schemeClr val="bg1"/>
                          </a:solidFill>
                        </a:rPr>
                        <a:t>0</a:t>
                      </a:r>
                      <a:endParaRPr lang="en-IN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 smtClean="0">
                          <a:solidFill>
                            <a:schemeClr val="bg1"/>
                          </a:solidFill>
                        </a:rPr>
                        <a:t>0</a:t>
                      </a:r>
                      <a:endParaRPr lang="en-IN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 smtClean="0">
                          <a:solidFill>
                            <a:schemeClr val="bg1"/>
                          </a:solidFill>
                        </a:rPr>
                        <a:t>0</a:t>
                      </a:r>
                      <a:endParaRPr lang="en-IN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 smtClean="0">
                          <a:solidFill>
                            <a:schemeClr val="bg1"/>
                          </a:solidFill>
                        </a:rPr>
                        <a:t>S3</a:t>
                      </a:r>
                      <a:endParaRPr lang="en-IN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 smtClean="0">
                          <a:solidFill>
                            <a:schemeClr val="bg1"/>
                          </a:solidFill>
                        </a:rPr>
                        <a:t>0</a:t>
                      </a:r>
                      <a:endParaRPr lang="en-IN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 smtClean="0">
                          <a:solidFill>
                            <a:schemeClr val="bg1"/>
                          </a:solidFill>
                        </a:rPr>
                        <a:t>0</a:t>
                      </a:r>
                      <a:endParaRPr lang="en-IN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 smtClean="0">
                          <a:solidFill>
                            <a:schemeClr val="bg1"/>
                          </a:solidFill>
                        </a:rPr>
                        <a:t>0</a:t>
                      </a:r>
                      <a:endParaRPr lang="en-IN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 smtClean="0">
                          <a:solidFill>
                            <a:schemeClr val="bg1"/>
                          </a:solidFill>
                        </a:rPr>
                        <a:t>0</a:t>
                      </a:r>
                      <a:endParaRPr lang="en-IN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 smtClean="0">
                          <a:solidFill>
                            <a:schemeClr val="bg1"/>
                          </a:solidFill>
                        </a:rPr>
                        <a:t>0</a:t>
                      </a:r>
                      <a:endParaRPr lang="en-IN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 smtClean="0">
                          <a:solidFill>
                            <a:schemeClr val="bg1"/>
                          </a:solidFill>
                        </a:rPr>
                        <a:t>0</a:t>
                      </a:r>
                      <a:endParaRPr lang="en-IN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85826143"/>
              </p:ext>
            </p:extLst>
          </p:nvPr>
        </p:nvGraphicFramePr>
        <p:xfrm>
          <a:off x="1171388" y="4564967"/>
          <a:ext cx="9406965" cy="14782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13537"/>
                <a:gridCol w="1576839"/>
                <a:gridCol w="1730189"/>
                <a:gridCol w="1089687"/>
                <a:gridCol w="936336"/>
                <a:gridCol w="1488141"/>
                <a:gridCol w="1972236"/>
              </a:tblGrid>
              <a:tr h="364365">
                <a:tc>
                  <a:txBody>
                    <a:bodyPr/>
                    <a:lstStyle/>
                    <a:p>
                      <a:endParaRPr lang="en-IN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 smtClean="0">
                          <a:solidFill>
                            <a:schemeClr val="bg1"/>
                          </a:solidFill>
                        </a:rPr>
                        <a:t>LEARN_MAC</a:t>
                      </a:r>
                      <a:endParaRPr lang="en-IN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dirty="0" smtClean="0">
                          <a:solidFill>
                            <a:schemeClr val="bg1"/>
                          </a:solidFill>
                        </a:rPr>
                        <a:t>EVICT_ENTRY</a:t>
                      </a:r>
                      <a:endParaRPr lang="en-IN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 smtClean="0">
                          <a:solidFill>
                            <a:schemeClr val="bg1"/>
                          </a:solidFill>
                        </a:rPr>
                        <a:t>FLOOD</a:t>
                      </a:r>
                      <a:endParaRPr lang="en-IN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 smtClean="0">
                          <a:solidFill>
                            <a:schemeClr val="bg1"/>
                          </a:solidFill>
                        </a:rPr>
                        <a:t>ASSIGN</a:t>
                      </a:r>
                      <a:endParaRPr lang="en-IN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 smtClean="0">
                          <a:solidFill>
                            <a:schemeClr val="bg1"/>
                          </a:solidFill>
                        </a:rPr>
                        <a:t>BLOCK_PORT</a:t>
                      </a:r>
                      <a:endParaRPr lang="en-IN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 smtClean="0">
                          <a:solidFill>
                            <a:schemeClr val="bg1"/>
                          </a:solidFill>
                        </a:rPr>
                        <a:t>UPDATE_CONFIG</a:t>
                      </a:r>
                      <a:endParaRPr lang="en-IN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 smtClean="0">
                          <a:solidFill>
                            <a:schemeClr val="bg1"/>
                          </a:solidFill>
                        </a:rPr>
                        <a:t>S1</a:t>
                      </a:r>
                      <a:endParaRPr lang="en-IN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 smtClean="0">
                          <a:solidFill>
                            <a:schemeClr val="bg1"/>
                          </a:solidFill>
                        </a:rPr>
                        <a:t>0</a:t>
                      </a:r>
                      <a:endParaRPr lang="en-IN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 smtClean="0">
                          <a:solidFill>
                            <a:schemeClr val="bg1"/>
                          </a:solidFill>
                        </a:rPr>
                        <a:t>0</a:t>
                      </a:r>
                      <a:endParaRPr lang="en-IN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 smtClean="0">
                          <a:solidFill>
                            <a:schemeClr val="bg1"/>
                          </a:solidFill>
                        </a:rPr>
                        <a:t>-0.1</a:t>
                      </a:r>
                      <a:endParaRPr lang="en-IN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 smtClean="0">
                          <a:solidFill>
                            <a:schemeClr val="bg1"/>
                          </a:solidFill>
                        </a:rPr>
                        <a:t>0</a:t>
                      </a:r>
                      <a:endParaRPr lang="en-IN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 smtClean="0">
                          <a:solidFill>
                            <a:schemeClr val="bg1"/>
                          </a:solidFill>
                        </a:rPr>
                        <a:t>0</a:t>
                      </a:r>
                      <a:endParaRPr lang="en-IN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 smtClean="0">
                          <a:solidFill>
                            <a:schemeClr val="bg1"/>
                          </a:solidFill>
                        </a:rPr>
                        <a:t>0</a:t>
                      </a:r>
                      <a:endParaRPr lang="en-IN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 smtClean="0">
                          <a:solidFill>
                            <a:schemeClr val="bg1"/>
                          </a:solidFill>
                        </a:rPr>
                        <a:t>S2</a:t>
                      </a:r>
                      <a:endParaRPr lang="en-IN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 smtClean="0">
                          <a:solidFill>
                            <a:schemeClr val="bg1"/>
                          </a:solidFill>
                        </a:rPr>
                        <a:t>0</a:t>
                      </a:r>
                      <a:endParaRPr lang="en-IN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 smtClean="0">
                          <a:solidFill>
                            <a:schemeClr val="bg1"/>
                          </a:solidFill>
                        </a:rPr>
                        <a:t>0</a:t>
                      </a:r>
                      <a:endParaRPr lang="en-IN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 smtClean="0">
                          <a:solidFill>
                            <a:schemeClr val="bg1"/>
                          </a:solidFill>
                        </a:rPr>
                        <a:t>0</a:t>
                      </a:r>
                      <a:endParaRPr lang="en-IN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 smtClean="0">
                          <a:solidFill>
                            <a:schemeClr val="bg1"/>
                          </a:solidFill>
                        </a:rPr>
                        <a:t>0</a:t>
                      </a:r>
                      <a:endParaRPr lang="en-IN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 smtClean="0">
                          <a:solidFill>
                            <a:schemeClr val="bg1"/>
                          </a:solidFill>
                        </a:rPr>
                        <a:t>0</a:t>
                      </a:r>
                      <a:endParaRPr lang="en-IN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 smtClean="0">
                          <a:solidFill>
                            <a:schemeClr val="bg1"/>
                          </a:solidFill>
                        </a:rPr>
                        <a:t>0</a:t>
                      </a:r>
                      <a:endParaRPr lang="en-IN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 smtClean="0">
                          <a:solidFill>
                            <a:schemeClr val="bg1"/>
                          </a:solidFill>
                        </a:rPr>
                        <a:t>S3</a:t>
                      </a:r>
                      <a:endParaRPr lang="en-IN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 smtClean="0">
                          <a:solidFill>
                            <a:schemeClr val="bg1"/>
                          </a:solidFill>
                        </a:rPr>
                        <a:t>0</a:t>
                      </a:r>
                      <a:endParaRPr lang="en-IN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 smtClean="0">
                          <a:solidFill>
                            <a:schemeClr val="bg1"/>
                          </a:solidFill>
                        </a:rPr>
                        <a:t>0</a:t>
                      </a:r>
                      <a:endParaRPr lang="en-IN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 smtClean="0">
                          <a:solidFill>
                            <a:schemeClr val="bg1"/>
                          </a:solidFill>
                        </a:rPr>
                        <a:t>0</a:t>
                      </a:r>
                      <a:endParaRPr lang="en-IN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 smtClean="0">
                          <a:solidFill>
                            <a:schemeClr val="bg1"/>
                          </a:solidFill>
                        </a:rPr>
                        <a:t>0</a:t>
                      </a:r>
                      <a:endParaRPr lang="en-IN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 smtClean="0">
                          <a:solidFill>
                            <a:schemeClr val="bg1"/>
                          </a:solidFill>
                        </a:rPr>
                        <a:t>0</a:t>
                      </a:r>
                      <a:endParaRPr lang="en-IN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 smtClean="0">
                          <a:solidFill>
                            <a:schemeClr val="bg1"/>
                          </a:solidFill>
                        </a:rPr>
                        <a:t>0</a:t>
                      </a:r>
                      <a:endParaRPr lang="en-IN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1129552" y="3421028"/>
            <a:ext cx="4745318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dirty="0" smtClean="0">
                <a:solidFill>
                  <a:schemeClr val="bg1"/>
                </a:solidFill>
              </a:rPr>
              <a:t>Q(S1, FLOOD) </a:t>
            </a:r>
            <a:r>
              <a:rPr lang="en-IN" dirty="0">
                <a:solidFill>
                  <a:schemeClr val="bg1"/>
                </a:solidFill>
              </a:rPr>
              <a:t>= 0 + 0.1 × [ −1 + 0.9 × 0 − 0 ]</a:t>
            </a:r>
          </a:p>
          <a:p>
            <a:r>
              <a:rPr lang="en-IN" dirty="0" smtClean="0">
                <a:solidFill>
                  <a:schemeClr val="bg1"/>
                </a:solidFill>
              </a:rPr>
              <a:t>			= </a:t>
            </a:r>
            <a:r>
              <a:rPr lang="en-IN" dirty="0">
                <a:solidFill>
                  <a:schemeClr val="bg1"/>
                </a:solidFill>
              </a:rPr>
              <a:t>0 + 0.1 × [ −1 ]</a:t>
            </a:r>
          </a:p>
          <a:p>
            <a:pPr lvl="1"/>
            <a:r>
              <a:rPr lang="en-IN" dirty="0" smtClean="0">
                <a:solidFill>
                  <a:schemeClr val="bg1"/>
                </a:solidFill>
              </a:rPr>
              <a:t>		= </a:t>
            </a:r>
            <a:r>
              <a:rPr lang="en-IN" dirty="0">
                <a:solidFill>
                  <a:schemeClr val="bg1"/>
                </a:solidFill>
              </a:rPr>
              <a:t>−0.1</a:t>
            </a:r>
          </a:p>
          <a:p>
            <a:endParaRPr lang="en-IN" dirty="0">
              <a:solidFill>
                <a:schemeClr val="bg1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1129552" y="660618"/>
            <a:ext cx="474531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dirty="0" smtClean="0">
                <a:solidFill>
                  <a:schemeClr val="bg1"/>
                </a:solidFill>
              </a:rPr>
              <a:t>Initially :</a:t>
            </a:r>
            <a:endParaRPr lang="en-IN" dirty="0">
              <a:solidFill>
                <a:schemeClr val="bg1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901952" y="3069668"/>
            <a:ext cx="308262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Clr>
                <a:schemeClr val="bg1"/>
              </a:buClr>
            </a:pPr>
            <a:r>
              <a:rPr lang="en-IN" dirty="0" smtClean="0">
                <a:solidFill>
                  <a:schemeClr val="bg1"/>
                </a:solidFill>
              </a:rPr>
              <a:t>Assuming :</a:t>
            </a:r>
          </a:p>
          <a:p>
            <a:pPr>
              <a:buClr>
                <a:schemeClr val="bg1"/>
              </a:buClr>
            </a:pPr>
            <a:r>
              <a:rPr lang="en-IN" dirty="0" smtClean="0">
                <a:solidFill>
                  <a:schemeClr val="bg1"/>
                </a:solidFill>
              </a:rPr>
              <a:t>Learning Rate : 0.1</a:t>
            </a:r>
          </a:p>
          <a:p>
            <a:pPr>
              <a:buClr>
                <a:schemeClr val="bg1"/>
              </a:buClr>
            </a:pPr>
            <a:r>
              <a:rPr lang="en-GB" dirty="0" smtClean="0">
                <a:solidFill>
                  <a:schemeClr val="bg1"/>
                </a:solidFill>
              </a:rPr>
              <a:t>Discount Factor : 0.9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129552" y="2921119"/>
            <a:ext cx="6096000" cy="369332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pt-BR" dirty="0">
                <a:solidFill>
                  <a:schemeClr val="bg1"/>
                </a:solidFill>
              </a:rPr>
              <a:t>Q(S,A) ← Q(S,A) + α × [ R + γ · max Q(S′,A′) − Q(S,A) </a:t>
            </a:r>
            <a:r>
              <a:rPr lang="pt-BR" dirty="0" smtClean="0">
                <a:solidFill>
                  <a:schemeClr val="bg1"/>
                </a:solidFill>
              </a:rPr>
              <a:t>]</a:t>
            </a:r>
            <a:endParaRPr lang="en-IN" dirty="0">
              <a:solidFill>
                <a:schemeClr val="bg1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685297" y="3069668"/>
            <a:ext cx="308262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Clr>
                <a:schemeClr val="bg1"/>
              </a:buClr>
            </a:pPr>
            <a:r>
              <a:rPr lang="en-GB" dirty="0" smtClean="0">
                <a:solidFill>
                  <a:schemeClr val="bg1"/>
                </a:solidFill>
              </a:rPr>
              <a:t>Here,</a:t>
            </a:r>
          </a:p>
          <a:p>
            <a:pPr>
              <a:buClr>
                <a:schemeClr val="bg1"/>
              </a:buClr>
            </a:pPr>
            <a:r>
              <a:rPr lang="en-GB" dirty="0" smtClean="0">
                <a:solidFill>
                  <a:schemeClr val="bg1"/>
                </a:solidFill>
              </a:rPr>
              <a:t>R = -1 (Flooding)</a:t>
            </a:r>
            <a:endParaRPr lang="en-IN" dirty="0" smtClean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244275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74895761"/>
              </p:ext>
            </p:extLst>
          </p:nvPr>
        </p:nvGraphicFramePr>
        <p:xfrm>
          <a:off x="1048870" y="4061010"/>
          <a:ext cx="9406965" cy="14782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13537"/>
                <a:gridCol w="1576839"/>
                <a:gridCol w="1730189"/>
                <a:gridCol w="1089687"/>
                <a:gridCol w="936336"/>
                <a:gridCol w="1488141"/>
                <a:gridCol w="1972236"/>
              </a:tblGrid>
              <a:tr h="364365">
                <a:tc>
                  <a:txBody>
                    <a:bodyPr/>
                    <a:lstStyle/>
                    <a:p>
                      <a:endParaRPr lang="en-IN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 smtClean="0">
                          <a:solidFill>
                            <a:schemeClr val="bg1"/>
                          </a:solidFill>
                        </a:rPr>
                        <a:t>LEARN_MAC</a:t>
                      </a:r>
                      <a:endParaRPr lang="en-IN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dirty="0" smtClean="0">
                          <a:solidFill>
                            <a:schemeClr val="bg1"/>
                          </a:solidFill>
                        </a:rPr>
                        <a:t>EVICT_ENTRY</a:t>
                      </a:r>
                      <a:endParaRPr lang="en-IN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 smtClean="0">
                          <a:solidFill>
                            <a:schemeClr val="bg1"/>
                          </a:solidFill>
                        </a:rPr>
                        <a:t>FLOOD</a:t>
                      </a:r>
                      <a:endParaRPr lang="en-IN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 smtClean="0">
                          <a:solidFill>
                            <a:schemeClr val="bg1"/>
                          </a:solidFill>
                        </a:rPr>
                        <a:t>ASSIGN</a:t>
                      </a:r>
                      <a:endParaRPr lang="en-IN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 smtClean="0">
                          <a:solidFill>
                            <a:schemeClr val="bg1"/>
                          </a:solidFill>
                        </a:rPr>
                        <a:t>BLOCK_PORT</a:t>
                      </a:r>
                      <a:endParaRPr lang="en-IN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 smtClean="0">
                          <a:solidFill>
                            <a:schemeClr val="bg1"/>
                          </a:solidFill>
                        </a:rPr>
                        <a:t>UPDATE_CONFIG</a:t>
                      </a:r>
                      <a:endParaRPr lang="en-IN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 smtClean="0">
                          <a:solidFill>
                            <a:schemeClr val="bg1"/>
                          </a:solidFill>
                        </a:rPr>
                        <a:t>S1</a:t>
                      </a:r>
                      <a:endParaRPr lang="en-IN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 smtClean="0">
                          <a:solidFill>
                            <a:schemeClr val="bg1"/>
                          </a:solidFill>
                        </a:rPr>
                        <a:t>0</a:t>
                      </a:r>
                      <a:endParaRPr lang="en-IN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 smtClean="0">
                          <a:solidFill>
                            <a:schemeClr val="bg1"/>
                          </a:solidFill>
                        </a:rPr>
                        <a:t>0</a:t>
                      </a:r>
                      <a:endParaRPr lang="en-IN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 smtClean="0">
                          <a:solidFill>
                            <a:schemeClr val="bg1"/>
                          </a:solidFill>
                        </a:rPr>
                        <a:t>-0.1</a:t>
                      </a:r>
                      <a:endParaRPr lang="en-IN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 smtClean="0">
                          <a:solidFill>
                            <a:schemeClr val="bg1"/>
                          </a:solidFill>
                        </a:rPr>
                        <a:t>0</a:t>
                      </a:r>
                      <a:endParaRPr lang="en-IN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 smtClean="0">
                          <a:solidFill>
                            <a:schemeClr val="bg1"/>
                          </a:solidFill>
                        </a:rPr>
                        <a:t>0</a:t>
                      </a:r>
                      <a:endParaRPr lang="en-IN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 smtClean="0">
                          <a:solidFill>
                            <a:schemeClr val="bg1"/>
                          </a:solidFill>
                        </a:rPr>
                        <a:t>0</a:t>
                      </a:r>
                      <a:endParaRPr lang="en-IN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 smtClean="0">
                          <a:solidFill>
                            <a:schemeClr val="bg1"/>
                          </a:solidFill>
                        </a:rPr>
                        <a:t>S2</a:t>
                      </a:r>
                      <a:endParaRPr lang="en-IN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 smtClean="0">
                          <a:solidFill>
                            <a:schemeClr val="bg1"/>
                          </a:solidFill>
                        </a:rPr>
                        <a:t>0.1</a:t>
                      </a:r>
                      <a:endParaRPr lang="en-IN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 smtClean="0">
                          <a:solidFill>
                            <a:schemeClr val="bg1"/>
                          </a:solidFill>
                        </a:rPr>
                        <a:t>0</a:t>
                      </a:r>
                      <a:endParaRPr lang="en-IN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dirty="0" smtClean="0">
                          <a:solidFill>
                            <a:schemeClr val="bg1"/>
                          </a:solidFill>
                        </a:rPr>
                        <a:t>0</a:t>
                      </a:r>
                      <a:endParaRPr lang="en-IN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 smtClean="0">
                          <a:solidFill>
                            <a:schemeClr val="bg1"/>
                          </a:solidFill>
                        </a:rPr>
                        <a:t>0</a:t>
                      </a:r>
                      <a:endParaRPr lang="en-IN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 smtClean="0">
                          <a:solidFill>
                            <a:schemeClr val="bg1"/>
                          </a:solidFill>
                        </a:rPr>
                        <a:t>0</a:t>
                      </a:r>
                      <a:endParaRPr lang="en-IN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 smtClean="0">
                          <a:solidFill>
                            <a:schemeClr val="bg1"/>
                          </a:solidFill>
                        </a:rPr>
                        <a:t>0</a:t>
                      </a:r>
                      <a:endParaRPr lang="en-IN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 smtClean="0">
                          <a:solidFill>
                            <a:schemeClr val="bg1"/>
                          </a:solidFill>
                        </a:rPr>
                        <a:t>S3</a:t>
                      </a:r>
                      <a:endParaRPr lang="en-IN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 smtClean="0">
                          <a:solidFill>
                            <a:schemeClr val="bg1"/>
                          </a:solidFill>
                        </a:rPr>
                        <a:t>0</a:t>
                      </a:r>
                      <a:endParaRPr lang="en-IN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 smtClean="0">
                          <a:solidFill>
                            <a:schemeClr val="bg1"/>
                          </a:solidFill>
                        </a:rPr>
                        <a:t>0</a:t>
                      </a:r>
                      <a:endParaRPr lang="en-IN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 smtClean="0">
                          <a:solidFill>
                            <a:schemeClr val="bg1"/>
                          </a:solidFill>
                        </a:rPr>
                        <a:t>0</a:t>
                      </a:r>
                      <a:endParaRPr lang="en-IN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 smtClean="0">
                          <a:solidFill>
                            <a:schemeClr val="bg1"/>
                          </a:solidFill>
                        </a:rPr>
                        <a:t>0</a:t>
                      </a:r>
                      <a:endParaRPr lang="en-IN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 smtClean="0">
                          <a:solidFill>
                            <a:schemeClr val="bg1"/>
                          </a:solidFill>
                        </a:rPr>
                        <a:t>0</a:t>
                      </a:r>
                      <a:endParaRPr lang="en-IN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 smtClean="0">
                          <a:solidFill>
                            <a:schemeClr val="bg1"/>
                          </a:solidFill>
                        </a:rPr>
                        <a:t>0</a:t>
                      </a:r>
                      <a:endParaRPr lang="en-IN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1048870" y="2796770"/>
            <a:ext cx="527124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it-IT" dirty="0" smtClean="0">
                <a:solidFill>
                  <a:schemeClr val="bg1"/>
                </a:solidFill>
              </a:rPr>
              <a:t>Q(S2, LEARN_MAC) </a:t>
            </a:r>
            <a:r>
              <a:rPr lang="it-IT" dirty="0">
                <a:solidFill>
                  <a:schemeClr val="bg1"/>
                </a:solidFill>
              </a:rPr>
              <a:t>= </a:t>
            </a:r>
            <a:r>
              <a:rPr lang="en-IN" dirty="0">
                <a:solidFill>
                  <a:schemeClr val="bg1"/>
                </a:solidFill>
              </a:rPr>
              <a:t>0+0.1[1+0.9(0)−0</a:t>
            </a:r>
            <a:r>
              <a:rPr lang="en-IN" dirty="0" smtClean="0">
                <a:solidFill>
                  <a:schemeClr val="bg1"/>
                </a:solidFill>
              </a:rPr>
              <a:t>]</a:t>
            </a:r>
          </a:p>
          <a:p>
            <a:r>
              <a:rPr lang="en-IN" dirty="0">
                <a:solidFill>
                  <a:schemeClr val="bg1"/>
                </a:solidFill>
              </a:rPr>
              <a:t>	</a:t>
            </a:r>
            <a:r>
              <a:rPr lang="en-IN" dirty="0" smtClean="0">
                <a:solidFill>
                  <a:schemeClr val="bg1"/>
                </a:solidFill>
              </a:rPr>
              <a:t>		        = 0.1</a:t>
            </a:r>
            <a:endParaRPr lang="en-IN" dirty="0">
              <a:solidFill>
                <a:schemeClr val="bg1"/>
              </a:solidFill>
            </a:endParaRPr>
          </a:p>
        </p:txBody>
      </p:sp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78993613"/>
              </p:ext>
            </p:extLst>
          </p:nvPr>
        </p:nvGraphicFramePr>
        <p:xfrm>
          <a:off x="1120587" y="700581"/>
          <a:ext cx="9406965" cy="14782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13537"/>
                <a:gridCol w="1576839"/>
                <a:gridCol w="1730189"/>
                <a:gridCol w="1089687"/>
                <a:gridCol w="936336"/>
                <a:gridCol w="1488141"/>
                <a:gridCol w="1972236"/>
              </a:tblGrid>
              <a:tr h="364365">
                <a:tc>
                  <a:txBody>
                    <a:bodyPr/>
                    <a:lstStyle/>
                    <a:p>
                      <a:endParaRPr lang="en-IN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 smtClean="0">
                          <a:solidFill>
                            <a:schemeClr val="bg1"/>
                          </a:solidFill>
                        </a:rPr>
                        <a:t>LEARN_MAC</a:t>
                      </a:r>
                      <a:endParaRPr lang="en-IN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dirty="0" smtClean="0">
                          <a:solidFill>
                            <a:schemeClr val="bg1"/>
                          </a:solidFill>
                        </a:rPr>
                        <a:t>EVICT_ENTRY</a:t>
                      </a:r>
                      <a:endParaRPr lang="en-IN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 smtClean="0">
                          <a:solidFill>
                            <a:schemeClr val="bg1"/>
                          </a:solidFill>
                        </a:rPr>
                        <a:t>FLOOD</a:t>
                      </a:r>
                      <a:endParaRPr lang="en-IN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 smtClean="0">
                          <a:solidFill>
                            <a:schemeClr val="bg1"/>
                          </a:solidFill>
                        </a:rPr>
                        <a:t>ASSIGN</a:t>
                      </a:r>
                      <a:endParaRPr lang="en-IN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 smtClean="0">
                          <a:solidFill>
                            <a:schemeClr val="bg1"/>
                          </a:solidFill>
                        </a:rPr>
                        <a:t>BLOCK_PORT</a:t>
                      </a:r>
                      <a:endParaRPr lang="en-IN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 smtClean="0">
                          <a:solidFill>
                            <a:schemeClr val="bg1"/>
                          </a:solidFill>
                        </a:rPr>
                        <a:t>UPDATE_CONFIG</a:t>
                      </a:r>
                      <a:endParaRPr lang="en-IN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 smtClean="0">
                          <a:solidFill>
                            <a:schemeClr val="bg1"/>
                          </a:solidFill>
                        </a:rPr>
                        <a:t>S1</a:t>
                      </a:r>
                      <a:endParaRPr lang="en-IN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 smtClean="0">
                          <a:solidFill>
                            <a:schemeClr val="bg1"/>
                          </a:solidFill>
                        </a:rPr>
                        <a:t>0</a:t>
                      </a:r>
                      <a:endParaRPr lang="en-IN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 smtClean="0">
                          <a:solidFill>
                            <a:schemeClr val="bg1"/>
                          </a:solidFill>
                        </a:rPr>
                        <a:t>0</a:t>
                      </a:r>
                      <a:endParaRPr lang="en-IN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 smtClean="0">
                          <a:solidFill>
                            <a:schemeClr val="bg1"/>
                          </a:solidFill>
                        </a:rPr>
                        <a:t>-0.1</a:t>
                      </a:r>
                      <a:endParaRPr lang="en-IN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dirty="0" smtClean="0">
                          <a:solidFill>
                            <a:schemeClr val="bg1"/>
                          </a:solidFill>
                        </a:rPr>
                        <a:t>0</a:t>
                      </a:r>
                      <a:endParaRPr lang="en-IN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 smtClean="0">
                          <a:solidFill>
                            <a:schemeClr val="bg1"/>
                          </a:solidFill>
                        </a:rPr>
                        <a:t>0</a:t>
                      </a:r>
                      <a:endParaRPr lang="en-IN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 smtClean="0">
                          <a:solidFill>
                            <a:schemeClr val="bg1"/>
                          </a:solidFill>
                        </a:rPr>
                        <a:t>0</a:t>
                      </a:r>
                      <a:endParaRPr lang="en-IN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 smtClean="0">
                          <a:solidFill>
                            <a:schemeClr val="bg1"/>
                          </a:solidFill>
                        </a:rPr>
                        <a:t>S2</a:t>
                      </a:r>
                      <a:endParaRPr lang="en-IN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 smtClean="0">
                          <a:solidFill>
                            <a:schemeClr val="bg1"/>
                          </a:solidFill>
                        </a:rPr>
                        <a:t>0</a:t>
                      </a:r>
                      <a:endParaRPr lang="en-IN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 smtClean="0">
                          <a:solidFill>
                            <a:schemeClr val="bg1"/>
                          </a:solidFill>
                        </a:rPr>
                        <a:t>0</a:t>
                      </a:r>
                      <a:endParaRPr lang="en-IN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 smtClean="0">
                          <a:solidFill>
                            <a:schemeClr val="bg1"/>
                          </a:solidFill>
                        </a:rPr>
                        <a:t>0</a:t>
                      </a:r>
                      <a:endParaRPr lang="en-IN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 smtClean="0">
                          <a:solidFill>
                            <a:schemeClr val="bg1"/>
                          </a:solidFill>
                        </a:rPr>
                        <a:t>0</a:t>
                      </a:r>
                      <a:endParaRPr lang="en-IN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 smtClean="0">
                          <a:solidFill>
                            <a:schemeClr val="bg1"/>
                          </a:solidFill>
                        </a:rPr>
                        <a:t>0</a:t>
                      </a:r>
                      <a:endParaRPr lang="en-IN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 smtClean="0">
                          <a:solidFill>
                            <a:schemeClr val="bg1"/>
                          </a:solidFill>
                        </a:rPr>
                        <a:t>0</a:t>
                      </a:r>
                      <a:endParaRPr lang="en-IN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 smtClean="0">
                          <a:solidFill>
                            <a:schemeClr val="bg1"/>
                          </a:solidFill>
                        </a:rPr>
                        <a:t>S3</a:t>
                      </a:r>
                      <a:endParaRPr lang="en-IN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 smtClean="0">
                          <a:solidFill>
                            <a:schemeClr val="bg1"/>
                          </a:solidFill>
                        </a:rPr>
                        <a:t>0</a:t>
                      </a:r>
                      <a:endParaRPr lang="en-IN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 smtClean="0">
                          <a:solidFill>
                            <a:schemeClr val="bg1"/>
                          </a:solidFill>
                        </a:rPr>
                        <a:t>0</a:t>
                      </a:r>
                      <a:endParaRPr lang="en-IN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 smtClean="0">
                          <a:solidFill>
                            <a:schemeClr val="bg1"/>
                          </a:solidFill>
                        </a:rPr>
                        <a:t>0</a:t>
                      </a:r>
                      <a:endParaRPr lang="en-IN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 smtClean="0">
                          <a:solidFill>
                            <a:schemeClr val="bg1"/>
                          </a:solidFill>
                        </a:rPr>
                        <a:t>0</a:t>
                      </a:r>
                      <a:endParaRPr lang="en-IN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 smtClean="0">
                          <a:solidFill>
                            <a:schemeClr val="bg1"/>
                          </a:solidFill>
                        </a:rPr>
                        <a:t>0</a:t>
                      </a:r>
                      <a:endParaRPr lang="en-IN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 smtClean="0">
                          <a:solidFill>
                            <a:schemeClr val="bg1"/>
                          </a:solidFill>
                        </a:rPr>
                        <a:t>0</a:t>
                      </a:r>
                      <a:endParaRPr lang="en-IN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030873" y="2796770"/>
            <a:ext cx="442496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Clr>
                <a:schemeClr val="bg1"/>
              </a:buClr>
            </a:pPr>
            <a:r>
              <a:rPr lang="en-GB" dirty="0" smtClean="0">
                <a:solidFill>
                  <a:schemeClr val="bg1"/>
                </a:solidFill>
              </a:rPr>
              <a:t>Here,</a:t>
            </a:r>
          </a:p>
          <a:p>
            <a:pPr>
              <a:buClr>
                <a:schemeClr val="bg1"/>
              </a:buClr>
            </a:pPr>
            <a:r>
              <a:rPr lang="en-GB" dirty="0" smtClean="0">
                <a:solidFill>
                  <a:schemeClr val="bg1"/>
                </a:solidFill>
              </a:rPr>
              <a:t>R = </a:t>
            </a:r>
            <a:r>
              <a:rPr lang="en-GB" dirty="0">
                <a:solidFill>
                  <a:schemeClr val="bg1"/>
                </a:solidFill>
              </a:rPr>
              <a:t>1 (Correct MAC lookup and </a:t>
            </a:r>
            <a:r>
              <a:rPr lang="en-GB" dirty="0" smtClean="0">
                <a:solidFill>
                  <a:schemeClr val="bg1"/>
                </a:solidFill>
              </a:rPr>
              <a:t>delivery)</a:t>
            </a:r>
            <a:endParaRPr lang="en-IN" dirty="0" smtClean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077776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91689323"/>
              </p:ext>
            </p:extLst>
          </p:nvPr>
        </p:nvGraphicFramePr>
        <p:xfrm>
          <a:off x="1048870" y="4186964"/>
          <a:ext cx="9406965" cy="14782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13537"/>
                <a:gridCol w="1576839"/>
                <a:gridCol w="1730189"/>
                <a:gridCol w="1089687"/>
                <a:gridCol w="936336"/>
                <a:gridCol w="1488141"/>
                <a:gridCol w="1972236"/>
              </a:tblGrid>
              <a:tr h="364365">
                <a:tc>
                  <a:txBody>
                    <a:bodyPr/>
                    <a:lstStyle/>
                    <a:p>
                      <a:endParaRPr lang="en-IN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 smtClean="0">
                          <a:solidFill>
                            <a:schemeClr val="bg1"/>
                          </a:solidFill>
                        </a:rPr>
                        <a:t>LEARN_MAC</a:t>
                      </a:r>
                      <a:endParaRPr lang="en-IN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dirty="0" smtClean="0">
                          <a:solidFill>
                            <a:schemeClr val="bg1"/>
                          </a:solidFill>
                        </a:rPr>
                        <a:t>EVICT_ENTRY</a:t>
                      </a:r>
                      <a:endParaRPr lang="en-IN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 smtClean="0">
                          <a:solidFill>
                            <a:schemeClr val="bg1"/>
                          </a:solidFill>
                        </a:rPr>
                        <a:t>FLOOD</a:t>
                      </a:r>
                      <a:endParaRPr lang="en-IN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 smtClean="0">
                          <a:solidFill>
                            <a:schemeClr val="bg1"/>
                          </a:solidFill>
                        </a:rPr>
                        <a:t>ASSIGN</a:t>
                      </a:r>
                      <a:endParaRPr lang="en-IN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 smtClean="0">
                          <a:solidFill>
                            <a:schemeClr val="bg1"/>
                          </a:solidFill>
                        </a:rPr>
                        <a:t>BLOCK_PORT</a:t>
                      </a:r>
                      <a:endParaRPr lang="en-IN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 smtClean="0">
                          <a:solidFill>
                            <a:schemeClr val="bg1"/>
                          </a:solidFill>
                        </a:rPr>
                        <a:t>UPDATE_CONFIG</a:t>
                      </a:r>
                      <a:endParaRPr lang="en-IN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 smtClean="0">
                          <a:solidFill>
                            <a:schemeClr val="bg1"/>
                          </a:solidFill>
                        </a:rPr>
                        <a:t>S1</a:t>
                      </a:r>
                      <a:endParaRPr lang="en-IN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 smtClean="0">
                          <a:solidFill>
                            <a:schemeClr val="bg1"/>
                          </a:solidFill>
                        </a:rPr>
                        <a:t>0</a:t>
                      </a:r>
                      <a:endParaRPr lang="en-IN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 smtClean="0">
                          <a:solidFill>
                            <a:schemeClr val="bg1"/>
                          </a:solidFill>
                        </a:rPr>
                        <a:t>0</a:t>
                      </a:r>
                      <a:endParaRPr lang="en-IN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 smtClean="0">
                          <a:solidFill>
                            <a:schemeClr val="bg1"/>
                          </a:solidFill>
                        </a:rPr>
                        <a:t>-0.1</a:t>
                      </a:r>
                      <a:endParaRPr lang="en-IN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dirty="0" smtClean="0">
                          <a:solidFill>
                            <a:schemeClr val="bg1"/>
                          </a:solidFill>
                        </a:rPr>
                        <a:t>0.21</a:t>
                      </a:r>
                      <a:endParaRPr lang="en-IN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 smtClean="0">
                          <a:solidFill>
                            <a:schemeClr val="bg1"/>
                          </a:solidFill>
                        </a:rPr>
                        <a:t>0</a:t>
                      </a:r>
                      <a:endParaRPr lang="en-IN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 smtClean="0">
                          <a:solidFill>
                            <a:schemeClr val="bg1"/>
                          </a:solidFill>
                        </a:rPr>
                        <a:t>0</a:t>
                      </a:r>
                      <a:endParaRPr lang="en-IN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 smtClean="0">
                          <a:solidFill>
                            <a:schemeClr val="bg1"/>
                          </a:solidFill>
                        </a:rPr>
                        <a:t>S2</a:t>
                      </a:r>
                      <a:endParaRPr lang="en-IN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 smtClean="0">
                          <a:solidFill>
                            <a:schemeClr val="bg1"/>
                          </a:solidFill>
                        </a:rPr>
                        <a:t>0.1</a:t>
                      </a:r>
                      <a:endParaRPr lang="en-IN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 smtClean="0">
                          <a:solidFill>
                            <a:schemeClr val="bg1"/>
                          </a:solidFill>
                        </a:rPr>
                        <a:t>0</a:t>
                      </a:r>
                      <a:endParaRPr lang="en-IN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 smtClean="0">
                          <a:solidFill>
                            <a:schemeClr val="bg1"/>
                          </a:solidFill>
                        </a:rPr>
                        <a:t>0</a:t>
                      </a:r>
                      <a:endParaRPr lang="en-IN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 smtClean="0">
                          <a:solidFill>
                            <a:schemeClr val="bg1"/>
                          </a:solidFill>
                        </a:rPr>
                        <a:t>0</a:t>
                      </a:r>
                      <a:endParaRPr lang="en-IN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dirty="0" smtClean="0">
                          <a:solidFill>
                            <a:schemeClr val="bg1"/>
                          </a:solidFill>
                        </a:rPr>
                        <a:t>0</a:t>
                      </a:r>
                      <a:endParaRPr lang="en-IN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 smtClean="0">
                          <a:solidFill>
                            <a:schemeClr val="bg1"/>
                          </a:solidFill>
                        </a:rPr>
                        <a:t>0</a:t>
                      </a:r>
                      <a:endParaRPr lang="en-IN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 smtClean="0">
                          <a:solidFill>
                            <a:schemeClr val="bg1"/>
                          </a:solidFill>
                        </a:rPr>
                        <a:t>S3</a:t>
                      </a:r>
                      <a:endParaRPr lang="en-IN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 smtClean="0">
                          <a:solidFill>
                            <a:schemeClr val="bg1"/>
                          </a:solidFill>
                        </a:rPr>
                        <a:t>0</a:t>
                      </a:r>
                      <a:endParaRPr lang="en-IN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 smtClean="0">
                          <a:solidFill>
                            <a:schemeClr val="bg1"/>
                          </a:solidFill>
                        </a:rPr>
                        <a:t>0</a:t>
                      </a:r>
                      <a:endParaRPr lang="en-IN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 smtClean="0">
                          <a:solidFill>
                            <a:schemeClr val="bg1"/>
                          </a:solidFill>
                        </a:rPr>
                        <a:t>0</a:t>
                      </a:r>
                      <a:endParaRPr lang="en-IN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 smtClean="0">
                          <a:solidFill>
                            <a:schemeClr val="bg1"/>
                          </a:solidFill>
                        </a:rPr>
                        <a:t>0</a:t>
                      </a:r>
                      <a:endParaRPr lang="en-IN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 smtClean="0">
                          <a:solidFill>
                            <a:schemeClr val="bg1"/>
                          </a:solidFill>
                        </a:rPr>
                        <a:t>0</a:t>
                      </a:r>
                      <a:endParaRPr lang="en-IN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 smtClean="0">
                          <a:solidFill>
                            <a:schemeClr val="bg1"/>
                          </a:solidFill>
                        </a:rPr>
                        <a:t>0</a:t>
                      </a:r>
                      <a:endParaRPr lang="en-IN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1048870" y="2966656"/>
            <a:ext cx="527124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it-IT" dirty="0" smtClean="0">
                <a:solidFill>
                  <a:schemeClr val="bg1"/>
                </a:solidFill>
              </a:rPr>
              <a:t>Q(S1, ASSIGN) </a:t>
            </a:r>
            <a:r>
              <a:rPr lang="it-IT" dirty="0">
                <a:solidFill>
                  <a:schemeClr val="bg1"/>
                </a:solidFill>
              </a:rPr>
              <a:t>= </a:t>
            </a:r>
            <a:r>
              <a:rPr lang="it-IT" dirty="0" smtClean="0">
                <a:solidFill>
                  <a:schemeClr val="bg1"/>
                </a:solidFill>
              </a:rPr>
              <a:t>0.1</a:t>
            </a:r>
            <a:r>
              <a:rPr lang="en-IN" dirty="0" smtClean="0">
                <a:solidFill>
                  <a:schemeClr val="bg1"/>
                </a:solidFill>
              </a:rPr>
              <a:t>+0.1[1+0.9(0</a:t>
            </a:r>
            <a:r>
              <a:rPr lang="en-IN" dirty="0">
                <a:solidFill>
                  <a:schemeClr val="bg1"/>
                </a:solidFill>
              </a:rPr>
              <a:t>)</a:t>
            </a:r>
            <a:r>
              <a:rPr lang="en-IN" dirty="0" smtClean="0">
                <a:solidFill>
                  <a:schemeClr val="bg1"/>
                </a:solidFill>
              </a:rPr>
              <a:t>−</a:t>
            </a:r>
            <a:r>
              <a:rPr lang="en-IN" dirty="0">
                <a:solidFill>
                  <a:schemeClr val="bg1"/>
                </a:solidFill>
              </a:rPr>
              <a:t>(− 0.1</a:t>
            </a:r>
            <a:r>
              <a:rPr lang="en-IN" dirty="0" smtClean="0">
                <a:solidFill>
                  <a:schemeClr val="bg1"/>
                </a:solidFill>
              </a:rPr>
              <a:t>)]</a:t>
            </a:r>
          </a:p>
          <a:p>
            <a:r>
              <a:rPr lang="en-IN" dirty="0">
                <a:solidFill>
                  <a:schemeClr val="bg1"/>
                </a:solidFill>
              </a:rPr>
              <a:t>	</a:t>
            </a:r>
            <a:r>
              <a:rPr lang="en-IN" dirty="0" smtClean="0">
                <a:solidFill>
                  <a:schemeClr val="bg1"/>
                </a:solidFill>
              </a:rPr>
              <a:t>		= 0.21</a:t>
            </a:r>
            <a:endParaRPr lang="en-IN" dirty="0">
              <a:solidFill>
                <a:schemeClr val="bg1"/>
              </a:solidFill>
            </a:endParaRPr>
          </a:p>
        </p:txBody>
      </p:sp>
      <p:graphicFrame>
        <p:nvGraphicFramePr>
          <p:cNvPr id="10" name="Table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13243264"/>
              </p:ext>
            </p:extLst>
          </p:nvPr>
        </p:nvGraphicFramePr>
        <p:xfrm>
          <a:off x="1165411" y="914399"/>
          <a:ext cx="9406965" cy="14782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13537"/>
                <a:gridCol w="1576839"/>
                <a:gridCol w="1730189"/>
                <a:gridCol w="1089687"/>
                <a:gridCol w="936336"/>
                <a:gridCol w="1488141"/>
                <a:gridCol w="1972236"/>
              </a:tblGrid>
              <a:tr h="364365">
                <a:tc>
                  <a:txBody>
                    <a:bodyPr/>
                    <a:lstStyle/>
                    <a:p>
                      <a:endParaRPr lang="en-IN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 smtClean="0">
                          <a:solidFill>
                            <a:schemeClr val="bg1"/>
                          </a:solidFill>
                        </a:rPr>
                        <a:t>LEARN_MAC</a:t>
                      </a:r>
                      <a:endParaRPr lang="en-IN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dirty="0" smtClean="0">
                          <a:solidFill>
                            <a:schemeClr val="bg1"/>
                          </a:solidFill>
                        </a:rPr>
                        <a:t>EVICT_ENTRY</a:t>
                      </a:r>
                      <a:endParaRPr lang="en-IN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 smtClean="0">
                          <a:solidFill>
                            <a:schemeClr val="bg1"/>
                          </a:solidFill>
                        </a:rPr>
                        <a:t>FLOOD</a:t>
                      </a:r>
                      <a:endParaRPr lang="en-IN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 smtClean="0">
                          <a:solidFill>
                            <a:schemeClr val="bg1"/>
                          </a:solidFill>
                        </a:rPr>
                        <a:t>ASSIGN</a:t>
                      </a:r>
                      <a:endParaRPr lang="en-IN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 smtClean="0">
                          <a:solidFill>
                            <a:schemeClr val="bg1"/>
                          </a:solidFill>
                        </a:rPr>
                        <a:t>BLOCK_PORT</a:t>
                      </a:r>
                      <a:endParaRPr lang="en-IN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 smtClean="0">
                          <a:solidFill>
                            <a:schemeClr val="bg1"/>
                          </a:solidFill>
                        </a:rPr>
                        <a:t>UPDATE_CONFIG</a:t>
                      </a:r>
                      <a:endParaRPr lang="en-IN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 smtClean="0">
                          <a:solidFill>
                            <a:schemeClr val="bg1"/>
                          </a:solidFill>
                        </a:rPr>
                        <a:t>S1</a:t>
                      </a:r>
                      <a:endParaRPr lang="en-IN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 smtClean="0">
                          <a:solidFill>
                            <a:schemeClr val="bg1"/>
                          </a:solidFill>
                        </a:rPr>
                        <a:t>0</a:t>
                      </a:r>
                      <a:endParaRPr lang="en-IN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 smtClean="0">
                          <a:solidFill>
                            <a:schemeClr val="bg1"/>
                          </a:solidFill>
                        </a:rPr>
                        <a:t>0</a:t>
                      </a:r>
                      <a:endParaRPr lang="en-IN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 smtClean="0">
                          <a:solidFill>
                            <a:schemeClr val="bg1"/>
                          </a:solidFill>
                        </a:rPr>
                        <a:t>-0.1</a:t>
                      </a:r>
                      <a:endParaRPr lang="en-IN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 smtClean="0">
                          <a:solidFill>
                            <a:schemeClr val="bg1"/>
                          </a:solidFill>
                        </a:rPr>
                        <a:t>0</a:t>
                      </a:r>
                      <a:endParaRPr lang="en-IN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 smtClean="0">
                          <a:solidFill>
                            <a:schemeClr val="bg1"/>
                          </a:solidFill>
                        </a:rPr>
                        <a:t>0</a:t>
                      </a:r>
                      <a:endParaRPr lang="en-IN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 smtClean="0">
                          <a:solidFill>
                            <a:schemeClr val="bg1"/>
                          </a:solidFill>
                        </a:rPr>
                        <a:t>0</a:t>
                      </a:r>
                      <a:endParaRPr lang="en-IN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 smtClean="0">
                          <a:solidFill>
                            <a:schemeClr val="bg1"/>
                          </a:solidFill>
                        </a:rPr>
                        <a:t>S2</a:t>
                      </a:r>
                      <a:endParaRPr lang="en-IN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 smtClean="0">
                          <a:solidFill>
                            <a:schemeClr val="bg1"/>
                          </a:solidFill>
                        </a:rPr>
                        <a:t>0.1</a:t>
                      </a:r>
                      <a:endParaRPr lang="en-IN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dirty="0" smtClean="0">
                          <a:solidFill>
                            <a:schemeClr val="bg1"/>
                          </a:solidFill>
                        </a:rPr>
                        <a:t>0</a:t>
                      </a:r>
                      <a:endParaRPr lang="en-IN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dirty="0" smtClean="0">
                          <a:solidFill>
                            <a:schemeClr val="bg1"/>
                          </a:solidFill>
                        </a:rPr>
                        <a:t>0</a:t>
                      </a:r>
                      <a:endParaRPr lang="en-IN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 smtClean="0">
                          <a:solidFill>
                            <a:schemeClr val="bg1"/>
                          </a:solidFill>
                        </a:rPr>
                        <a:t>0</a:t>
                      </a:r>
                      <a:endParaRPr lang="en-IN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 smtClean="0">
                          <a:solidFill>
                            <a:schemeClr val="bg1"/>
                          </a:solidFill>
                        </a:rPr>
                        <a:t>0</a:t>
                      </a:r>
                      <a:endParaRPr lang="en-IN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 smtClean="0">
                          <a:solidFill>
                            <a:schemeClr val="bg1"/>
                          </a:solidFill>
                        </a:rPr>
                        <a:t>0</a:t>
                      </a:r>
                      <a:endParaRPr lang="en-IN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 smtClean="0">
                          <a:solidFill>
                            <a:schemeClr val="bg1"/>
                          </a:solidFill>
                        </a:rPr>
                        <a:t>S3</a:t>
                      </a:r>
                      <a:endParaRPr lang="en-IN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 smtClean="0">
                          <a:solidFill>
                            <a:schemeClr val="bg1"/>
                          </a:solidFill>
                        </a:rPr>
                        <a:t>0</a:t>
                      </a:r>
                      <a:endParaRPr lang="en-IN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 smtClean="0">
                          <a:solidFill>
                            <a:schemeClr val="bg1"/>
                          </a:solidFill>
                        </a:rPr>
                        <a:t>0</a:t>
                      </a:r>
                      <a:endParaRPr lang="en-IN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 smtClean="0">
                          <a:solidFill>
                            <a:schemeClr val="bg1"/>
                          </a:solidFill>
                        </a:rPr>
                        <a:t>0</a:t>
                      </a:r>
                      <a:endParaRPr lang="en-IN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 smtClean="0">
                          <a:solidFill>
                            <a:schemeClr val="bg1"/>
                          </a:solidFill>
                        </a:rPr>
                        <a:t>0</a:t>
                      </a:r>
                      <a:endParaRPr lang="en-IN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 smtClean="0">
                          <a:solidFill>
                            <a:schemeClr val="bg1"/>
                          </a:solidFill>
                        </a:rPr>
                        <a:t>0</a:t>
                      </a:r>
                      <a:endParaRPr lang="en-IN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 smtClean="0">
                          <a:solidFill>
                            <a:schemeClr val="bg1"/>
                          </a:solidFill>
                        </a:rPr>
                        <a:t>0</a:t>
                      </a:r>
                      <a:endParaRPr lang="en-IN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752352" y="2966656"/>
            <a:ext cx="442496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Clr>
                <a:schemeClr val="bg1"/>
              </a:buClr>
            </a:pPr>
            <a:r>
              <a:rPr lang="en-GB" dirty="0" smtClean="0">
                <a:solidFill>
                  <a:schemeClr val="bg1"/>
                </a:solidFill>
              </a:rPr>
              <a:t>Here,</a:t>
            </a:r>
          </a:p>
          <a:p>
            <a:pPr>
              <a:buClr>
                <a:schemeClr val="bg1"/>
              </a:buClr>
            </a:pPr>
            <a:r>
              <a:rPr lang="en-GB" dirty="0" smtClean="0">
                <a:solidFill>
                  <a:schemeClr val="bg1"/>
                </a:solidFill>
              </a:rPr>
              <a:t>R = </a:t>
            </a:r>
            <a:r>
              <a:rPr lang="en-GB" dirty="0">
                <a:solidFill>
                  <a:schemeClr val="bg1"/>
                </a:solidFill>
              </a:rPr>
              <a:t>1 (Correct MAC lookup and </a:t>
            </a:r>
            <a:r>
              <a:rPr lang="en-GB" dirty="0" smtClean="0">
                <a:solidFill>
                  <a:schemeClr val="bg1"/>
                </a:solidFill>
              </a:rPr>
              <a:t>delivery)</a:t>
            </a:r>
            <a:endParaRPr lang="en-IN" dirty="0" smtClean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011636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10961970"/>
              </p:ext>
            </p:extLst>
          </p:nvPr>
        </p:nvGraphicFramePr>
        <p:xfrm>
          <a:off x="1308847" y="1461693"/>
          <a:ext cx="9406965" cy="14782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13537"/>
                <a:gridCol w="1576839"/>
                <a:gridCol w="1730189"/>
                <a:gridCol w="1089687"/>
                <a:gridCol w="936336"/>
                <a:gridCol w="1488141"/>
                <a:gridCol w="1972236"/>
              </a:tblGrid>
              <a:tr h="364365">
                <a:tc>
                  <a:txBody>
                    <a:bodyPr/>
                    <a:lstStyle/>
                    <a:p>
                      <a:endParaRPr lang="en-IN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 smtClean="0">
                          <a:solidFill>
                            <a:schemeClr val="bg1"/>
                          </a:solidFill>
                        </a:rPr>
                        <a:t>LEARN_MAC</a:t>
                      </a:r>
                      <a:endParaRPr lang="en-IN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dirty="0" smtClean="0">
                          <a:solidFill>
                            <a:schemeClr val="bg1"/>
                          </a:solidFill>
                        </a:rPr>
                        <a:t>EVICT_ENTRY</a:t>
                      </a:r>
                      <a:endParaRPr lang="en-IN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 smtClean="0">
                          <a:solidFill>
                            <a:schemeClr val="bg1"/>
                          </a:solidFill>
                        </a:rPr>
                        <a:t>FLOOD</a:t>
                      </a:r>
                      <a:endParaRPr lang="en-IN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 smtClean="0">
                          <a:solidFill>
                            <a:schemeClr val="bg1"/>
                          </a:solidFill>
                        </a:rPr>
                        <a:t>ASSIGN</a:t>
                      </a:r>
                      <a:endParaRPr lang="en-IN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 smtClean="0">
                          <a:solidFill>
                            <a:schemeClr val="bg1"/>
                          </a:solidFill>
                        </a:rPr>
                        <a:t>BLOCK_PORT</a:t>
                      </a:r>
                      <a:endParaRPr lang="en-IN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 smtClean="0">
                          <a:solidFill>
                            <a:schemeClr val="bg1"/>
                          </a:solidFill>
                        </a:rPr>
                        <a:t>UPDATE_CONFIG</a:t>
                      </a:r>
                      <a:endParaRPr lang="en-IN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 smtClean="0">
                          <a:solidFill>
                            <a:schemeClr val="bg1"/>
                          </a:solidFill>
                        </a:rPr>
                        <a:t>S1</a:t>
                      </a:r>
                      <a:endParaRPr lang="en-IN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 smtClean="0">
                          <a:solidFill>
                            <a:schemeClr val="bg1"/>
                          </a:solidFill>
                        </a:rPr>
                        <a:t>0.9</a:t>
                      </a:r>
                      <a:endParaRPr lang="en-IN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 smtClean="0">
                          <a:solidFill>
                            <a:schemeClr val="bg1"/>
                          </a:solidFill>
                        </a:rPr>
                        <a:t>-0.3</a:t>
                      </a:r>
                      <a:endParaRPr lang="en-IN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 smtClean="0">
                          <a:solidFill>
                            <a:schemeClr val="bg1"/>
                          </a:solidFill>
                        </a:rPr>
                        <a:t>-0.8</a:t>
                      </a:r>
                      <a:endParaRPr lang="en-IN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 smtClean="0">
                          <a:solidFill>
                            <a:schemeClr val="bg1"/>
                          </a:solidFill>
                        </a:rPr>
                        <a:t>0.4</a:t>
                      </a:r>
                      <a:endParaRPr lang="en-IN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 smtClean="0">
                          <a:solidFill>
                            <a:schemeClr val="bg1"/>
                          </a:solidFill>
                        </a:rPr>
                        <a:t>-0.2</a:t>
                      </a:r>
                      <a:endParaRPr lang="en-IN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 smtClean="0">
                          <a:solidFill>
                            <a:schemeClr val="bg1"/>
                          </a:solidFill>
                        </a:rPr>
                        <a:t>0.5</a:t>
                      </a:r>
                      <a:endParaRPr lang="en-IN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 smtClean="0">
                          <a:solidFill>
                            <a:schemeClr val="bg1"/>
                          </a:solidFill>
                        </a:rPr>
                        <a:t>S2</a:t>
                      </a:r>
                      <a:endParaRPr lang="en-IN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 smtClean="0">
                          <a:solidFill>
                            <a:schemeClr val="bg1"/>
                          </a:solidFill>
                        </a:rPr>
                        <a:t>0.3</a:t>
                      </a:r>
                      <a:endParaRPr lang="en-IN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 smtClean="0">
                          <a:solidFill>
                            <a:schemeClr val="bg1"/>
                          </a:solidFill>
                        </a:rPr>
                        <a:t>0.8</a:t>
                      </a:r>
                      <a:endParaRPr lang="en-IN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 smtClean="0">
                          <a:solidFill>
                            <a:schemeClr val="bg1"/>
                          </a:solidFill>
                        </a:rPr>
                        <a:t>-0.7</a:t>
                      </a:r>
                      <a:endParaRPr lang="en-IN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 smtClean="0">
                          <a:solidFill>
                            <a:schemeClr val="bg1"/>
                          </a:solidFill>
                        </a:rPr>
                        <a:t>0.3</a:t>
                      </a:r>
                      <a:endParaRPr lang="en-IN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 smtClean="0">
                          <a:solidFill>
                            <a:schemeClr val="bg1"/>
                          </a:solidFill>
                        </a:rPr>
                        <a:t>0.2</a:t>
                      </a:r>
                      <a:endParaRPr lang="en-IN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 smtClean="0">
                          <a:solidFill>
                            <a:schemeClr val="bg1"/>
                          </a:solidFill>
                        </a:rPr>
                        <a:t>0.4</a:t>
                      </a:r>
                      <a:endParaRPr lang="en-IN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 smtClean="0">
                          <a:solidFill>
                            <a:schemeClr val="bg1"/>
                          </a:solidFill>
                        </a:rPr>
                        <a:t>S3</a:t>
                      </a:r>
                      <a:endParaRPr lang="en-IN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 smtClean="0">
                          <a:solidFill>
                            <a:schemeClr val="bg1"/>
                          </a:solidFill>
                        </a:rPr>
                        <a:t>0.6</a:t>
                      </a:r>
                      <a:endParaRPr lang="en-IN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dirty="0" smtClean="0">
                          <a:solidFill>
                            <a:schemeClr val="bg1"/>
                          </a:solidFill>
                        </a:rPr>
                        <a:t>-0.1</a:t>
                      </a:r>
                      <a:endParaRPr lang="en-IN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 smtClean="0">
                          <a:solidFill>
                            <a:schemeClr val="bg1"/>
                          </a:solidFill>
                        </a:rPr>
                        <a:t>-1.0</a:t>
                      </a:r>
                      <a:endParaRPr lang="en-IN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 smtClean="0">
                          <a:solidFill>
                            <a:schemeClr val="bg1"/>
                          </a:solidFill>
                        </a:rPr>
                        <a:t>0.3</a:t>
                      </a:r>
                      <a:endParaRPr lang="en-IN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 smtClean="0">
                          <a:solidFill>
                            <a:schemeClr val="bg1"/>
                          </a:solidFill>
                        </a:rPr>
                        <a:t>0.9</a:t>
                      </a:r>
                      <a:endParaRPr lang="en-IN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 smtClean="0">
                          <a:solidFill>
                            <a:schemeClr val="bg1"/>
                          </a:solidFill>
                        </a:rPr>
                        <a:t>0.5</a:t>
                      </a:r>
                      <a:endParaRPr lang="en-IN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1308847" y="3487271"/>
            <a:ext cx="6096000" cy="369332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pt-BR" dirty="0" smtClean="0">
                <a:solidFill>
                  <a:schemeClr val="bg1"/>
                </a:solidFill>
              </a:rPr>
              <a:t>Conclusion :</a:t>
            </a:r>
          </a:p>
        </p:txBody>
      </p:sp>
      <p:sp>
        <p:nvSpPr>
          <p:cNvPr id="9" name="Rectangle 8"/>
          <p:cNvSpPr/>
          <p:nvPr/>
        </p:nvSpPr>
        <p:spPr>
          <a:xfrm>
            <a:off x="1461247" y="1021977"/>
            <a:ext cx="6096000" cy="369332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pt-BR" dirty="0" smtClean="0">
                <a:solidFill>
                  <a:schemeClr val="bg1"/>
                </a:solidFill>
              </a:rPr>
              <a:t>Final Q – Table :</a:t>
            </a:r>
            <a:endParaRPr lang="en-IN" dirty="0">
              <a:solidFill>
                <a:schemeClr val="bg1"/>
              </a:solidFill>
            </a:endParaRPr>
          </a:p>
        </p:txBody>
      </p:sp>
      <p:graphicFrame>
        <p:nvGraphicFramePr>
          <p:cNvPr id="10" name="Table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06297636"/>
              </p:ext>
            </p:extLst>
          </p:nvPr>
        </p:nvGraphicFramePr>
        <p:xfrm>
          <a:off x="995083" y="4023042"/>
          <a:ext cx="10318377" cy="2011680"/>
        </p:xfrm>
        <a:graphic>
          <a:graphicData uri="http://schemas.openxmlformats.org/drawingml/2006/table">
            <a:tbl>
              <a:tblPr/>
              <a:tblGrid>
                <a:gridCol w="1732608"/>
                <a:gridCol w="2365539"/>
                <a:gridCol w="6220230"/>
              </a:tblGrid>
              <a:tr h="0">
                <a:tc>
                  <a:txBody>
                    <a:bodyPr/>
                    <a:lstStyle/>
                    <a:p>
                      <a:r>
                        <a:rPr lang="en-IN" dirty="0" smtClean="0">
                          <a:solidFill>
                            <a:schemeClr val="bg1"/>
                          </a:solidFill>
                        </a:rPr>
                        <a:t>For State</a:t>
                      </a:r>
                      <a:endParaRPr lang="en-IN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 smtClean="0">
                          <a:solidFill>
                            <a:schemeClr val="bg1"/>
                          </a:solidFill>
                        </a:rPr>
                        <a:t>Best possible Action</a:t>
                      </a:r>
                      <a:endParaRPr lang="en-IN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 smtClean="0">
                          <a:solidFill>
                            <a:schemeClr val="bg1"/>
                          </a:solidFill>
                        </a:rPr>
                        <a:t>Description</a:t>
                      </a:r>
                      <a:endParaRPr lang="en-IN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IN" dirty="0">
                          <a:solidFill>
                            <a:schemeClr val="bg1"/>
                          </a:solidFill>
                        </a:rPr>
                        <a:t>S1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dirty="0" smtClean="0">
                          <a:solidFill>
                            <a:schemeClr val="bg1"/>
                          </a:solidFill>
                        </a:rPr>
                        <a:t>LEARN_MAC</a:t>
                      </a:r>
                      <a:endParaRPr lang="en-GB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dirty="0" smtClean="0">
                          <a:solidFill>
                            <a:schemeClr val="bg1"/>
                          </a:solidFill>
                        </a:rPr>
                        <a:t>Agent should aggressively learn every MAC</a:t>
                      </a:r>
                      <a:endParaRPr lang="en-GB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IN" dirty="0">
                          <a:solidFill>
                            <a:schemeClr val="bg1"/>
                          </a:solidFill>
                        </a:rPr>
                        <a:t>S2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dirty="0" smtClean="0">
                          <a:solidFill>
                            <a:schemeClr val="bg1"/>
                          </a:solidFill>
                        </a:rPr>
                        <a:t>EVICT_ENTRY</a:t>
                      </a:r>
                      <a:endParaRPr lang="en-GB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dirty="0" smtClean="0">
                          <a:solidFill>
                            <a:schemeClr val="bg1"/>
                          </a:solidFill>
                        </a:rPr>
                        <a:t>Agent should remove stale entries before table becomes completely full</a:t>
                      </a:r>
                      <a:endParaRPr lang="en-GB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IN" dirty="0">
                          <a:solidFill>
                            <a:schemeClr val="bg1"/>
                          </a:solidFill>
                        </a:rPr>
                        <a:t>S3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 smtClean="0">
                          <a:solidFill>
                            <a:schemeClr val="bg1"/>
                          </a:solidFill>
                        </a:rPr>
                        <a:t>BLOCK_PORT</a:t>
                      </a:r>
                      <a:endParaRPr lang="en-IN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dirty="0" smtClean="0">
                          <a:solidFill>
                            <a:schemeClr val="bg1"/>
                          </a:solidFill>
                        </a:rPr>
                        <a:t>most likely a MAC flooding attack. Blocking the port immediately stops the attack and brings flood pressure down.</a:t>
                      </a:r>
                      <a:endParaRPr lang="en-GB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695741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ntegral">
  <a:themeElements>
    <a:clrScheme name="Integral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B9F25"/>
      </a:hlink>
      <a:folHlink>
        <a:srgbClr val="B26B02"/>
      </a:folHlink>
    </a:clrScheme>
    <a:fontScheme name="Integral">
      <a:majorFont>
        <a:latin typeface="Tw Cen MT Condensed" panose="020B06060201040202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Integral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  <a:shade val="74000"/>
                <a:satMod val="230000"/>
              </a:schemeClr>
              <a:schemeClr val="phClr">
                <a:tint val="92000"/>
                <a:shade val="69000"/>
                <a:satMod val="250000"/>
              </a:schemeClr>
            </a:duotone>
          </a:blip>
          <a:tile tx="0" ty="0" sx="40000" sy="4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tegral" id="{3577F8C9-A904-41D8-97D2-FD898F53F20E}" vid="{682D6EBE-8D36-4FF2-9DB3-F3D8D7B6715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Integral</Template>
  <TotalTime>1321</TotalTime>
  <Words>837</Words>
  <Application>Microsoft Office PowerPoint</Application>
  <PresentationFormat>Widescreen</PresentationFormat>
  <Paragraphs>379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Tw Cen MT</vt:lpstr>
      <vt:lpstr>Tw Cen MT Condensed</vt:lpstr>
      <vt:lpstr>Wingdings 3</vt:lpstr>
      <vt:lpstr>Integral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 account</dc:creator>
  <cp:lastModifiedBy>Microsoft account</cp:lastModifiedBy>
  <cp:revision>70</cp:revision>
  <dcterms:created xsi:type="dcterms:W3CDTF">2026-03-21T01:51:42Z</dcterms:created>
  <dcterms:modified xsi:type="dcterms:W3CDTF">2026-04-07T10:07:02Z</dcterms:modified>
</cp:coreProperties>
</file>