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8" r:id="rId2"/>
    <p:sldId id="264" r:id="rId3"/>
    <p:sldId id="259" r:id="rId4"/>
    <p:sldId id="265" r:id="rId5"/>
    <p:sldId id="260" r:id="rId6"/>
    <p:sldId id="266" r:id="rId7"/>
    <p:sldId id="261" r:id="rId8"/>
    <p:sldId id="267" r:id="rId9"/>
    <p:sldId id="262" r:id="rId10"/>
    <p:sldId id="268" r:id="rId11"/>
    <p:sldId id="263" r:id="rId12"/>
    <p:sldId id="269" r:id="rId13"/>
  </p:sldIdLst>
  <p:sldSz cx="9144000" cy="5143500" type="screen16x9"/>
  <p:notesSz cx="6858000" cy="9144000"/>
  <p:embeddedFontLst>
    <p:embeddedFont>
      <p:font typeface="Quicksan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  <a:srgbClr val="080808"/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85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F418-10B5-5751-46BF-DCF46D25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4360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String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D48D5-8F3A-31B1-30AF-2ADD4D007C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2" r="1041" b="10672"/>
          <a:stretch/>
        </p:blipFill>
        <p:spPr>
          <a:xfrm>
            <a:off x="311700" y="901162"/>
            <a:ext cx="4158176" cy="277692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sx="1000" sy="1000" algn="tl" rotWithShape="0">
              <a:srgbClr val="000000">
                <a:alpha val="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5F358B7-DBF2-EE0D-C1CF-945774AA2ACB}"/>
              </a:ext>
            </a:extLst>
          </p:cNvPr>
          <p:cNvGrpSpPr/>
          <p:nvPr/>
        </p:nvGrpSpPr>
        <p:grpSpPr>
          <a:xfrm>
            <a:off x="311700" y="3685460"/>
            <a:ext cx="3727420" cy="934094"/>
            <a:chOff x="1847470" y="2362171"/>
            <a:chExt cx="5449060" cy="13591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4E2731E-189C-A18E-9014-54FE75E20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7470" y="2362171"/>
              <a:ext cx="5449060" cy="41915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66BBEA-0AE5-BCD2-3732-DEDB523633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0512"/>
            <a:stretch/>
          </p:blipFill>
          <p:spPr>
            <a:xfrm>
              <a:off x="1847470" y="2781329"/>
              <a:ext cx="5449060" cy="939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771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F418-10B5-5751-46BF-DCF46D25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4360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String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E4D09D-0A12-7C1B-52A0-83679C6C7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123476"/>
              </p:ext>
            </p:extLst>
          </p:nvPr>
        </p:nvGraphicFramePr>
        <p:xfrm>
          <a:off x="311700" y="1110209"/>
          <a:ext cx="7016992" cy="3648414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754248">
                  <a:extLst>
                    <a:ext uri="{9D8B030D-6E8A-4147-A177-3AD203B41FA5}">
                      <a16:colId xmlns:a16="http://schemas.microsoft.com/office/drawing/2014/main" val="3493516763"/>
                    </a:ext>
                  </a:extLst>
                </a:gridCol>
                <a:gridCol w="1754248">
                  <a:extLst>
                    <a:ext uri="{9D8B030D-6E8A-4147-A177-3AD203B41FA5}">
                      <a16:colId xmlns:a16="http://schemas.microsoft.com/office/drawing/2014/main" val="3552518978"/>
                    </a:ext>
                  </a:extLst>
                </a:gridCol>
                <a:gridCol w="1754248">
                  <a:extLst>
                    <a:ext uri="{9D8B030D-6E8A-4147-A177-3AD203B41FA5}">
                      <a16:colId xmlns:a16="http://schemas.microsoft.com/office/drawing/2014/main" val="3507815082"/>
                    </a:ext>
                  </a:extLst>
                </a:gridCol>
                <a:gridCol w="1754248">
                  <a:extLst>
                    <a:ext uri="{9D8B030D-6E8A-4147-A177-3AD203B41FA5}">
                      <a16:colId xmlns:a16="http://schemas.microsoft.com/office/drawing/2014/main" val="1496433570"/>
                    </a:ext>
                  </a:extLst>
                </a:gridCol>
              </a:tblGrid>
              <a:tr h="332618"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225663134"/>
                  </a:ext>
                </a:extLst>
              </a:tr>
              <a:tr h="490328">
                <a:tc>
                  <a:txBody>
                    <a:bodyPr/>
                    <a:lstStyle/>
                    <a:p>
                      <a:pPr rtl="0"/>
                      <a:r>
                        <a:rPr lang="en-IN" sz="11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SET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Stores a key-value pair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set mac:AA:BB:CC:DD:01 port1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Used to learn and map a host to a port.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3115335259"/>
                  </a:ext>
                </a:extLst>
              </a:tr>
              <a:tr h="490328">
                <a:tc>
                  <a:txBody>
                    <a:bodyPr/>
                    <a:lstStyle/>
                    <a:p>
                      <a:pPr rtl="0"/>
                      <a:r>
                        <a:rPr lang="en-IN" sz="11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GET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Retrieves the value of a key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get mac:AA:BB:CC:DD:01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Allows the agent to look up a host's location.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2184341031"/>
                  </a:ext>
                </a:extLst>
              </a:tr>
              <a:tr h="490328"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EXPIRE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Sets a timeout on a key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expire mac:AA:BB:CC:DD:01 20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Simulates </a:t>
                      </a: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MAC aging</a:t>
                      </a: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by timing out old entries.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3680077825"/>
                  </a:ext>
                </a:extLst>
              </a:tr>
              <a:tr h="490328"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TTL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Checks remaining time to live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ttl mac:AA:BB:CC:DD:01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Monitors when a MAC entry is about to expire.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1785101248"/>
                  </a:ext>
                </a:extLst>
              </a:tr>
              <a:tr h="648037"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DEL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Removes a key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del mac:AA:BB:CC:DD:02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Manually removes a host from the forwarding table.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3361368420"/>
                  </a:ext>
                </a:extLst>
              </a:tr>
              <a:tr h="490328">
                <a:tc>
                  <a:txBody>
                    <a:bodyPr/>
                    <a:lstStyle/>
                    <a:p>
                      <a:pPr rtl="0"/>
                      <a:r>
                        <a:rPr lang="en-IN" sz="11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EXISTS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Checks if a key exists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exists mac:AA:BB:CC:DD:02</a:t>
                      </a:r>
                    </a:p>
                  </a:txBody>
                  <a:tcPr marL="69720" marR="69720" marT="92961" marB="9296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Verifies if a MAC address is currently "learned."</a:t>
                      </a:r>
                    </a:p>
                  </a:txBody>
                  <a:tcPr marL="69720" marR="69720" marT="92961" marB="92961" anchor="ctr"/>
                </a:tc>
                <a:extLst>
                  <a:ext uri="{0D108BD9-81ED-4DB2-BD59-A6C34878D82A}">
                    <a16:rowId xmlns:a16="http://schemas.microsoft.com/office/drawing/2014/main" val="398945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2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Hash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649FBE-D65A-C331-BFE9-BA22982482C0}"/>
              </a:ext>
            </a:extLst>
          </p:cNvPr>
          <p:cNvGrpSpPr/>
          <p:nvPr/>
        </p:nvGrpSpPr>
        <p:grpSpPr>
          <a:xfrm>
            <a:off x="311700" y="1211468"/>
            <a:ext cx="6349297" cy="3120213"/>
            <a:chOff x="311698" y="695275"/>
            <a:chExt cx="6349297" cy="31202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00AA78-0685-E277-B371-56C79761B29D}"/>
                </a:ext>
              </a:extLst>
            </p:cNvPr>
            <p:cNvGrpSpPr/>
            <p:nvPr/>
          </p:nvGrpSpPr>
          <p:grpSpPr>
            <a:xfrm>
              <a:off x="311700" y="695275"/>
              <a:ext cx="6349295" cy="2630486"/>
              <a:chOff x="311700" y="1152475"/>
              <a:chExt cx="4116575" cy="167400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4E6DF3D-E408-CEB7-93D7-37917FB7B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 flipH="1" flipV="1">
                <a:off x="311700" y="1152475"/>
                <a:ext cx="4116574" cy="42415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8A078C5-92BF-1722-9B74-A8A3F13D5F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8768" b="23289"/>
              <a:stretch/>
            </p:blipFill>
            <p:spPr>
              <a:xfrm>
                <a:off x="311700" y="1582116"/>
                <a:ext cx="4116575" cy="1244367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69BE5B-50C6-FD75-5533-A8DCC362FD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5743"/>
            <a:stretch/>
          </p:blipFill>
          <p:spPr>
            <a:xfrm>
              <a:off x="311698" y="3334374"/>
              <a:ext cx="6349295" cy="481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317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Hash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CFD9AF-7A87-8189-7FDA-0B3749960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59720"/>
              </p:ext>
            </p:extLst>
          </p:nvPr>
        </p:nvGraphicFramePr>
        <p:xfrm>
          <a:off x="311700" y="940198"/>
          <a:ext cx="7754880" cy="3985488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938720">
                  <a:extLst>
                    <a:ext uri="{9D8B030D-6E8A-4147-A177-3AD203B41FA5}">
                      <a16:colId xmlns:a16="http://schemas.microsoft.com/office/drawing/2014/main" val="312952116"/>
                    </a:ext>
                  </a:extLst>
                </a:gridCol>
                <a:gridCol w="1938720">
                  <a:extLst>
                    <a:ext uri="{9D8B030D-6E8A-4147-A177-3AD203B41FA5}">
                      <a16:colId xmlns:a16="http://schemas.microsoft.com/office/drawing/2014/main" val="1416462963"/>
                    </a:ext>
                  </a:extLst>
                </a:gridCol>
                <a:gridCol w="1938720">
                  <a:extLst>
                    <a:ext uri="{9D8B030D-6E8A-4147-A177-3AD203B41FA5}">
                      <a16:colId xmlns:a16="http://schemas.microsoft.com/office/drawing/2014/main" val="1643412828"/>
                    </a:ext>
                  </a:extLst>
                </a:gridCol>
                <a:gridCol w="1938720">
                  <a:extLst>
                    <a:ext uri="{9D8B030D-6E8A-4147-A177-3AD203B41FA5}">
                      <a16:colId xmlns:a16="http://schemas.microsoft.com/office/drawing/2014/main" val="4239283254"/>
                    </a:ext>
                  </a:extLst>
                </a:gridCol>
              </a:tblGrid>
              <a:tr h="388216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273343172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HSET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Sets multiple fields in a hash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hset</a:t>
                      </a:r>
                      <a:r>
                        <a:rPr lang="fr-FR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mac:AA:BB:CC:DD:01 port port1 confidence 0.67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Stores the agent's location prediction and confidence.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140122146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HGET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Gets the value of a specific field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hget mac:AA:BB:CC:DD:01 confidence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Retrieves only the confidence level for a specific MAC.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85776792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HGETALL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Retrieves all fields and values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hgetall mac:AA:BB:CC:DD:01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Provides the full "State" profile of a network host.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937244936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HKEYS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Lists all field names in a hash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hkeys mac:AA:BB:CC:DD:01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Identifies which attributes are tracked for a MAC.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185258904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HVALS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Lists all values in a hash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hvals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mac:AA:BB:CC:DD:01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Extracts raw data (port and score) for processing.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593537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47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503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List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4DA4FA-49B6-4F7B-3180-E1DC10BE26D0}"/>
              </a:ext>
            </a:extLst>
          </p:cNvPr>
          <p:cNvGrpSpPr/>
          <p:nvPr/>
        </p:nvGrpSpPr>
        <p:grpSpPr>
          <a:xfrm>
            <a:off x="311700" y="1156708"/>
            <a:ext cx="6942540" cy="3445771"/>
            <a:chOff x="194652" y="1152822"/>
            <a:chExt cx="5385290" cy="24846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57DA89-678C-AEBD-E906-CB46C2833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652" y="1152822"/>
              <a:ext cx="5385290" cy="21974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66B9F3-79AA-35E7-3526-E0E0FAB43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52" y="3350302"/>
              <a:ext cx="4864528" cy="287162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10E20F-F189-0106-99D2-A9610E4D48EC}"/>
              </a:ext>
            </a:extLst>
          </p:cNvPr>
          <p:cNvGrpSpPr/>
          <p:nvPr/>
        </p:nvGrpSpPr>
        <p:grpSpPr>
          <a:xfrm>
            <a:off x="6319685" y="927739"/>
            <a:ext cx="2512615" cy="473358"/>
            <a:chOff x="6319685" y="927739"/>
            <a:chExt cx="2512615" cy="4733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B8A112C-B3D2-F3D6-2E6D-B6E598CC77AF}"/>
                </a:ext>
              </a:extLst>
            </p:cNvPr>
            <p:cNvSpPr/>
            <p:nvPr/>
          </p:nvSpPr>
          <p:spPr>
            <a:xfrm>
              <a:off x="6319685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B4EA80-C445-1CA8-36FC-3474F1ADD854}"/>
                </a:ext>
              </a:extLst>
            </p:cNvPr>
            <p:cNvSpPr/>
            <p:nvPr/>
          </p:nvSpPr>
          <p:spPr>
            <a:xfrm>
              <a:off x="7984268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5D3B74-B35E-BF9E-37C9-4C96A55FD46C}"/>
                </a:ext>
              </a:extLst>
            </p:cNvPr>
            <p:cNvSpPr/>
            <p:nvPr/>
          </p:nvSpPr>
          <p:spPr>
            <a:xfrm>
              <a:off x="7136236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73F2348-D67B-D5A2-5840-712B79AFA61C}"/>
              </a:ext>
            </a:extLst>
          </p:cNvPr>
          <p:cNvSpPr txBox="1"/>
          <p:nvPr/>
        </p:nvSpPr>
        <p:spPr>
          <a:xfrm>
            <a:off x="7136236" y="1041307"/>
            <a:ext cx="964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new_mac02</a:t>
            </a:r>
            <a:endParaRPr lang="en-IN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2EAAD-F6B4-06EF-1E57-C5D97CC2AA54}"/>
              </a:ext>
            </a:extLst>
          </p:cNvPr>
          <p:cNvSpPr txBox="1"/>
          <p:nvPr/>
        </p:nvSpPr>
        <p:spPr>
          <a:xfrm>
            <a:off x="7997033" y="1033596"/>
            <a:ext cx="964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new_mac01</a:t>
            </a:r>
            <a:endParaRPr lang="en-IN" sz="1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DD2A84-1505-7760-D206-B172E91EBD1A}"/>
              </a:ext>
            </a:extLst>
          </p:cNvPr>
          <p:cNvGrpSpPr/>
          <p:nvPr/>
        </p:nvGrpSpPr>
        <p:grpSpPr>
          <a:xfrm>
            <a:off x="6361946" y="2488015"/>
            <a:ext cx="2512615" cy="473358"/>
            <a:chOff x="6319685" y="927739"/>
            <a:chExt cx="2512615" cy="4733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CA3C13-195F-9945-7FF0-701B37AF3D66}"/>
                </a:ext>
              </a:extLst>
            </p:cNvPr>
            <p:cNvSpPr/>
            <p:nvPr/>
          </p:nvSpPr>
          <p:spPr>
            <a:xfrm>
              <a:off x="6319685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C2F7F-890B-BB0C-CEE7-E8581CCCB0AA}"/>
                </a:ext>
              </a:extLst>
            </p:cNvPr>
            <p:cNvSpPr/>
            <p:nvPr/>
          </p:nvSpPr>
          <p:spPr>
            <a:xfrm>
              <a:off x="7984268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751C4E-AC74-0F16-43AB-3899826B170B}"/>
                </a:ext>
              </a:extLst>
            </p:cNvPr>
            <p:cNvSpPr/>
            <p:nvPr/>
          </p:nvSpPr>
          <p:spPr>
            <a:xfrm>
              <a:off x="7136236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EF1BD94-EC59-ABFE-7D42-FA1BD4ABB87A}"/>
              </a:ext>
            </a:extLst>
          </p:cNvPr>
          <p:cNvSpPr txBox="1"/>
          <p:nvPr/>
        </p:nvSpPr>
        <p:spPr>
          <a:xfrm>
            <a:off x="6261682" y="1025964"/>
            <a:ext cx="964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flood_alert</a:t>
            </a:r>
          </a:p>
          <a:p>
            <a:pPr algn="ctr"/>
            <a:r>
              <a:rPr lang="en-US" sz="1000" dirty="0"/>
              <a:t>port3</a:t>
            </a:r>
            <a:endParaRPr lang="en-IN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58A0D-948E-D146-9BA6-B8BCAD6EF917}"/>
              </a:ext>
            </a:extLst>
          </p:cNvPr>
          <p:cNvSpPr txBox="1"/>
          <p:nvPr/>
        </p:nvSpPr>
        <p:spPr>
          <a:xfrm>
            <a:off x="6247942" y="2533133"/>
            <a:ext cx="964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flood_alert</a:t>
            </a:r>
          </a:p>
          <a:p>
            <a:pPr algn="ctr"/>
            <a:r>
              <a:rPr lang="en-US" sz="1000" dirty="0"/>
              <a:t>port3</a:t>
            </a:r>
            <a:endParaRPr lang="en-IN" sz="1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153F0E-9CAA-FDD5-CBA3-044F74633BB1}"/>
              </a:ext>
            </a:extLst>
          </p:cNvPr>
          <p:cNvGrpSpPr/>
          <p:nvPr/>
        </p:nvGrpSpPr>
        <p:grpSpPr>
          <a:xfrm>
            <a:off x="7078233" y="2557572"/>
            <a:ext cx="1812069" cy="400110"/>
            <a:chOff x="7120494" y="1973797"/>
            <a:chExt cx="1812069" cy="4001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9748F1-1C41-82CC-6E31-6284093CD8EA}"/>
                </a:ext>
              </a:extLst>
            </p:cNvPr>
            <p:cNvSpPr txBox="1"/>
            <p:nvPr/>
          </p:nvSpPr>
          <p:spPr>
            <a:xfrm>
              <a:off x="7120494" y="2026302"/>
              <a:ext cx="9640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new_mac02</a:t>
              </a:r>
              <a:endParaRPr lang="en-IN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820F8A-5662-E60D-1BF1-3AD9BCBB2660}"/>
                </a:ext>
              </a:extLst>
            </p:cNvPr>
            <p:cNvSpPr txBox="1"/>
            <p:nvPr/>
          </p:nvSpPr>
          <p:spPr>
            <a:xfrm>
              <a:off x="7968526" y="1973797"/>
              <a:ext cx="964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mac_expiredport3</a:t>
              </a:r>
              <a:endParaRPr lang="en-IN" sz="10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49C92E-429A-1015-AE06-DD15F52730EF}"/>
              </a:ext>
            </a:extLst>
          </p:cNvPr>
          <p:cNvGrpSpPr/>
          <p:nvPr/>
        </p:nvGrpSpPr>
        <p:grpSpPr>
          <a:xfrm>
            <a:off x="6361946" y="4132659"/>
            <a:ext cx="2512615" cy="473358"/>
            <a:chOff x="6319685" y="927739"/>
            <a:chExt cx="2512615" cy="47335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12BD96-D5D0-1071-E5A2-363B4E84CD99}"/>
                </a:ext>
              </a:extLst>
            </p:cNvPr>
            <p:cNvSpPr/>
            <p:nvPr/>
          </p:nvSpPr>
          <p:spPr>
            <a:xfrm>
              <a:off x="6319685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8C1000-5C8A-6058-FACF-22C39C8A0F26}"/>
                </a:ext>
              </a:extLst>
            </p:cNvPr>
            <p:cNvSpPr/>
            <p:nvPr/>
          </p:nvSpPr>
          <p:spPr>
            <a:xfrm>
              <a:off x="7984268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067379-40D5-8030-CD56-43F98ED68C76}"/>
                </a:ext>
              </a:extLst>
            </p:cNvPr>
            <p:cNvSpPr/>
            <p:nvPr/>
          </p:nvSpPr>
          <p:spPr>
            <a:xfrm>
              <a:off x="7136236" y="927739"/>
              <a:ext cx="848032" cy="4733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AB3D26D-8D6C-FBE6-B571-46B237F2A0F9}"/>
              </a:ext>
            </a:extLst>
          </p:cNvPr>
          <p:cNvSpPr txBox="1"/>
          <p:nvPr/>
        </p:nvSpPr>
        <p:spPr>
          <a:xfrm>
            <a:off x="6290203" y="4167611"/>
            <a:ext cx="964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flood_alert</a:t>
            </a:r>
          </a:p>
          <a:p>
            <a:pPr algn="ctr"/>
            <a:r>
              <a:rPr lang="en-US" sz="1000" dirty="0"/>
              <a:t>port3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F283EF-375C-59AB-5D9E-B0DA30C45AE2}"/>
              </a:ext>
            </a:extLst>
          </p:cNvPr>
          <p:cNvSpPr txBox="1"/>
          <p:nvPr/>
        </p:nvSpPr>
        <p:spPr>
          <a:xfrm>
            <a:off x="7102752" y="4221291"/>
            <a:ext cx="964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new_mac02</a:t>
            </a:r>
            <a:endParaRPr lang="en-IN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984EAA-36CE-E786-C719-AB1AA84BD268}"/>
              </a:ext>
            </a:extLst>
          </p:cNvPr>
          <p:cNvSpPr txBox="1"/>
          <p:nvPr/>
        </p:nvSpPr>
        <p:spPr>
          <a:xfrm>
            <a:off x="6481915" y="641389"/>
            <a:ext cx="2256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	2	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E9BE2-4A0F-40A2-BDB3-B7F29012973F}"/>
              </a:ext>
            </a:extLst>
          </p:cNvPr>
          <p:cNvSpPr txBox="1"/>
          <p:nvPr/>
        </p:nvSpPr>
        <p:spPr>
          <a:xfrm>
            <a:off x="6462001" y="2164757"/>
            <a:ext cx="2256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	2	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9D25CB-46E9-0186-A0DE-BF07168EEE98}"/>
              </a:ext>
            </a:extLst>
          </p:cNvPr>
          <p:cNvSpPr txBox="1"/>
          <p:nvPr/>
        </p:nvSpPr>
        <p:spPr>
          <a:xfrm>
            <a:off x="6512133" y="3815518"/>
            <a:ext cx="2256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	2	3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91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503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List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EC40E4A-7171-F90C-7B81-DE3914B2E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01534"/>
              </p:ext>
            </p:extLst>
          </p:nvPr>
        </p:nvGraphicFramePr>
        <p:xfrm>
          <a:off x="311700" y="1164374"/>
          <a:ext cx="7235912" cy="3619728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808978">
                  <a:extLst>
                    <a:ext uri="{9D8B030D-6E8A-4147-A177-3AD203B41FA5}">
                      <a16:colId xmlns:a16="http://schemas.microsoft.com/office/drawing/2014/main" val="2433775338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641235292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2288207689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1690884774"/>
                    </a:ext>
                  </a:extLst>
                </a:gridCol>
              </a:tblGrid>
              <a:tr h="388216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464193937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LPUSH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Adds an event to the head (Left)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lpush mac_event "flood_alert:port3"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Logs the most recent network event.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643210871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RPUSH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Adds an event to the tail (Right)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rpush mac_event "mac_expired..."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Appends background logs or cleanup events.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618612939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LRANGE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Retrieves a range of events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lrange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mac_event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0 -1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Provides a timeline of events for pattern analysis.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230566251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RPOP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Removes the oldest element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rpop mac_event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Processes and clears the oldest log entry.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126385646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LINDEX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Gets an event at a specific index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lindex mac_event 1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Inspects a specific point in the network history.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09686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27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5826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Set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15B44E-2BC9-93E4-3348-914ACB961FAF}"/>
              </a:ext>
            </a:extLst>
          </p:cNvPr>
          <p:cNvGrpSpPr/>
          <p:nvPr/>
        </p:nvGrpSpPr>
        <p:grpSpPr>
          <a:xfrm>
            <a:off x="311700" y="916125"/>
            <a:ext cx="5509980" cy="3869235"/>
            <a:chOff x="144628" y="1017725"/>
            <a:chExt cx="4481831" cy="32590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928AB0-AE21-9FA2-C8C2-778C3B3EE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628" y="1017725"/>
              <a:ext cx="4481831" cy="230211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29A48D7-56EE-D20C-09BB-F19316673E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1062"/>
            <a:stretch/>
          </p:blipFill>
          <p:spPr>
            <a:xfrm>
              <a:off x="144628" y="3319836"/>
              <a:ext cx="4481831" cy="956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658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5826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Set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07E739-FDD6-73D1-E303-4FF708D93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899833"/>
              </p:ext>
            </p:extLst>
          </p:nvPr>
        </p:nvGraphicFramePr>
        <p:xfrm>
          <a:off x="311700" y="935774"/>
          <a:ext cx="7235912" cy="3985488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808978">
                  <a:extLst>
                    <a:ext uri="{9D8B030D-6E8A-4147-A177-3AD203B41FA5}">
                      <a16:colId xmlns:a16="http://schemas.microsoft.com/office/drawing/2014/main" val="1922045611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1617718599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3877695732"/>
                    </a:ext>
                  </a:extLst>
                </a:gridCol>
                <a:gridCol w="1808978">
                  <a:extLst>
                    <a:ext uri="{9D8B030D-6E8A-4147-A177-3AD203B41FA5}">
                      <a16:colId xmlns:a16="http://schemas.microsoft.com/office/drawing/2014/main" val="3815785754"/>
                    </a:ext>
                  </a:extLst>
                </a:gridCol>
              </a:tblGrid>
              <a:tr h="388216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908495719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SADD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Adds a unique MAC to a port set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sadd port1:macs "AA:BB:CC:DD:01"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Tracks all unique devices connected to a port.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430107939"/>
                  </a:ext>
                </a:extLst>
              </a:tr>
              <a:tr h="750551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SMEMBERS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Lists all MACs on a port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smembers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port1:macs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Audits the current population of a specific port.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339389903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SREM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Removes a MAC from the set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srem port1:macs "AA:BB:CC:DD:02"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Updates the set when a host disconnects.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71299901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SUNION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Combines MACs from multiple ports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sunion port1:macs port2:macs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Checks the total device count across the switch.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216317950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SINTER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Finds MACs present on both ports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sinter port1:macs port2:macs</a:t>
                      </a:r>
                    </a:p>
                  </a:txBody>
                  <a:tcPr marL="77643" marR="77643" marT="103524" marB="103524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Detects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Network Loops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or duplicate MAC issues.</a:t>
                      </a:r>
                    </a:p>
                  </a:txBody>
                  <a:tcPr marL="77643" marR="77643" marT="103524" marB="103524" anchor="ctr"/>
                </a:tc>
                <a:extLst>
                  <a:ext uri="{0D108BD9-81ED-4DB2-BD59-A6C34878D82A}">
                    <a16:rowId xmlns:a16="http://schemas.microsoft.com/office/drawing/2014/main" val="121924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02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718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Sorted Sets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6F89D9-BD8A-5E45-8EBB-8CE092D33640}"/>
              </a:ext>
            </a:extLst>
          </p:cNvPr>
          <p:cNvGrpSpPr/>
          <p:nvPr/>
        </p:nvGrpSpPr>
        <p:grpSpPr>
          <a:xfrm>
            <a:off x="366474" y="1088844"/>
            <a:ext cx="5028486" cy="3757475"/>
            <a:chOff x="366474" y="1017725"/>
            <a:chExt cx="4425361" cy="32399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3D833D-506A-B0C8-2880-99D27FF0B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155"/>
            <a:stretch/>
          </p:blipFill>
          <p:spPr>
            <a:xfrm>
              <a:off x="366474" y="1017725"/>
              <a:ext cx="4025595" cy="47579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A5091C8-78AC-5051-0943-98CF767384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794"/>
            <a:stretch/>
          </p:blipFill>
          <p:spPr>
            <a:xfrm>
              <a:off x="366474" y="1694095"/>
              <a:ext cx="4147751" cy="180539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9F16D1-04A8-FFBC-3948-A0EAC54C59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866"/>
            <a:stretch/>
          </p:blipFill>
          <p:spPr>
            <a:xfrm>
              <a:off x="366474" y="3700066"/>
              <a:ext cx="4425361" cy="557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217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718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Sorted Sets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E94862-D371-A9DF-4B2E-87EB0AE3B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69416"/>
              </p:ext>
            </p:extLst>
          </p:nvPr>
        </p:nvGraphicFramePr>
        <p:xfrm>
          <a:off x="311700" y="1150437"/>
          <a:ext cx="7702748" cy="3416299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925687">
                  <a:extLst>
                    <a:ext uri="{9D8B030D-6E8A-4147-A177-3AD203B41FA5}">
                      <a16:colId xmlns:a16="http://schemas.microsoft.com/office/drawing/2014/main" val="1566520087"/>
                    </a:ext>
                  </a:extLst>
                </a:gridCol>
                <a:gridCol w="1925687">
                  <a:extLst>
                    <a:ext uri="{9D8B030D-6E8A-4147-A177-3AD203B41FA5}">
                      <a16:colId xmlns:a16="http://schemas.microsoft.com/office/drawing/2014/main" val="3240751820"/>
                    </a:ext>
                  </a:extLst>
                </a:gridCol>
                <a:gridCol w="1925687">
                  <a:extLst>
                    <a:ext uri="{9D8B030D-6E8A-4147-A177-3AD203B41FA5}">
                      <a16:colId xmlns:a16="http://schemas.microsoft.com/office/drawing/2014/main" val="1649038873"/>
                    </a:ext>
                  </a:extLst>
                </a:gridCol>
                <a:gridCol w="1925687">
                  <a:extLst>
                    <a:ext uri="{9D8B030D-6E8A-4147-A177-3AD203B41FA5}">
                      <a16:colId xmlns:a16="http://schemas.microsoft.com/office/drawing/2014/main" val="4110051937"/>
                    </a:ext>
                  </a:extLst>
                </a:gridCol>
              </a:tblGrid>
              <a:tr h="413262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extLst>
                  <a:ext uri="{0D108BD9-81ED-4DB2-BD59-A6C34878D82A}">
                    <a16:rowId xmlns:a16="http://schemas.microsoft.com/office/drawing/2014/main" val="1584387511"/>
                  </a:ext>
                </a:extLst>
              </a:tr>
              <a:tr h="798973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ZADD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Adds a MAC with a numeric score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zadd suspicion_score 10 mac:AA...:02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Ranks hosts by their likelihood of causing a flood.</a:t>
                      </a:r>
                    </a:p>
                  </a:txBody>
                  <a:tcPr marL="82652" marR="82652" marT="110203" marB="110203" anchor="ctr"/>
                </a:tc>
                <a:extLst>
                  <a:ext uri="{0D108BD9-81ED-4DB2-BD59-A6C34878D82A}">
                    <a16:rowId xmlns:a16="http://schemas.microsoft.com/office/drawing/2014/main" val="444034848"/>
                  </a:ext>
                </a:extLst>
              </a:tr>
              <a:tr h="79897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ZRANGE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Lists MACs by lowest score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zrange suspicion_score 0 -1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Identifies the most "trusted" devices in the network.</a:t>
                      </a:r>
                    </a:p>
                  </a:txBody>
                  <a:tcPr marL="82652" marR="82652" marT="110203" marB="110203" anchor="ctr"/>
                </a:tc>
                <a:extLst>
                  <a:ext uri="{0D108BD9-81ED-4DB2-BD59-A6C34878D82A}">
                    <a16:rowId xmlns:a16="http://schemas.microsoft.com/office/drawing/2014/main" val="2855645947"/>
                  </a:ext>
                </a:extLst>
              </a:tr>
              <a:tr h="798973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ZREVRANGE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Lists MACs by highest score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zrevrange</a:t>
                      </a:r>
                      <a:r>
                        <a:rPr lang="fr-FR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</a:t>
                      </a:r>
                      <a:r>
                        <a:rPr lang="fr-FR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suspicion_score</a:t>
                      </a:r>
                      <a:r>
                        <a:rPr lang="fr-FR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0 -1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Highlights the most suspicious hosts for the agent.</a:t>
                      </a:r>
                    </a:p>
                  </a:txBody>
                  <a:tcPr marL="82652" marR="82652" marT="110203" marB="110203" anchor="ctr"/>
                </a:tc>
                <a:extLst>
                  <a:ext uri="{0D108BD9-81ED-4DB2-BD59-A6C34878D82A}">
                    <a16:rowId xmlns:a16="http://schemas.microsoft.com/office/drawing/2014/main" val="2708939760"/>
                  </a:ext>
                </a:extLst>
              </a:tr>
              <a:tr h="606118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ZSCORE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Gets the score of a specific MAC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zscore suspicion_score mac:AA...:02</a:t>
                      </a:r>
                    </a:p>
                  </a:txBody>
                  <a:tcPr marL="82652" marR="82652" marT="110203" marB="1102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Checks the exact threat level of a specific host.</a:t>
                      </a:r>
                    </a:p>
                  </a:txBody>
                  <a:tcPr marL="82652" marR="82652" marT="110203" marB="110203" anchor="ctr"/>
                </a:tc>
                <a:extLst>
                  <a:ext uri="{0D108BD9-81ED-4DB2-BD59-A6C34878D82A}">
                    <a16:rowId xmlns:a16="http://schemas.microsoft.com/office/drawing/2014/main" val="166602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8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048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Stream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6A42D-CDD4-B9D0-289F-BE4E43B88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18580"/>
            <a:ext cx="7916864" cy="337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3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0C85-CBA6-B0FB-C5AB-B23DE489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048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Quicksand" panose="020B0604020202020204" charset="0"/>
              </a:rPr>
              <a:t>Stream</a:t>
            </a:r>
            <a:endParaRPr lang="en-IN" b="1" dirty="0">
              <a:solidFill>
                <a:schemeClr val="bg1"/>
              </a:solidFill>
              <a:latin typeface="Quicksand" panose="020B060402020202020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C81CFB-5C96-5BC5-90C6-08A09F10E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86165"/>
              </p:ext>
            </p:extLst>
          </p:nvPr>
        </p:nvGraphicFramePr>
        <p:xfrm>
          <a:off x="311700" y="1390259"/>
          <a:ext cx="7018248" cy="277616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163139">
                  <a:extLst>
                    <a:ext uri="{9D8B030D-6E8A-4147-A177-3AD203B41FA5}">
                      <a16:colId xmlns:a16="http://schemas.microsoft.com/office/drawing/2014/main" val="3511619110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62530250"/>
                    </a:ext>
                  </a:extLst>
                </a:gridCol>
                <a:gridCol w="2183257">
                  <a:extLst>
                    <a:ext uri="{9D8B030D-6E8A-4147-A177-3AD203B41FA5}">
                      <a16:colId xmlns:a16="http://schemas.microsoft.com/office/drawing/2014/main" val="2393670051"/>
                    </a:ext>
                  </a:extLst>
                </a:gridCol>
                <a:gridCol w="1754562">
                  <a:extLst>
                    <a:ext uri="{9D8B030D-6E8A-4147-A177-3AD203B41FA5}">
                      <a16:colId xmlns:a16="http://schemas.microsoft.com/office/drawing/2014/main" val="1203006317"/>
                    </a:ext>
                  </a:extLst>
                </a:gridCol>
              </a:tblGrid>
              <a:tr h="570444"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Command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Function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Working Example 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 b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Project Use Case</a:t>
                      </a:r>
                      <a:endParaRPr lang="en-IN" sz="120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327412615"/>
                  </a:ext>
                </a:extLst>
              </a:tr>
              <a:tr h="1102858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XADD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Appends a new event with a timestamp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xadd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network_stream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 * event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new_mac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...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Creates a real-time, immutable audit trail.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065876172"/>
                  </a:ext>
                </a:extLst>
              </a:tr>
              <a:tr h="1102858">
                <a:tc>
                  <a:txBody>
                    <a:bodyPr/>
                    <a:lstStyle/>
                    <a:p>
                      <a:pPr rtl="0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XRANGE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Quicksand" panose="020B060402020202020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Queries events between two IDs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xrange network_stream - +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Quicksand" panose="020B0604020202020204" charset="0"/>
                        </a:rPr>
                        <a:t>Analyzes traffic spikes within a specific timeframe.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04074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504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806</Words>
  <Application>Microsoft Office PowerPoint</Application>
  <PresentationFormat>On-screen Show (16:9)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Quicksand</vt:lpstr>
      <vt:lpstr>Arial</vt:lpstr>
      <vt:lpstr>Simple Light</vt:lpstr>
      <vt:lpstr>String</vt:lpstr>
      <vt:lpstr>String</vt:lpstr>
      <vt:lpstr>Hash</vt:lpstr>
      <vt:lpstr>Hash</vt:lpstr>
      <vt:lpstr>List</vt:lpstr>
      <vt:lpstr>List</vt:lpstr>
      <vt:lpstr>Set</vt:lpstr>
      <vt:lpstr>Set</vt:lpstr>
      <vt:lpstr>Sorted Sets</vt:lpstr>
      <vt:lpstr>Sorted Sets</vt:lpstr>
      <vt:lpstr>Stream</vt:lpstr>
      <vt:lpstr>Stream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</dc:title>
  <cp:lastModifiedBy>Akash Mittal</cp:lastModifiedBy>
  <cp:revision>8</cp:revision>
  <dcterms:modified xsi:type="dcterms:W3CDTF">2026-04-07T15:50:11Z</dcterms:modified>
</cp:coreProperties>
</file>