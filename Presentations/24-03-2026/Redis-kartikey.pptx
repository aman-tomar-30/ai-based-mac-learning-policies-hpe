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DBDC9-3E6C-4AD9-88BA-42877C2E4728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0B0DD-E7DF-4CFB-BAF8-F41FC56B2F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38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90B0DD-E7DF-4CFB-BAF8-F41FC56B2F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50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8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55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386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4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78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4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87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02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0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4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09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0F1F64F-B5F2-482C-B257-6DA146DB535C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8F1C4469-B216-4487-A3B2-30C0C6C038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041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C64D2-09E8-D6FF-884E-545C63805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2886" y="518768"/>
            <a:ext cx="6100592" cy="254611"/>
          </a:xfrm>
        </p:spPr>
        <p:txBody>
          <a:bodyPr>
            <a:normAutofit fontScale="90000"/>
          </a:bodyPr>
          <a:lstStyle/>
          <a:p>
            <a:pPr>
              <a:spcBef>
                <a:spcPts val="125"/>
              </a:spcBef>
              <a:spcAft>
                <a:spcPts val="125"/>
              </a:spcAft>
            </a:pPr>
            <a:r>
              <a:rPr lang="en-US" dirty="0">
                <a:solidFill>
                  <a:schemeClr val="tx2"/>
                </a:solidFill>
              </a:rPr>
              <a:t>Redis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81E4C0-EB7C-5E3B-8066-24AD20E6EC4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1384" y="720000"/>
            <a:ext cx="5884616" cy="1846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</a:pPr>
            <a:r>
              <a:rPr lang="en-US" sz="1800" b="1" dirty="0">
                <a:solidFill>
                  <a:schemeClr val="tx2"/>
                </a:solidFill>
              </a:rPr>
              <a:t>What is Redis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ptos" panose="020B0004020202020204" pitchFamily="34" charset="0"/>
              <a:buChar char="→"/>
              <a:tabLst/>
            </a:pPr>
            <a:r>
              <a:rPr lang="en-US" altLang="en-US" sz="1400" dirty="0">
                <a:solidFill>
                  <a:schemeClr val="tx2"/>
                </a:solidFill>
              </a:rPr>
              <a:t>Open source, in-memory database — stores everything in RAM </a:t>
            </a:r>
          </a:p>
          <a:p>
            <a:pPr marL="342900" indent="-342900" algn="just"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Key-Value Store: </a:t>
            </a:r>
            <a:r>
              <a:rPr lang="en-US" sz="1400" dirty="0">
                <a:solidFill>
                  <a:schemeClr val="tx2"/>
                </a:solidFill>
              </a:rPr>
              <a:t>Optimized for rapid, unique data lookups.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ptos" panose="020B0004020202020204" pitchFamily="34" charset="0"/>
              <a:buChar char="→"/>
              <a:tabLst/>
            </a:pPr>
            <a:r>
              <a:rPr lang="en-US" sz="1400" b="1" dirty="0">
                <a:solidFill>
                  <a:schemeClr val="tx2"/>
                </a:solidFill>
              </a:rPr>
              <a:t>Data Versatility:</a:t>
            </a:r>
            <a:r>
              <a:rPr lang="en-US" sz="1400" dirty="0">
                <a:solidFill>
                  <a:schemeClr val="tx2"/>
                </a:solidFill>
              </a:rPr>
              <a:t> Supports hashes, lists, and sets for complex telemetry.</a:t>
            </a:r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13199FA-137D-DEC9-2BB8-DA7ECB86CAA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1384" y="2572487"/>
            <a:ext cx="5884616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</a:pPr>
            <a:r>
              <a:rPr lang="en-US" b="1" dirty="0">
                <a:solidFill>
                  <a:schemeClr val="tx2"/>
                </a:solidFill>
              </a:rPr>
              <a:t>Why We Are Using Redis</a:t>
            </a:r>
            <a:endParaRPr lang="en-US" altLang="en-US" b="1" dirty="0">
              <a:solidFill>
                <a:schemeClr val="tx2"/>
              </a:solidFill>
            </a:endParaRPr>
          </a:p>
          <a:p>
            <a:pPr marL="285750" marR="0" lvl="0" indent="-285750" algn="just"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ptos" panose="020B0004020202020204" pitchFamily="34" charset="0"/>
              <a:buChar char="→"/>
              <a:tabLst/>
            </a:pPr>
            <a:r>
              <a:rPr lang="en-US" sz="1400" b="1" dirty="0"/>
              <a:t>Eliminate Disk Latency:</a:t>
            </a:r>
            <a:r>
              <a:rPr lang="en-US" sz="1400" dirty="0"/>
              <a:t> Bypasses slow I/O bottlenecks of traditional Databases like MySQL.</a:t>
            </a:r>
            <a:endParaRPr lang="en-US" altLang="en-US" sz="1400" dirty="0">
              <a:solidFill>
                <a:schemeClr val="tx2"/>
              </a:solidFill>
            </a:endParaRPr>
          </a:p>
          <a:p>
            <a:pPr marL="285750" marR="0" lvl="0" indent="-285750" algn="just" fontAlgn="base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buFont typeface="Aptos" panose="020B0004020202020204" pitchFamily="34" charset="0"/>
              <a:buChar char="→"/>
              <a:tabLst/>
            </a:pPr>
            <a:r>
              <a:rPr lang="en-US" altLang="en-US" sz="1400" b="1" dirty="0">
                <a:solidFill>
                  <a:schemeClr val="tx2"/>
                </a:solidFill>
              </a:rPr>
              <a:t>Redis reads from RAM: </a:t>
            </a:r>
            <a:r>
              <a:rPr lang="en-US" altLang="en-US" sz="1400" dirty="0">
                <a:solidFill>
                  <a:schemeClr val="tx2"/>
                </a:solidFill>
              </a:rPr>
              <a:t>making it fast enough to sit between a live switch and the RL agent </a:t>
            </a:r>
          </a:p>
          <a:p>
            <a:pPr marR="0" lvl="0" algn="just" fontAlgn="base">
              <a:lnSpc>
                <a:spcPct val="100000"/>
              </a:lnSpc>
              <a:spcBef>
                <a:spcPts val="125"/>
              </a:spcBef>
              <a:spcAft>
                <a:spcPts val="125"/>
              </a:spcAft>
              <a:buClrTx/>
              <a:buSzTx/>
              <a:tabLst/>
            </a:pPr>
            <a:endParaRPr lang="en-US" altLang="en-US" sz="140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8E2E4-6D57-7A01-C33D-583F002B3566}"/>
              </a:ext>
            </a:extLst>
          </p:cNvPr>
          <p:cNvSpPr txBox="1"/>
          <p:nvPr/>
        </p:nvSpPr>
        <p:spPr>
          <a:xfrm>
            <a:off x="6236110" y="774598"/>
            <a:ext cx="5955890" cy="152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</a:pPr>
            <a:r>
              <a:rPr lang="en-US" b="1" dirty="0">
                <a:solidFill>
                  <a:schemeClr val="tx2"/>
                </a:solidFill>
              </a:rPr>
              <a:t>What is Grafana and How We Use It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Live Dashboards: </a:t>
            </a:r>
            <a:r>
              <a:rPr lang="en-US" sz="1400" dirty="0">
                <a:solidFill>
                  <a:schemeClr val="tx2"/>
                </a:solidFill>
              </a:rPr>
              <a:t>Real-time MAC and port traffic visibility.</a:t>
            </a:r>
          </a:p>
          <a:p>
            <a:pPr marL="285750" indent="-285750" algn="just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/>
              <a:t>Logic Observability:</a:t>
            </a:r>
            <a:r>
              <a:rPr lang="en-US" sz="1400" dirty="0"/>
              <a:t> Visualizes RL agent flooding alerts.</a:t>
            </a:r>
          </a:p>
          <a:p>
            <a:pPr marL="285750" indent="-285750" algn="just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/>
              <a:t>Historical Data Tracking</a:t>
            </a:r>
            <a:r>
              <a:rPr lang="en-US" sz="1400" dirty="0"/>
              <a:t> for identifying past network issues.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9B4684-FCA0-D6C4-3969-665212755C7D}"/>
              </a:ext>
            </a:extLst>
          </p:cNvPr>
          <p:cNvSpPr txBox="1"/>
          <p:nvPr/>
        </p:nvSpPr>
        <p:spPr>
          <a:xfrm>
            <a:off x="211383" y="4484748"/>
            <a:ext cx="5884618" cy="184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</a:pPr>
            <a:r>
              <a:rPr lang="en-US" b="1" dirty="0">
                <a:solidFill>
                  <a:schemeClr val="tx2"/>
                </a:solidFill>
              </a:rPr>
              <a:t>How the Redis File System Works</a:t>
            </a:r>
            <a:endParaRPr lang="en-US" sz="1400" dirty="0">
              <a:solidFill>
                <a:schemeClr val="tx2"/>
              </a:solidFill>
            </a:endParaRPr>
          </a:p>
          <a:p>
            <a:pPr marL="285750" indent="-285750" algn="just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RDB Snapshot </a:t>
            </a:r>
            <a:r>
              <a:rPr lang="en-US" sz="1400" dirty="0">
                <a:solidFill>
                  <a:schemeClr val="tx2"/>
                </a:solidFill>
              </a:rPr>
              <a:t>takes a full photograph of memory and saves it to disk periodically</a:t>
            </a:r>
          </a:p>
          <a:p>
            <a:pPr marL="285750" indent="-285750" algn="just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AOF Log </a:t>
            </a:r>
            <a:r>
              <a:rPr lang="en-US" sz="1400" dirty="0">
                <a:solidFill>
                  <a:schemeClr val="tx2"/>
                </a:solidFill>
              </a:rPr>
              <a:t>records every write operation to a file on disk as it happens</a:t>
            </a:r>
          </a:p>
          <a:p>
            <a:pPr marL="285750" indent="-285750" algn="just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/>
              <a:t>System Recovery:</a:t>
            </a:r>
            <a:r>
              <a:rPr lang="en-US" sz="1400" dirty="0"/>
              <a:t> Replays AOF logs on restart to restore data state.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14CDA-603D-7693-1221-E41273AFC3B7}"/>
              </a:ext>
            </a:extLst>
          </p:cNvPr>
          <p:cNvSpPr txBox="1"/>
          <p:nvPr/>
        </p:nvSpPr>
        <p:spPr>
          <a:xfrm>
            <a:off x="6236109" y="2566403"/>
            <a:ext cx="6024726" cy="3836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</a:pPr>
            <a:r>
              <a:rPr lang="en-US" b="1" dirty="0">
                <a:solidFill>
                  <a:schemeClr val="tx2"/>
                </a:solidFill>
              </a:rPr>
              <a:t>Data Types We Will Use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String</a:t>
            </a:r>
            <a:r>
              <a:rPr lang="en-US" sz="1400" dirty="0">
                <a:solidFill>
                  <a:schemeClr val="tx2"/>
                </a:solidFill>
              </a:rPr>
              <a:t> :	Single value per key. Used for simple readings like current MAC table status or port health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Hash:	M</a:t>
            </a:r>
            <a:r>
              <a:rPr lang="en-US" sz="1400" dirty="0">
                <a:solidFill>
                  <a:schemeClr val="tx2"/>
                </a:solidFill>
              </a:rPr>
              <a:t>ultiple fields under one key. Used to store everything about one MAC address — port, VLAN, times seen, status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List</a:t>
            </a:r>
            <a:r>
              <a:rPr lang="en-US" sz="1400" dirty="0">
                <a:solidFill>
                  <a:schemeClr val="tx2"/>
                </a:solidFill>
              </a:rPr>
              <a:t> :	Ordered queue. Used as the event queue where the switch pushes events and the agent processes them in order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>
                <a:solidFill>
                  <a:schemeClr val="tx2"/>
                </a:solidFill>
              </a:rPr>
              <a:t>Sorted Set:</a:t>
            </a:r>
            <a:r>
              <a:rPr lang="en-US" sz="1400" dirty="0">
                <a:solidFill>
                  <a:schemeClr val="tx2"/>
                </a:solidFill>
              </a:rPr>
              <a:t>	Ranked leaderboard with scores; used to instantly identify and prioritize suspicious ports for the agent.</a:t>
            </a:r>
          </a:p>
          <a:p>
            <a:pPr marL="285750" indent="-285750">
              <a:lnSpc>
                <a:spcPct val="150000"/>
              </a:lnSpc>
              <a:spcBef>
                <a:spcPts val="125"/>
              </a:spcBef>
              <a:spcAft>
                <a:spcPts val="125"/>
              </a:spcAft>
              <a:buFont typeface="Aptos" panose="020B0004020202020204" pitchFamily="34" charset="0"/>
              <a:buChar char="→"/>
            </a:pPr>
            <a:r>
              <a:rPr lang="en-US" sz="1400" b="1" dirty="0"/>
              <a:t>Stream :	</a:t>
            </a:r>
            <a:r>
              <a:rPr lang="en-US" sz="1400" dirty="0"/>
              <a:t>Live multi-reader event feed; allows the RL agent and Grafana to process the same data simultaneously.</a:t>
            </a:r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B0C34-5FA6-2077-36B6-05B1081FE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89" y="75485"/>
            <a:ext cx="501926" cy="50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4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279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Redis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creator>Akash Mittal</dc:creator>
  <cp:lastModifiedBy>Akash Mittal</cp:lastModifiedBy>
  <cp:revision>4</cp:revision>
  <dcterms:created xsi:type="dcterms:W3CDTF">2026-03-20T16:15:57Z</dcterms:created>
  <dcterms:modified xsi:type="dcterms:W3CDTF">2026-03-22T10:46:51Z</dcterms:modified>
</cp:coreProperties>
</file>