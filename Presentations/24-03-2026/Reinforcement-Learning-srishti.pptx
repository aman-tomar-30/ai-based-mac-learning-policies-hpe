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80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0350" y="283648"/>
            <a:ext cx="45809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>
                <a:solidFill>
                  <a:schemeClr val="bg1"/>
                </a:solidFill>
              </a:rPr>
              <a:t>REINFORCEMENT LEARNING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9343" y="4104933"/>
            <a:ext cx="2917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Algorithms :-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Q-Learning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dirty="0" smtClean="0">
                <a:solidFill>
                  <a:schemeClr val="bg1"/>
                </a:solidFill>
              </a:rPr>
              <a:t>State-Action-Reward-State-Action(SARSA)</a:t>
            </a: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Deep Q-Network(DQN) </a:t>
            </a:r>
            <a:endParaRPr lang="en-GB" dirty="0" smtClean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</a:pPr>
            <a:endParaRPr lang="en-GB" dirty="0" smtClean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9438" y="4262831"/>
            <a:ext cx="5060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Advantages :-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No labelled data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Can adjust when environment </a:t>
            </a:r>
            <a:r>
              <a:rPr lang="en-GB" dirty="0" smtClean="0">
                <a:solidFill>
                  <a:schemeClr val="bg1"/>
                </a:solidFill>
              </a:rPr>
              <a:t>changes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Good for decision making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Focuses on future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0075" y="4375992"/>
            <a:ext cx="30848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dirty="0" smtClean="0">
                <a:solidFill>
                  <a:schemeClr val="bg1"/>
                </a:solidFill>
              </a:rPr>
              <a:t>Disadvantages :-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Slow training, as needs many trials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High computation cost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Difficult reward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366103" y="4075032"/>
                <a:ext cx="279699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bg1"/>
                  </a:buClr>
                </a:pPr>
                <a:r>
                  <a:rPr lang="en-GB" dirty="0" smtClean="0">
                    <a:solidFill>
                      <a:schemeClr val="bg1"/>
                    </a:solidFill>
                  </a:rPr>
                  <a:t>Core Components:-</a:t>
                </a:r>
              </a:p>
              <a:p>
                <a:pPr marL="342900" indent="-3429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GB" dirty="0" smtClean="0">
                    <a:solidFill>
                      <a:schemeClr val="bg1"/>
                    </a:solidFill>
                  </a:rPr>
                  <a:t>States(S)</a:t>
                </a:r>
              </a:p>
              <a:p>
                <a:pPr marL="342900" indent="-3429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GB" dirty="0" smtClean="0">
                    <a:solidFill>
                      <a:schemeClr val="bg1"/>
                    </a:solidFill>
                  </a:rPr>
                  <a:t>Actions(A)</a:t>
                </a:r>
              </a:p>
              <a:p>
                <a:pPr marL="342900" indent="-3429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GB" dirty="0" smtClean="0">
                    <a:solidFill>
                      <a:schemeClr val="bg1"/>
                    </a:solidFill>
                  </a:rPr>
                  <a:t>Transition Model(T)</a:t>
                </a:r>
              </a:p>
              <a:p>
                <a:pPr marL="342900" indent="-3429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GB" dirty="0" smtClean="0">
                    <a:solidFill>
                      <a:schemeClr val="bg1"/>
                    </a:solidFill>
                  </a:rPr>
                  <a:t>Reward(R)</a:t>
                </a:r>
              </a:p>
              <a:p>
                <a:pPr marL="342900" indent="-342900">
                  <a:buClr>
                    <a:schemeClr val="bg1"/>
                  </a:buClr>
                  <a:buFont typeface="+mj-lt"/>
                  <a:buAutoNum type="arabicPeriod"/>
                </a:pPr>
                <a:r>
                  <a:rPr lang="en-GB" dirty="0" smtClean="0">
                    <a:solidFill>
                      <a:schemeClr val="bg1"/>
                    </a:solidFill>
                  </a:rPr>
                  <a:t>Policy(</a:t>
                </a:r>
                <a14:m>
                  <m:oMath xmlns:m="http://schemas.openxmlformats.org/officeDocument/2006/math">
                    <m:r>
                      <a:rPr lang="el-G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dirty="0" smtClean="0">
                    <a:solidFill>
                      <a:schemeClr val="bg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6103" y="4075032"/>
                <a:ext cx="2796990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1743" t="-1736" b="-45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616583" y="2207428"/>
            <a:ext cx="1515035" cy="3944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Agent</a:t>
            </a:r>
            <a:endParaRPr lang="en-IN" dirty="0"/>
          </a:p>
        </p:txBody>
      </p:sp>
      <p:sp>
        <p:nvSpPr>
          <p:cNvPr id="13" name="Rectangle 12"/>
          <p:cNvSpPr/>
          <p:nvPr/>
        </p:nvSpPr>
        <p:spPr>
          <a:xfrm>
            <a:off x="8616583" y="3250601"/>
            <a:ext cx="1515035" cy="39444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Environment</a:t>
            </a:r>
            <a:endParaRPr lang="en-IN" dirty="0"/>
          </a:p>
        </p:txBody>
      </p:sp>
      <p:cxnSp>
        <p:nvCxnSpPr>
          <p:cNvPr id="21" name="Curved Connector 20"/>
          <p:cNvCxnSpPr/>
          <p:nvPr/>
        </p:nvCxnSpPr>
        <p:spPr>
          <a:xfrm rot="10800000">
            <a:off x="8610233" y="2404651"/>
            <a:ext cx="12700" cy="1043173"/>
          </a:xfrm>
          <a:prstGeom prst="curvedConnector3">
            <a:avLst>
              <a:gd name="adj1" fmla="val 13023528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/>
          <p:nvPr/>
        </p:nvCxnSpPr>
        <p:spPr>
          <a:xfrm rot="10800000">
            <a:off x="8594358" y="2404651"/>
            <a:ext cx="12700" cy="1043173"/>
          </a:xfrm>
          <a:prstGeom prst="curvedConnector3">
            <a:avLst>
              <a:gd name="adj1" fmla="val 10058819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12" idx="3"/>
            <a:endCxn id="13" idx="3"/>
          </p:cNvCxnSpPr>
          <p:nvPr/>
        </p:nvCxnSpPr>
        <p:spPr>
          <a:xfrm>
            <a:off x="10131618" y="2404652"/>
            <a:ext cx="12700" cy="1043173"/>
          </a:xfrm>
          <a:prstGeom prst="curvedConnector3">
            <a:avLst>
              <a:gd name="adj1" fmla="val 13305882"/>
            </a:avLst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04958" y="2615920"/>
            <a:ext cx="1595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Reward </a:t>
            </a:r>
            <a:r>
              <a:rPr lang="en-GB" sz="1600" dirty="0" err="1" smtClean="0">
                <a:solidFill>
                  <a:schemeClr val="bg1"/>
                </a:solidFill>
              </a:rPr>
              <a:t>r</a:t>
            </a:r>
            <a:r>
              <a:rPr lang="en-GB" sz="1600" baseline="-25000" dirty="0" err="1" smtClean="0">
                <a:solidFill>
                  <a:schemeClr val="bg1"/>
                </a:solidFill>
              </a:rPr>
              <a:t>t</a:t>
            </a:r>
            <a:r>
              <a:rPr lang="en-GB" sz="1600" dirty="0" smtClean="0">
                <a:solidFill>
                  <a:schemeClr val="bg1"/>
                </a:solidFill>
              </a:rPr>
              <a:t/>
            </a:r>
            <a:br>
              <a:rPr lang="en-GB" sz="1600" dirty="0" smtClean="0">
                <a:solidFill>
                  <a:schemeClr val="bg1"/>
                </a:solidFill>
              </a:rPr>
            </a:br>
            <a:r>
              <a:rPr lang="en-GB" sz="1600" dirty="0" smtClean="0">
                <a:solidFill>
                  <a:schemeClr val="bg1"/>
                </a:solidFill>
              </a:rPr>
              <a:t>Next State s</a:t>
            </a:r>
            <a:r>
              <a:rPr lang="en-GB" sz="1600" baseline="-25000" dirty="0" smtClean="0">
                <a:solidFill>
                  <a:schemeClr val="bg1"/>
                </a:solidFill>
              </a:rPr>
              <a:t>t+1</a:t>
            </a:r>
            <a:endParaRPr lang="en-GB" sz="1600" dirty="0" smtClean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29718" y="2052104"/>
            <a:ext cx="1595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State </a:t>
            </a:r>
            <a:r>
              <a:rPr lang="en-GB" sz="1600" dirty="0" err="1" smtClean="0">
                <a:solidFill>
                  <a:schemeClr val="bg1"/>
                </a:solidFill>
              </a:rPr>
              <a:t>s</a:t>
            </a:r>
            <a:r>
              <a:rPr lang="en-GB" sz="1600" baseline="-25000" dirty="0" err="1" smtClean="0">
                <a:solidFill>
                  <a:schemeClr val="bg1"/>
                </a:solidFill>
              </a:rPr>
              <a:t>t</a:t>
            </a:r>
            <a:endParaRPr lang="en-GB" sz="1600" dirty="0" smtClean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57934" y="2038151"/>
            <a:ext cx="1595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sz="1600" dirty="0" smtClean="0">
                <a:solidFill>
                  <a:schemeClr val="bg1"/>
                </a:solidFill>
              </a:rPr>
              <a:t>Action a</a:t>
            </a:r>
            <a:r>
              <a:rPr lang="en-GB" sz="1600" baseline="-25000" dirty="0" smtClean="0">
                <a:solidFill>
                  <a:schemeClr val="bg1"/>
                </a:solidFill>
              </a:rPr>
              <a:t>t</a:t>
            </a:r>
            <a:endParaRPr lang="en-GB" sz="1600" dirty="0" smtClean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49438" y="2978503"/>
            <a:ext cx="6358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Agent interacts with the environment, which provides numeric reward signals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chemeClr val="bg1"/>
                </a:solidFill>
              </a:rPr>
              <a:t>Uses reward and penalty</a:t>
            </a:r>
            <a:endParaRPr lang="en-GB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GB" dirty="0" smtClean="0">
                <a:solidFill>
                  <a:schemeClr val="bg1"/>
                </a:solidFill>
              </a:rPr>
              <a:t>Goal</a:t>
            </a:r>
            <a:r>
              <a:rPr lang="en-GB" dirty="0">
                <a:solidFill>
                  <a:schemeClr val="bg1"/>
                </a:solidFill>
              </a:rPr>
              <a:t>: Learn how to take actions in order to maximize </a:t>
            </a:r>
            <a:r>
              <a:rPr lang="en-GB" dirty="0" smtClean="0">
                <a:solidFill>
                  <a:schemeClr val="bg1"/>
                </a:solidFill>
              </a:rPr>
              <a:t>reward.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29146" y="720323"/>
            <a:ext cx="16005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altLang="en-US" sz="1600" dirty="0" smtClean="0">
                <a:solidFill>
                  <a:schemeClr val="bg1"/>
                </a:solidFill>
              </a:rPr>
              <a:t>- </a:t>
            </a:r>
            <a:r>
              <a:rPr lang="en-GB" altLang="en-US" sz="1600" dirty="0" err="1" smtClean="0">
                <a:solidFill>
                  <a:schemeClr val="bg1"/>
                </a:solidFill>
              </a:rPr>
              <a:t>Srishti</a:t>
            </a:r>
            <a:r>
              <a:rPr lang="en-GB" altLang="en-US" sz="1600" dirty="0" smtClean="0">
                <a:solidFill>
                  <a:schemeClr val="bg1"/>
                </a:solidFill>
              </a:rPr>
              <a:t> Singh</a:t>
            </a:r>
            <a:endParaRPr lang="en-US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27578" y="1485548"/>
            <a:ext cx="4342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GB" u="sng" dirty="0" smtClean="0">
                <a:solidFill>
                  <a:schemeClr val="bg1"/>
                </a:solidFill>
              </a:rPr>
              <a:t>Markov Decision Process(MDP)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438" y="1140178"/>
            <a:ext cx="5337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chemeClr val="bg1"/>
                </a:solidFill>
              </a:rPr>
              <a:t>Supervised Learning:</a:t>
            </a:r>
            <a:r>
              <a:rPr lang="en-US" altLang="en-US" dirty="0">
                <a:solidFill>
                  <a:schemeClr val="bg1"/>
                </a:solidFill>
              </a:rPr>
              <a:t> Learns from </a:t>
            </a:r>
            <a:r>
              <a:rPr lang="en-US" altLang="en-US" dirty="0" smtClean="0">
                <a:solidFill>
                  <a:schemeClr val="bg1"/>
                </a:solidFill>
              </a:rPr>
              <a:t>labelled </a:t>
            </a:r>
            <a:r>
              <a:rPr lang="en-US" altLang="en-US" dirty="0">
                <a:solidFill>
                  <a:schemeClr val="bg1"/>
                </a:solidFill>
              </a:rPr>
              <a:t>data (input → correct output given)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>
                <a:solidFill>
                  <a:schemeClr val="bg1"/>
                </a:solidFill>
              </a:rPr>
              <a:t>Unsupervised Learning:</a:t>
            </a:r>
            <a:r>
              <a:rPr lang="en-US" altLang="en-US" dirty="0">
                <a:solidFill>
                  <a:schemeClr val="bg1"/>
                </a:solidFill>
              </a:rPr>
              <a:t> Finds patterns in </a:t>
            </a:r>
            <a:r>
              <a:rPr lang="en-US" altLang="en-US" dirty="0" err="1" smtClean="0">
                <a:solidFill>
                  <a:schemeClr val="bg1"/>
                </a:solidFill>
              </a:rPr>
              <a:t>unlabelled</a:t>
            </a:r>
            <a:r>
              <a:rPr lang="en-US" altLang="en-US" dirty="0" smtClean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chemeClr val="bg1"/>
                </a:solidFill>
              </a:rPr>
              <a:t>data (no correct </a:t>
            </a:r>
            <a:r>
              <a:rPr lang="en-US" altLang="en-US" dirty="0" smtClean="0">
                <a:solidFill>
                  <a:schemeClr val="bg1"/>
                </a:solidFill>
              </a:rPr>
              <a:t>output given) </a:t>
            </a:r>
            <a:endParaRPr lang="en-US" altLang="en-US" dirty="0">
              <a:solidFill>
                <a:schemeClr val="bg1"/>
              </a:solidFill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b="1" dirty="0" smtClean="0">
                <a:solidFill>
                  <a:schemeClr val="bg1"/>
                </a:solidFill>
              </a:rPr>
              <a:t>Reinforcement Learning:</a:t>
            </a:r>
            <a:r>
              <a:rPr lang="en-US" altLang="en-US" dirty="0" smtClean="0">
                <a:solidFill>
                  <a:schemeClr val="bg1"/>
                </a:solidFill>
              </a:rPr>
              <a:t> Learns by interacting with environment using rewards &amp; penalties </a:t>
            </a:r>
            <a:endParaRPr lang="en-US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2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413</TotalTime>
  <Words>142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Cambria Math</vt:lpstr>
      <vt:lpstr>Tw Cen MT</vt:lpstr>
      <vt:lpstr>Tw Cen MT Condensed</vt:lpstr>
      <vt:lpstr>Wingdings 3</vt:lpstr>
      <vt:lpstr>Integral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17</cp:revision>
  <dcterms:created xsi:type="dcterms:W3CDTF">2026-03-21T01:51:42Z</dcterms:created>
  <dcterms:modified xsi:type="dcterms:W3CDTF">2026-03-22T15:30:56Z</dcterms:modified>
</cp:coreProperties>
</file>