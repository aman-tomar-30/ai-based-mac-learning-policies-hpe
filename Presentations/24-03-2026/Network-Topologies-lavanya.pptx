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embeddedFontLst>
    <p:embeddedFont>
      <p:font typeface="Poppins Light" panose="00000400000000000000" pitchFamily="2" charset="0"/>
      <p:regular r:id="rId4"/>
    </p:embeddedFont>
    <p:embeddedFont>
      <p:font typeface="Roboto Light" panose="02000000000000000000" pitchFamily="2" charset="0"/>
      <p:regular r:id="rId5"/>
      <p: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1T17:29:28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641 187 24575,'-1'3'0,"0"-1"0,0 1 0,0-1 0,0 1 0,-1-1 0,1 1 0,-1-1 0,0 0 0,0 0 0,0 0 0,0 0 0,0 0 0,-4 2 0,-4 6 0,-247 231 0,174-168 0,-90 68 0,161-132 0,1-1 0,-22 11 0,-2 2 0,35-21 0,0 0 0,0 0 0,0 0 0,0 0 0,0 0 0,0 0 0,0 0 0,0 0 0,0 1 0,-1-1 0,1 0 0,0 0 0,0 0 0,0 0 0,0 0 0,0 0 0,0 0 0,0 1 0,0-1 0,0 0 0,0 0 0,0 0 0,0 0 0,0 0 0,0 0 0,0 1 0,0-1 0,0 0 0,0 0 0,0 0 0,1 0 0,-1 0 0,0 0 0,0 0 0,0 0 0,0 1 0,0-1 0,0 0 0,0 0 0,0 0 0,0 0 0,0 0 0,0 0 0,1 0 0,-1 0 0,0 0 0,0 0 0,0 0 0,0 0 0,0 0 0,0 0 0,1 1 0,-1-1 0,0 0 0,0 0 0,0 0 0,0 0 0,0 0 0,0 0 0,0 0 0,1-1 0,-1 1 0,0 0 0,0 0 0,0 0 0,0 0 0,0 0 0,0 0 0,13 2 0,24-3 0,0-2 0,-1-1 0,1-2 0,-1-1 0,0-2 0,66-26 0,388-121 0,-344 124 0,26-8 0,-142 33 0,27-9 0,-54 16 0,0-1 0,-1 0 0,1-1 0,-1 1 0,0 0 0,1-1 0,-1 1 0,0-1 0,0 0 0,0 0 0,0 0 0,0 0 0,0 0 0,-1 0 0,1 0 0,1-4 0,-3 5 0,1 1 0,-1-1 0,0 0 0,0 0 0,0 1 0,0-1 0,-1 0 0,1 0 0,0 1 0,0-1 0,0 0 0,-1 0 0,1 1 0,0-1 0,-1 0 0,1 1 0,0-1 0,-1 0 0,1 1 0,-1-1 0,1 1 0,-1-1 0,1 1 0,-1-1 0,0 1 0,1-1 0,-1 1 0,0 0 0,1-1 0,-1 1 0,0 0 0,1-1 0,-1 1 0,0 0 0,0 0 0,1 0 0,-1 0 0,0 0 0,-1 0 0,-36-6 0,34 5 0,-34-1 0,-1 2 0,1 1 0,-59 10 0,-114 32 0,121-22 0,-11 1 0,-5 3 0,-112 10 0,230-38 0,1 0 0,-1-1 0,1-1 0,-1 0 0,11-7 0,18-7 0,212-103 0,22-9 0,-176 93 0,-32 14 0,-1-2 0,-1-4 0,59-37 0,-122 66 0,-1 0 0,1 1 0,-1-1 0,0 0 0,0 0 0,0 0 0,0 0 0,1 0 0,-1 0 0,0 0 0,-1-1 0,1 1 0,0 0 0,0 0 0,0-1 0,0-1 0,-1 2 0,0 1 0,0-1 0,0 0 0,0 1 0,-1-1 0,1 1 0,0-1 0,0 1 0,-1-1 0,1 1 0,0-1 0,-1 1 0,1-1 0,0 1 0,-1-1 0,1 1 0,-1 0 0,1-1 0,-1 1 0,1 0 0,-1-1 0,1 1 0,-1 0 0,1 0 0,-1-1 0,1 1 0,-2 0 0,-6-3 0,0 1 0,0 1 0,0-1 0,-14 1 0,-18 0 0,1 2 0,-78 12 0,-77 28 0,120-23 0,15-3 0,-61 26 0,77-25 0,40-15-124,-1 1 0,1-1 0,-1 0 0,1-1 0,-1 1 0,0-1-1,1 1 1,-1-1 0,0 0 0,-3-1 0,-7-3-6702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1T17:29:39.75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1629 495,'90'-4,"121"-21,1-1,522 15,-426 14,482-3,-749 2,68 12,19 2,360-14,-252-4,755 2,-985 0,0 0,0 1,0-1,0 1,0 0,0 1,-1-1,1 1,0 0,-1 1,9 4,-10-4,0 0,-1 0,0 0,0 1,0-1,0 1,0-1,-1 1,1 0,-1 0,0 0,-1 0,1 1,0-1,-1 0,1 6,2 22,-1 0,-1 0,-2 1,-8 59,8-89,0 0,-1 0,0 0,0 0,1 0,-2 0,1 0,0 0,-1-1,1 1,-1 0,0-1,0 1,0-1,0 0,0 0,0 0,-1 0,1 0,-1 0,1 0,-1-1,0 1,1-1,-1 0,0 0,0 0,-6 1,-7 0,1 0,-1-1,0-1,-26-3,-8 2,37 2,1 1,0 1,0 0,0 1,0 0,0 0,1 2,-1-1,1 2,1-1,-11 9,-20 11,22-18,1 0,-1-1,-1-2,1 0,-1 0,0-2,-26 1,-19 5,-15 0,-26 5,40-3,0-4,0-2,-109-7,52 0,-558 2,651-2,1-1,-40-9,37 6,-56-4,-466 8,266 5,-171-3,428-2,0-1,-35-8,32 5,-52-4,-3 10,41 0,-1-1,-56-9,21-1,-1 5,-136 6,-55-3,177-11,65 7,-53-2,38 7,-93-15,94 11,-87-3,-14 0,-5-4,-182 7,250 7,1949-1,-1492-32,-12-1,-312 33,315-18,-25-43,81-9,-77 28,-295 36,73-14,-58 8,97-5,11 6,-140 7,-1-1,0-2,50-18,-53 16,1 1,-1 0,2 2,-1 1,0 1,1 2,45 1,-21 2,-13 1,54-4,-81 1,0-1,0 0,-1 0,1-1,-1 0,1-1,-1-1,0 1,13-10,-19 11,0 0,0-1,-1 0,0 0,0 0,0 0,0 0,-1 0,1-1,-1 0,0 1,0-1,-1 0,0 0,0 0,0 0,1-7,-1-13,0 0,-3-33,0 22,-1-98,3 107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22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0553" y="684728"/>
            <a:ext cx="768917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Network Topologies: Types &amp; Use Cases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371362"/>
            <a:ext cx="130428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                                                                                                                                          </a:t>
            </a:r>
            <a:r>
              <a:rPr lang="en-US" sz="15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- Lavanya Goyal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1799987"/>
            <a:ext cx="4262914" cy="1830348"/>
          </a:xfrm>
          <a:prstGeom prst="roundRect">
            <a:avLst>
              <a:gd name="adj" fmla="val 364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32861" y="198155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5360" y="2305764"/>
            <a:ext cx="38997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Structure: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Single backbone cable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5360" y="2610564"/>
            <a:ext cx="38997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+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Low cost, simple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5360" y="2915364"/>
            <a:ext cx="38997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–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Collisions, low scalability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5360" y="3220164"/>
            <a:ext cx="38997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Use: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Legacy, small setups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83624" y="1799987"/>
            <a:ext cx="4263033" cy="1830348"/>
          </a:xfrm>
          <a:prstGeom prst="roundRect">
            <a:avLst>
              <a:gd name="adj" fmla="val 364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2814" y="198155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Star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65194" y="2305764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Structure: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Central hub/switch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65194" y="2610564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+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Easy management, fault isolation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65194" y="2915364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–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Hub failure = network down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65194" y="3220164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Use: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Home Wi-Fi, office LANs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73578" y="1799987"/>
            <a:ext cx="4263033" cy="1830348"/>
          </a:xfrm>
          <a:prstGeom prst="roundRect">
            <a:avLst>
              <a:gd name="adj" fmla="val 364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12768" y="198155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Ring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55148" y="2305764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Structure: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Circular loop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55148" y="2610564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+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No collision, predictable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55148" y="2915364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–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Single break affects network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55148" y="3220164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Use: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Telecom, fiber rings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3790" y="3757255"/>
            <a:ext cx="4262914" cy="1830348"/>
          </a:xfrm>
          <a:prstGeom prst="roundRect">
            <a:avLst>
              <a:gd name="adj" fmla="val 364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932861" y="393882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Tree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75360" y="4263033"/>
            <a:ext cx="38997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Structure: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Hierarchical (Star + Bus)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5360" y="4567833"/>
            <a:ext cx="38997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+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Scalable, structured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5360" y="4872633"/>
            <a:ext cx="38997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–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Backbone dependency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5360" y="5177433"/>
            <a:ext cx="38997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Use: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Corporates, campuses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83624" y="3757255"/>
            <a:ext cx="4263033" cy="1830348"/>
          </a:xfrm>
          <a:prstGeom prst="roundRect">
            <a:avLst>
              <a:gd name="adj" fmla="val 364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2814" y="393882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Mesh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65194" y="4263033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Structure: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Multiple redundant paths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65194" y="4567833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+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High reliability, no single failure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65194" y="4872633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–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Expensive, complex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65194" y="5177433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Use: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Internet backbone, data centers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573578" y="3757255"/>
            <a:ext cx="4263033" cy="1830348"/>
          </a:xfrm>
          <a:prstGeom prst="roundRect">
            <a:avLst>
              <a:gd name="adj" fmla="val 364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Text 33"/>
          <p:cNvSpPr/>
          <p:nvPr/>
        </p:nvSpPr>
        <p:spPr>
          <a:xfrm>
            <a:off x="10712768" y="393882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Hybrid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755148" y="4263033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Structure: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Combination of topologies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755148" y="4567833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+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Flexible, optimized performance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755148" y="4872633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–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Complex, costly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755148" y="5177433"/>
            <a:ext cx="3899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Use:</a:t>
            </a: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Cloud, enterprise networks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93790" y="5714524"/>
            <a:ext cx="13042821" cy="1830348"/>
          </a:xfrm>
          <a:prstGeom prst="roundRect">
            <a:avLst>
              <a:gd name="adj" fmla="val 364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3CD4C8E-3172-6B68-81D1-F93A2C47ADFC}"/>
                  </a:ext>
                </a:extLst>
              </p14:cNvPr>
              <p14:cNvContentPartPr/>
              <p14:nvPr/>
            </p14:nvContentPartPr>
            <p14:xfrm>
              <a:off x="13016678" y="7827603"/>
              <a:ext cx="492480" cy="2696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3CD4C8E-3172-6B68-81D1-F93A2C47AD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10558" y="7821483"/>
                <a:ext cx="50472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F6FA8E0-A423-C423-8B9E-3137CB515DD0}"/>
                  </a:ext>
                </a:extLst>
              </p14:cNvPr>
              <p14:cNvContentPartPr/>
              <p14:nvPr/>
            </p14:nvContentPartPr>
            <p14:xfrm>
              <a:off x="12293438" y="7683603"/>
              <a:ext cx="2194920" cy="369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F6FA8E0-A423-C423-8B9E-3137CB515D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39798" y="7575963"/>
                <a:ext cx="2302560" cy="585000"/>
              </a:xfrm>
              <a:prstGeom prst="rect">
                <a:avLst/>
              </a:prstGeom>
            </p:spPr>
          </p:pic>
        </mc:Fallback>
      </mc:AlternateContent>
      <p:pic>
        <p:nvPicPr>
          <p:cNvPr id="48" name="Picture 47">
            <a:extLst>
              <a:ext uri="{FF2B5EF4-FFF2-40B4-BE49-F238E27FC236}">
                <a16:creationId xmlns:a16="http://schemas.microsoft.com/office/drawing/2014/main" id="{1A887402-A7EE-5938-641D-F8BB7ED212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544" y="5733525"/>
            <a:ext cx="3899892" cy="179234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57FCD6B-E62F-42CC-705E-BB7D4F4247B1}"/>
              </a:ext>
            </a:extLst>
          </p:cNvPr>
          <p:cNvSpPr txBox="1"/>
          <p:nvPr/>
        </p:nvSpPr>
        <p:spPr>
          <a:xfrm>
            <a:off x="9392007" y="5967976"/>
            <a:ext cx="42630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Dragonfly topology with AI-based MAC provisioning enables scalable, low-latency, and efficient network communication by reducing flooding and optimizing forwarding decisions.</a:t>
            </a:r>
            <a:endParaRPr lang="en-IN" sz="1600" dirty="0">
              <a:solidFill>
                <a:schemeClr val="bg1">
                  <a:lumMod val="8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49E972-D68D-526E-9FDB-16E02300F31E}"/>
              </a:ext>
            </a:extLst>
          </p:cNvPr>
          <p:cNvSpPr txBox="1"/>
          <p:nvPr/>
        </p:nvSpPr>
        <p:spPr>
          <a:xfrm>
            <a:off x="793670" y="5859377"/>
            <a:ext cx="4263033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Dragonfly (Advanced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)</a:t>
            </a:r>
          </a:p>
          <a:p>
            <a:pPr algn="ctr"/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Structure: Group-based network                      </a:t>
            </a:r>
          </a:p>
          <a:p>
            <a:pPr algn="ctr"/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+ Low latency, scalable</a:t>
            </a:r>
          </a:p>
          <a:p>
            <a:pPr algn="ctr"/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– Complex design</a:t>
            </a:r>
          </a:p>
          <a:p>
            <a:pPr algn="ctr"/>
            <a:r>
              <a:rPr lang="en-US" sz="1700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Use: HPC, AI clusters, Supercomputers</a:t>
            </a:r>
            <a:endParaRPr lang="en-IN" sz="1700" dirty="0">
              <a:solidFill>
                <a:schemeClr val="bg1">
                  <a:lumMod val="8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194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Poppins Light</vt:lpstr>
      <vt:lpstr>Roboto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Lavanya Goyal</dc:creator>
  <cp:lastModifiedBy>Garvit Goyal</cp:lastModifiedBy>
  <cp:revision>7</cp:revision>
  <dcterms:created xsi:type="dcterms:W3CDTF">2026-03-21T17:28:23Z</dcterms:created>
  <dcterms:modified xsi:type="dcterms:W3CDTF">2026-03-22T10:05:33Z</dcterms:modified>
</cp:coreProperties>
</file>